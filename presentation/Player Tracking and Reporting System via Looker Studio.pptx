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7" r:id="rId10"/>
  </p:sldIdLst>
  <p:sldSz cx="12192000" cy="6267450"/>
  <p:notesSz cx="12192000" cy="69024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0"/>
  </p:normalViewPr>
  <p:slideViewPr>
    <p:cSldViewPr>
      <p:cViewPr>
        <p:scale>
          <a:sx n="87" d="100"/>
          <a:sy n="87" d="100"/>
        </p:scale>
        <p:origin x="232" y="7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99" y="761999"/>
            <a:ext cx="1219199" cy="12191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63199" y="4876799"/>
            <a:ext cx="1066799" cy="12191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67899" y="1523999"/>
            <a:ext cx="800099" cy="9143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3999" y="4419600"/>
            <a:ext cx="914399" cy="9143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819900"/>
            <a:ext cx="12191999" cy="3809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5448299" y="1381124"/>
            <a:ext cx="1295400" cy="228600"/>
          </a:xfrm>
          <a:custGeom>
            <a:avLst/>
            <a:gdLst/>
            <a:ahLst/>
            <a:cxnLst/>
            <a:rect l="l" t="t" r="r" b="b"/>
            <a:pathLst>
              <a:path w="1295400" h="228600">
                <a:moveTo>
                  <a:pt x="1188604" y="228599"/>
                </a:moveTo>
                <a:lnTo>
                  <a:pt x="106794" y="228599"/>
                </a:lnTo>
                <a:lnTo>
                  <a:pt x="99361" y="227867"/>
                </a:lnTo>
                <a:lnTo>
                  <a:pt x="57038" y="213506"/>
                </a:lnTo>
                <a:lnTo>
                  <a:pt x="23432" y="184041"/>
                </a:lnTo>
                <a:lnTo>
                  <a:pt x="3660" y="143959"/>
                </a:lnTo>
                <a:lnTo>
                  <a:pt x="0" y="121804"/>
                </a:lnTo>
                <a:lnTo>
                  <a:pt x="0" y="114299"/>
                </a:lnTo>
                <a:lnTo>
                  <a:pt x="0" y="106794"/>
                </a:lnTo>
                <a:lnTo>
                  <a:pt x="11572" y="63625"/>
                </a:lnTo>
                <a:lnTo>
                  <a:pt x="38784" y="28170"/>
                </a:lnTo>
                <a:lnTo>
                  <a:pt x="77492" y="5828"/>
                </a:lnTo>
                <a:lnTo>
                  <a:pt x="106794" y="0"/>
                </a:lnTo>
                <a:lnTo>
                  <a:pt x="1188604" y="0"/>
                </a:lnTo>
                <a:lnTo>
                  <a:pt x="1231773" y="11572"/>
                </a:lnTo>
                <a:lnTo>
                  <a:pt x="1267228" y="38784"/>
                </a:lnTo>
                <a:lnTo>
                  <a:pt x="1289570" y="77492"/>
                </a:lnTo>
                <a:lnTo>
                  <a:pt x="1295399" y="106794"/>
                </a:lnTo>
                <a:lnTo>
                  <a:pt x="1295399" y="121804"/>
                </a:lnTo>
                <a:lnTo>
                  <a:pt x="1283826" y="164974"/>
                </a:lnTo>
                <a:lnTo>
                  <a:pt x="1256614" y="200428"/>
                </a:lnTo>
                <a:lnTo>
                  <a:pt x="1217905" y="222771"/>
                </a:lnTo>
                <a:lnTo>
                  <a:pt x="1196037" y="227867"/>
                </a:lnTo>
                <a:lnTo>
                  <a:pt x="1188604" y="228599"/>
                </a:lnTo>
                <a:close/>
              </a:path>
            </a:pathLst>
          </a:custGeom>
          <a:solidFill>
            <a:srgbClr val="21C45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72124" y="1428749"/>
            <a:ext cx="123824" cy="133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96764" y="1882775"/>
            <a:ext cx="8398470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599" y="628649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457199" y="38099"/>
                </a:moveTo>
                <a:lnTo>
                  <a:pt x="0" y="38099"/>
                </a:lnTo>
                <a:lnTo>
                  <a:pt x="0" y="0"/>
                </a:lnTo>
                <a:lnTo>
                  <a:pt x="457199" y="0"/>
                </a:lnTo>
                <a:lnTo>
                  <a:pt x="457199" y="38099"/>
                </a:lnTo>
                <a:close/>
              </a:path>
            </a:pathLst>
          </a:custGeom>
          <a:solidFill>
            <a:srgbClr val="21C4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8453" y="383009"/>
            <a:ext cx="7100035" cy="4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43.png"/><Relationship Id="rId5" Type="http://schemas.openxmlformats.org/officeDocument/2006/relationships/image" Target="../media/image58.png"/><Relationship Id="rId15" Type="http://schemas.openxmlformats.org/officeDocument/2006/relationships/image" Target="../media/image67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7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5.png"/><Relationship Id="rId5" Type="http://schemas.openxmlformats.org/officeDocument/2006/relationships/image" Target="../media/image80.png"/><Relationship Id="rId10" Type="http://schemas.openxmlformats.org/officeDocument/2006/relationships/image" Target="../media/image84.png"/><Relationship Id="rId4" Type="http://schemas.openxmlformats.org/officeDocument/2006/relationships/image" Target="../media/image79.png"/><Relationship Id="rId9" Type="http://schemas.openxmlformats.org/officeDocument/2006/relationships/image" Target="../media/image43.png"/><Relationship Id="rId14" Type="http://schemas.openxmlformats.org/officeDocument/2006/relationships/image" Target="../media/image8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43.png"/><Relationship Id="rId7" Type="http://schemas.openxmlformats.org/officeDocument/2006/relationships/image" Target="../media/image92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49.png"/><Relationship Id="rId9" Type="http://schemas.openxmlformats.org/officeDocument/2006/relationships/image" Target="../media/image9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63905" y="0"/>
            <a:ext cx="882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0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050" b="1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120" dirty="0">
                <a:solidFill>
                  <a:srgbClr val="FFFFFF"/>
                </a:solidFill>
                <a:latin typeface="Trebuchet MS"/>
                <a:cs typeface="Trebuchet MS"/>
              </a:rPr>
              <a:t>Progress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0" y="485775"/>
            <a:ext cx="0" cy="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430" dirty="0"/>
              <a:t>Player</a:t>
            </a:r>
            <a:r>
              <a:rPr sz="4500" spc="235" dirty="0"/>
              <a:t> </a:t>
            </a:r>
            <a:r>
              <a:rPr sz="4500" spc="470" dirty="0"/>
              <a:t>Report</a:t>
            </a:r>
            <a:r>
              <a:rPr sz="4500" spc="235" dirty="0"/>
              <a:t> </a:t>
            </a:r>
            <a:r>
              <a:rPr sz="4500" spc="500" dirty="0"/>
              <a:t>Automation</a:t>
            </a:r>
            <a:endParaRPr sz="4500"/>
          </a:p>
        </p:txBody>
      </p:sp>
      <p:grpSp>
        <p:nvGrpSpPr>
          <p:cNvPr id="4" name="object 4"/>
          <p:cNvGrpSpPr/>
          <p:nvPr/>
        </p:nvGrpSpPr>
        <p:grpSpPr>
          <a:xfrm>
            <a:off x="490708" y="3988435"/>
            <a:ext cx="9220200" cy="2466975"/>
            <a:chOff x="609599" y="2990849"/>
            <a:chExt cx="9220200" cy="2466975"/>
          </a:xfrm>
        </p:grpSpPr>
        <p:sp>
          <p:nvSpPr>
            <p:cNvPr id="5" name="object 5"/>
            <p:cNvSpPr/>
            <p:nvPr/>
          </p:nvSpPr>
          <p:spPr>
            <a:xfrm>
              <a:off x="4495787" y="1593849"/>
              <a:ext cx="3200400" cy="38100"/>
            </a:xfrm>
            <a:custGeom>
              <a:avLst/>
              <a:gdLst/>
              <a:ahLst/>
              <a:cxnLst/>
              <a:rect l="l" t="t" r="r" b="b"/>
              <a:pathLst>
                <a:path w="3200400" h="38100">
                  <a:moveTo>
                    <a:pt x="4572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457200" y="38100"/>
                  </a:lnTo>
                  <a:lnTo>
                    <a:pt x="457200" y="0"/>
                  </a:lnTo>
                  <a:close/>
                </a:path>
                <a:path w="3200400" h="38100">
                  <a:moveTo>
                    <a:pt x="3200400" y="0"/>
                  </a:moveTo>
                  <a:lnTo>
                    <a:pt x="2743200" y="0"/>
                  </a:lnTo>
                  <a:lnTo>
                    <a:pt x="2743200" y="38100"/>
                  </a:lnTo>
                  <a:lnTo>
                    <a:pt x="3200400" y="38100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0049" y="2222499"/>
              <a:ext cx="400050" cy="495300"/>
            </a:xfrm>
            <a:custGeom>
              <a:avLst/>
              <a:gdLst/>
              <a:ahLst/>
              <a:cxnLst/>
              <a:rect l="l" t="t" r="r" b="b"/>
              <a:pathLst>
                <a:path w="400050" h="495300">
                  <a:moveTo>
                    <a:pt x="200024" y="495299"/>
                  </a:moveTo>
                  <a:lnTo>
                    <a:pt x="161001" y="491456"/>
                  </a:lnTo>
                  <a:lnTo>
                    <a:pt x="123478" y="480073"/>
                  </a:lnTo>
                  <a:lnTo>
                    <a:pt x="88896" y="461588"/>
                  </a:lnTo>
                  <a:lnTo>
                    <a:pt x="58585" y="436713"/>
                  </a:lnTo>
                  <a:lnTo>
                    <a:pt x="33710" y="406401"/>
                  </a:lnTo>
                  <a:lnTo>
                    <a:pt x="15225" y="371820"/>
                  </a:lnTo>
                  <a:lnTo>
                    <a:pt x="3843" y="334297"/>
                  </a:lnTo>
                  <a:lnTo>
                    <a:pt x="0" y="295274"/>
                  </a:lnTo>
                  <a:lnTo>
                    <a:pt x="0" y="200024"/>
                  </a:lnTo>
                  <a:lnTo>
                    <a:pt x="3843" y="161001"/>
                  </a:lnTo>
                  <a:lnTo>
                    <a:pt x="15225" y="123478"/>
                  </a:lnTo>
                  <a:lnTo>
                    <a:pt x="33710" y="88896"/>
                  </a:lnTo>
                  <a:lnTo>
                    <a:pt x="58585" y="58585"/>
                  </a:lnTo>
                  <a:lnTo>
                    <a:pt x="88896" y="33709"/>
                  </a:lnTo>
                  <a:lnTo>
                    <a:pt x="123478" y="15225"/>
                  </a:lnTo>
                  <a:lnTo>
                    <a:pt x="161001" y="3843"/>
                  </a:lnTo>
                  <a:lnTo>
                    <a:pt x="200024" y="0"/>
                  </a:lnTo>
                  <a:lnTo>
                    <a:pt x="209851" y="240"/>
                  </a:lnTo>
                  <a:lnTo>
                    <a:pt x="248638" y="5995"/>
                  </a:lnTo>
                  <a:lnTo>
                    <a:pt x="285557" y="19207"/>
                  </a:lnTo>
                  <a:lnTo>
                    <a:pt x="319189" y="39369"/>
                  </a:lnTo>
                  <a:lnTo>
                    <a:pt x="348242" y="65704"/>
                  </a:lnTo>
                  <a:lnTo>
                    <a:pt x="371598" y="97200"/>
                  </a:lnTo>
                  <a:lnTo>
                    <a:pt x="388361" y="132649"/>
                  </a:lnTo>
                  <a:lnTo>
                    <a:pt x="397887" y="170686"/>
                  </a:lnTo>
                  <a:lnTo>
                    <a:pt x="400049" y="200024"/>
                  </a:lnTo>
                  <a:lnTo>
                    <a:pt x="400049" y="295274"/>
                  </a:lnTo>
                  <a:lnTo>
                    <a:pt x="396206" y="334297"/>
                  </a:lnTo>
                  <a:lnTo>
                    <a:pt x="384823" y="371820"/>
                  </a:lnTo>
                  <a:lnTo>
                    <a:pt x="366339" y="406402"/>
                  </a:lnTo>
                  <a:lnTo>
                    <a:pt x="341463" y="436713"/>
                  </a:lnTo>
                  <a:lnTo>
                    <a:pt x="311152" y="461588"/>
                  </a:lnTo>
                  <a:lnTo>
                    <a:pt x="276570" y="480073"/>
                  </a:lnTo>
                  <a:lnTo>
                    <a:pt x="239047" y="491456"/>
                  </a:lnTo>
                  <a:lnTo>
                    <a:pt x="200024" y="495299"/>
                  </a:lnTo>
                  <a:close/>
                </a:path>
              </a:pathLst>
            </a:custGeom>
            <a:solidFill>
              <a:srgbClr val="21C45D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4349" y="2336799"/>
              <a:ext cx="171449" cy="2666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05424" y="2222499"/>
              <a:ext cx="419100" cy="495300"/>
            </a:xfrm>
            <a:custGeom>
              <a:avLst/>
              <a:gdLst/>
              <a:ahLst/>
              <a:cxnLst/>
              <a:rect l="l" t="t" r="r" b="b"/>
              <a:pathLst>
                <a:path w="419100" h="495300">
                  <a:moveTo>
                    <a:pt x="216412" y="495299"/>
                  </a:moveTo>
                  <a:lnTo>
                    <a:pt x="202687" y="495299"/>
                  </a:lnTo>
                  <a:lnTo>
                    <a:pt x="195841" y="494963"/>
                  </a:lnTo>
                  <a:lnTo>
                    <a:pt x="155288" y="488268"/>
                  </a:lnTo>
                  <a:lnTo>
                    <a:pt x="116820" y="473791"/>
                  </a:lnTo>
                  <a:lnTo>
                    <a:pt x="81918" y="452088"/>
                  </a:lnTo>
                  <a:lnTo>
                    <a:pt x="51918" y="423991"/>
                  </a:lnTo>
                  <a:lnTo>
                    <a:pt x="27978" y="390583"/>
                  </a:lnTo>
                  <a:lnTo>
                    <a:pt x="11015" y="353146"/>
                  </a:lnTo>
                  <a:lnTo>
                    <a:pt x="1681" y="313119"/>
                  </a:lnTo>
                  <a:lnTo>
                    <a:pt x="0" y="292613"/>
                  </a:lnTo>
                  <a:lnTo>
                    <a:pt x="0" y="285749"/>
                  </a:lnTo>
                  <a:lnTo>
                    <a:pt x="0" y="202687"/>
                  </a:lnTo>
                  <a:lnTo>
                    <a:pt x="5364" y="161937"/>
                  </a:lnTo>
                  <a:lnTo>
                    <a:pt x="18577" y="123017"/>
                  </a:lnTo>
                  <a:lnTo>
                    <a:pt x="39127" y="87423"/>
                  </a:lnTo>
                  <a:lnTo>
                    <a:pt x="66228" y="56522"/>
                  </a:lnTo>
                  <a:lnTo>
                    <a:pt x="98836" y="31501"/>
                  </a:lnTo>
                  <a:lnTo>
                    <a:pt x="135698" y="13324"/>
                  </a:lnTo>
                  <a:lnTo>
                    <a:pt x="175400" y="2687"/>
                  </a:lnTo>
                  <a:lnTo>
                    <a:pt x="202687" y="0"/>
                  </a:lnTo>
                  <a:lnTo>
                    <a:pt x="216412" y="0"/>
                  </a:lnTo>
                  <a:lnTo>
                    <a:pt x="257161" y="5365"/>
                  </a:lnTo>
                  <a:lnTo>
                    <a:pt x="296081" y="18577"/>
                  </a:lnTo>
                  <a:lnTo>
                    <a:pt x="331676" y="39127"/>
                  </a:lnTo>
                  <a:lnTo>
                    <a:pt x="362576" y="66228"/>
                  </a:lnTo>
                  <a:lnTo>
                    <a:pt x="387597" y="98836"/>
                  </a:lnTo>
                  <a:lnTo>
                    <a:pt x="405775" y="135698"/>
                  </a:lnTo>
                  <a:lnTo>
                    <a:pt x="416412" y="175399"/>
                  </a:lnTo>
                  <a:lnTo>
                    <a:pt x="419099" y="202687"/>
                  </a:lnTo>
                  <a:lnTo>
                    <a:pt x="419099" y="292613"/>
                  </a:lnTo>
                  <a:lnTo>
                    <a:pt x="413734" y="333362"/>
                  </a:lnTo>
                  <a:lnTo>
                    <a:pt x="400522" y="372281"/>
                  </a:lnTo>
                  <a:lnTo>
                    <a:pt x="379971" y="407875"/>
                  </a:lnTo>
                  <a:lnTo>
                    <a:pt x="352871" y="438776"/>
                  </a:lnTo>
                  <a:lnTo>
                    <a:pt x="320262" y="463796"/>
                  </a:lnTo>
                  <a:lnTo>
                    <a:pt x="283400" y="481974"/>
                  </a:lnTo>
                  <a:lnTo>
                    <a:pt x="243699" y="492612"/>
                  </a:lnTo>
                  <a:lnTo>
                    <a:pt x="223259" y="494963"/>
                  </a:lnTo>
                  <a:lnTo>
                    <a:pt x="216412" y="495299"/>
                  </a:lnTo>
                  <a:close/>
                </a:path>
              </a:pathLst>
            </a:custGeom>
            <a:solidFill>
              <a:srgbClr val="21C45D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9724" y="2336799"/>
              <a:ext cx="190499" cy="2666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48424" y="2222499"/>
              <a:ext cx="419100" cy="495300"/>
            </a:xfrm>
            <a:custGeom>
              <a:avLst/>
              <a:gdLst/>
              <a:ahLst/>
              <a:cxnLst/>
              <a:rect l="l" t="t" r="r" b="b"/>
              <a:pathLst>
                <a:path w="419100" h="495300">
                  <a:moveTo>
                    <a:pt x="216412" y="495299"/>
                  </a:moveTo>
                  <a:lnTo>
                    <a:pt x="202687" y="495299"/>
                  </a:lnTo>
                  <a:lnTo>
                    <a:pt x="195840" y="494963"/>
                  </a:lnTo>
                  <a:lnTo>
                    <a:pt x="155288" y="488268"/>
                  </a:lnTo>
                  <a:lnTo>
                    <a:pt x="116821" y="473791"/>
                  </a:lnTo>
                  <a:lnTo>
                    <a:pt x="81917" y="452088"/>
                  </a:lnTo>
                  <a:lnTo>
                    <a:pt x="51918" y="423991"/>
                  </a:lnTo>
                  <a:lnTo>
                    <a:pt x="27978" y="390583"/>
                  </a:lnTo>
                  <a:lnTo>
                    <a:pt x="11014" y="353146"/>
                  </a:lnTo>
                  <a:lnTo>
                    <a:pt x="1681" y="313119"/>
                  </a:lnTo>
                  <a:lnTo>
                    <a:pt x="0" y="292613"/>
                  </a:lnTo>
                  <a:lnTo>
                    <a:pt x="0" y="285749"/>
                  </a:lnTo>
                  <a:lnTo>
                    <a:pt x="0" y="202687"/>
                  </a:lnTo>
                  <a:lnTo>
                    <a:pt x="5364" y="161937"/>
                  </a:lnTo>
                  <a:lnTo>
                    <a:pt x="18576" y="123017"/>
                  </a:lnTo>
                  <a:lnTo>
                    <a:pt x="39127" y="87423"/>
                  </a:lnTo>
                  <a:lnTo>
                    <a:pt x="66228" y="56522"/>
                  </a:lnTo>
                  <a:lnTo>
                    <a:pt x="98836" y="31501"/>
                  </a:lnTo>
                  <a:lnTo>
                    <a:pt x="135698" y="13324"/>
                  </a:lnTo>
                  <a:lnTo>
                    <a:pt x="175399" y="2687"/>
                  </a:lnTo>
                  <a:lnTo>
                    <a:pt x="202687" y="0"/>
                  </a:lnTo>
                  <a:lnTo>
                    <a:pt x="216412" y="0"/>
                  </a:lnTo>
                  <a:lnTo>
                    <a:pt x="257162" y="5365"/>
                  </a:lnTo>
                  <a:lnTo>
                    <a:pt x="296081" y="18577"/>
                  </a:lnTo>
                  <a:lnTo>
                    <a:pt x="331676" y="39127"/>
                  </a:lnTo>
                  <a:lnTo>
                    <a:pt x="362576" y="66228"/>
                  </a:lnTo>
                  <a:lnTo>
                    <a:pt x="387596" y="98836"/>
                  </a:lnTo>
                  <a:lnTo>
                    <a:pt x="405774" y="135698"/>
                  </a:lnTo>
                  <a:lnTo>
                    <a:pt x="416412" y="175399"/>
                  </a:lnTo>
                  <a:lnTo>
                    <a:pt x="419100" y="202687"/>
                  </a:lnTo>
                  <a:lnTo>
                    <a:pt x="419100" y="292613"/>
                  </a:lnTo>
                  <a:lnTo>
                    <a:pt x="413734" y="333362"/>
                  </a:lnTo>
                  <a:lnTo>
                    <a:pt x="400522" y="372281"/>
                  </a:lnTo>
                  <a:lnTo>
                    <a:pt x="379971" y="407875"/>
                  </a:lnTo>
                  <a:lnTo>
                    <a:pt x="352870" y="438776"/>
                  </a:lnTo>
                  <a:lnTo>
                    <a:pt x="320262" y="463796"/>
                  </a:lnTo>
                  <a:lnTo>
                    <a:pt x="283400" y="481974"/>
                  </a:lnTo>
                  <a:lnTo>
                    <a:pt x="243699" y="492612"/>
                  </a:lnTo>
                  <a:lnTo>
                    <a:pt x="223259" y="494963"/>
                  </a:lnTo>
                  <a:lnTo>
                    <a:pt x="216412" y="495299"/>
                  </a:lnTo>
                  <a:close/>
                </a:path>
              </a:pathLst>
            </a:custGeom>
            <a:solidFill>
              <a:srgbClr val="21C45D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2724" y="2336799"/>
              <a:ext cx="190499" cy="2666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629524" y="2222499"/>
              <a:ext cx="419100" cy="495300"/>
            </a:xfrm>
            <a:custGeom>
              <a:avLst/>
              <a:gdLst/>
              <a:ahLst/>
              <a:cxnLst/>
              <a:rect l="l" t="t" r="r" b="b"/>
              <a:pathLst>
                <a:path w="419100" h="495300">
                  <a:moveTo>
                    <a:pt x="216412" y="495299"/>
                  </a:moveTo>
                  <a:lnTo>
                    <a:pt x="202687" y="495299"/>
                  </a:lnTo>
                  <a:lnTo>
                    <a:pt x="195840" y="494963"/>
                  </a:lnTo>
                  <a:lnTo>
                    <a:pt x="155288" y="488268"/>
                  </a:lnTo>
                  <a:lnTo>
                    <a:pt x="116820" y="473791"/>
                  </a:lnTo>
                  <a:lnTo>
                    <a:pt x="81917" y="452088"/>
                  </a:lnTo>
                  <a:lnTo>
                    <a:pt x="51919" y="423991"/>
                  </a:lnTo>
                  <a:lnTo>
                    <a:pt x="27978" y="390583"/>
                  </a:lnTo>
                  <a:lnTo>
                    <a:pt x="11014" y="353146"/>
                  </a:lnTo>
                  <a:lnTo>
                    <a:pt x="1681" y="313119"/>
                  </a:lnTo>
                  <a:lnTo>
                    <a:pt x="0" y="285749"/>
                  </a:lnTo>
                  <a:lnTo>
                    <a:pt x="0" y="202687"/>
                  </a:lnTo>
                  <a:lnTo>
                    <a:pt x="5365" y="161937"/>
                  </a:lnTo>
                  <a:lnTo>
                    <a:pt x="18577" y="123017"/>
                  </a:lnTo>
                  <a:lnTo>
                    <a:pt x="39127" y="87423"/>
                  </a:lnTo>
                  <a:lnTo>
                    <a:pt x="66228" y="56522"/>
                  </a:lnTo>
                  <a:lnTo>
                    <a:pt x="98836" y="31501"/>
                  </a:lnTo>
                  <a:lnTo>
                    <a:pt x="135698" y="13324"/>
                  </a:lnTo>
                  <a:lnTo>
                    <a:pt x="175399" y="2687"/>
                  </a:lnTo>
                  <a:lnTo>
                    <a:pt x="202687" y="0"/>
                  </a:lnTo>
                  <a:lnTo>
                    <a:pt x="216412" y="0"/>
                  </a:lnTo>
                  <a:lnTo>
                    <a:pt x="257162" y="5365"/>
                  </a:lnTo>
                  <a:lnTo>
                    <a:pt x="296081" y="18577"/>
                  </a:lnTo>
                  <a:lnTo>
                    <a:pt x="331675" y="39127"/>
                  </a:lnTo>
                  <a:lnTo>
                    <a:pt x="362577" y="66228"/>
                  </a:lnTo>
                  <a:lnTo>
                    <a:pt x="387596" y="98836"/>
                  </a:lnTo>
                  <a:lnTo>
                    <a:pt x="405775" y="135698"/>
                  </a:lnTo>
                  <a:lnTo>
                    <a:pt x="416412" y="175399"/>
                  </a:lnTo>
                  <a:lnTo>
                    <a:pt x="419100" y="202687"/>
                  </a:lnTo>
                  <a:lnTo>
                    <a:pt x="419100" y="292613"/>
                  </a:lnTo>
                  <a:lnTo>
                    <a:pt x="413734" y="333362"/>
                  </a:lnTo>
                  <a:lnTo>
                    <a:pt x="400522" y="372281"/>
                  </a:lnTo>
                  <a:lnTo>
                    <a:pt x="379970" y="407875"/>
                  </a:lnTo>
                  <a:lnTo>
                    <a:pt x="352871" y="438776"/>
                  </a:lnTo>
                  <a:lnTo>
                    <a:pt x="320262" y="463796"/>
                  </a:lnTo>
                  <a:lnTo>
                    <a:pt x="283400" y="481974"/>
                  </a:lnTo>
                  <a:lnTo>
                    <a:pt x="243700" y="492612"/>
                  </a:lnTo>
                  <a:lnTo>
                    <a:pt x="216412" y="495299"/>
                  </a:lnTo>
                  <a:close/>
                </a:path>
              </a:pathLst>
            </a:custGeom>
            <a:solidFill>
              <a:srgbClr val="21C45D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43824" y="2336799"/>
              <a:ext cx="190499" cy="2666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599" y="3927474"/>
              <a:ext cx="114299" cy="1333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00574" y="3927474"/>
              <a:ext cx="171449" cy="1333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15499" y="3936999"/>
              <a:ext cx="114299" cy="12382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071969" y="1749973"/>
            <a:ext cx="663893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100" dirty="0">
                <a:solidFill>
                  <a:srgbClr val="D0D5DA"/>
                </a:solidFill>
                <a:latin typeface="Trebuchet MS"/>
                <a:cs typeface="Trebuchet MS"/>
              </a:rPr>
              <a:t>Player Report Automation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46541" y="3839210"/>
            <a:ext cx="7658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Automated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44012" y="3839210"/>
            <a:ext cx="5880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Scalable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63485" y="3839210"/>
            <a:ext cx="8324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65" dirty="0">
                <a:solidFill>
                  <a:srgbClr val="D0D5DA"/>
                </a:solidFill>
                <a:latin typeface="Trebuchet MS"/>
                <a:cs typeface="Trebuchet MS"/>
              </a:rPr>
              <a:t>Data-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Driven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27333" y="3839210"/>
            <a:ext cx="6623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Real-</a:t>
            </a:r>
            <a:r>
              <a:rPr sz="1050" spc="-20" dirty="0">
                <a:solidFill>
                  <a:srgbClr val="D0D5DA"/>
                </a:solidFill>
                <a:latin typeface="Trebuchet MS"/>
                <a:cs typeface="Trebuchet MS"/>
              </a:rPr>
              <a:t>time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2000" y="4624568"/>
            <a:ext cx="12973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CA2AF"/>
                </a:solidFill>
                <a:latin typeface="Trebuchet MS"/>
                <a:cs typeface="Trebuchet MS"/>
              </a:rPr>
              <a:t>June</a:t>
            </a:r>
            <a:r>
              <a:rPr sz="1050" spc="3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CA2AF"/>
                </a:solidFill>
                <a:latin typeface="Trebuchet MS"/>
                <a:cs typeface="Trebuchet MS"/>
              </a:rPr>
              <a:t>-</a:t>
            </a:r>
            <a:r>
              <a:rPr sz="1050" spc="3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August</a:t>
            </a:r>
            <a:r>
              <a:rPr sz="1050" spc="3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95" dirty="0">
                <a:solidFill>
                  <a:srgbClr val="9CA2AF"/>
                </a:solidFill>
                <a:latin typeface="Trebuchet MS"/>
                <a:cs typeface="Trebuchet MS"/>
              </a:rPr>
              <a:t>2025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90221" y="4624568"/>
            <a:ext cx="236347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9CA2AF"/>
                </a:solidFill>
                <a:latin typeface="Trebuchet MS"/>
                <a:cs typeface="Trebuchet MS"/>
              </a:rPr>
              <a:t>Team:</a:t>
            </a:r>
            <a:r>
              <a:rPr sz="1050" spc="4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Dasol</a:t>
            </a:r>
            <a:r>
              <a:rPr sz="1050" spc="4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9CA2AF"/>
                </a:solidFill>
                <a:latin typeface="Trebuchet MS"/>
                <a:cs typeface="Trebuchet MS"/>
              </a:rPr>
              <a:t>Shin,</a:t>
            </a:r>
            <a:r>
              <a:rPr sz="1050" spc="4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9CA2AF"/>
                </a:solidFill>
                <a:latin typeface="Trebuchet MS"/>
                <a:cs typeface="Trebuchet MS"/>
              </a:rPr>
              <a:t>Christian</a:t>
            </a:r>
            <a:r>
              <a:rPr sz="1050" spc="4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9CA2AF"/>
                </a:solidFill>
                <a:latin typeface="Trebuchet MS"/>
                <a:cs typeface="Trebuchet MS"/>
              </a:rPr>
              <a:t>Bolton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58400" y="4624568"/>
            <a:ext cx="16548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80" dirty="0">
                <a:solidFill>
                  <a:srgbClr val="9CA2AF"/>
                </a:solidFill>
                <a:latin typeface="Trebuchet MS"/>
                <a:cs typeface="Trebuchet MS"/>
              </a:rPr>
              <a:t>Data</a:t>
            </a:r>
            <a:r>
              <a:rPr sz="1050" spc="2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9CA2AF"/>
                </a:solidFill>
                <a:latin typeface="Trebuchet MS"/>
                <a:cs typeface="Trebuchet MS"/>
              </a:rPr>
              <a:t>Analytics</a:t>
            </a:r>
            <a:r>
              <a:rPr sz="1050" spc="2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-204" dirty="0">
                <a:solidFill>
                  <a:srgbClr val="9CA2AF"/>
                </a:solidFill>
                <a:latin typeface="Trebuchet MS"/>
                <a:cs typeface="Trebuchet MS"/>
              </a:rPr>
              <a:t>|</a:t>
            </a:r>
            <a:r>
              <a:rPr sz="1050" spc="2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9CA2AF"/>
                </a:solidFill>
                <a:latin typeface="Trebuchet MS"/>
                <a:cs typeface="Trebuchet MS"/>
              </a:rPr>
              <a:t>Group</a:t>
            </a:r>
            <a:r>
              <a:rPr sz="1050" spc="2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9CA2AF"/>
                </a:solidFill>
                <a:latin typeface="Trebuchet MS"/>
                <a:cs typeface="Trebuchet MS"/>
              </a:rPr>
              <a:t>2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Project</a:t>
            </a:r>
            <a:r>
              <a:rPr spc="135" dirty="0"/>
              <a:t> </a:t>
            </a:r>
            <a:r>
              <a:rPr spc="280" dirty="0"/>
              <a:t>Overview</a:t>
            </a:r>
            <a:r>
              <a:rPr spc="140" dirty="0"/>
              <a:t> </a:t>
            </a:r>
            <a:r>
              <a:rPr spc="434" dirty="0"/>
              <a:t>&amp;</a:t>
            </a:r>
            <a:r>
              <a:rPr spc="140" dirty="0"/>
              <a:t> </a:t>
            </a:r>
            <a:r>
              <a:rPr spc="240" dirty="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9599" y="1257299"/>
            <a:ext cx="5181600" cy="5524500"/>
            <a:chOff x="609599" y="1257299"/>
            <a:chExt cx="5181600" cy="5524500"/>
          </a:xfrm>
        </p:grpSpPr>
        <p:sp>
          <p:nvSpPr>
            <p:cNvPr id="4" name="object 4"/>
            <p:cNvSpPr/>
            <p:nvPr/>
          </p:nvSpPr>
          <p:spPr>
            <a:xfrm>
              <a:off x="609599" y="874290"/>
              <a:ext cx="5181600" cy="5524500"/>
            </a:xfrm>
            <a:custGeom>
              <a:avLst/>
              <a:gdLst/>
              <a:ahLst/>
              <a:cxnLst/>
              <a:rect l="l" t="t" r="r" b="b"/>
              <a:pathLst>
                <a:path w="5181600" h="5524500">
                  <a:moveTo>
                    <a:pt x="5110402" y="5524499"/>
                  </a:moveTo>
                  <a:lnTo>
                    <a:pt x="71196" y="5524499"/>
                  </a:lnTo>
                  <a:lnTo>
                    <a:pt x="66241" y="5524011"/>
                  </a:lnTo>
                  <a:lnTo>
                    <a:pt x="29705" y="5508876"/>
                  </a:lnTo>
                  <a:lnTo>
                    <a:pt x="3885" y="5472837"/>
                  </a:lnTo>
                  <a:lnTo>
                    <a:pt x="0" y="5453302"/>
                  </a:lnTo>
                  <a:lnTo>
                    <a:pt x="0" y="5448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110402" y="0"/>
                  </a:lnTo>
                  <a:lnTo>
                    <a:pt x="5151893" y="15621"/>
                  </a:lnTo>
                  <a:lnTo>
                    <a:pt x="5177712" y="51661"/>
                  </a:lnTo>
                  <a:lnTo>
                    <a:pt x="5181599" y="71196"/>
                  </a:lnTo>
                  <a:lnTo>
                    <a:pt x="5181599" y="5453302"/>
                  </a:lnTo>
                  <a:lnTo>
                    <a:pt x="5165977" y="5494793"/>
                  </a:lnTo>
                  <a:lnTo>
                    <a:pt x="5129937" y="5520612"/>
                  </a:lnTo>
                  <a:lnTo>
                    <a:pt x="5115357" y="5524011"/>
                  </a:lnTo>
                  <a:lnTo>
                    <a:pt x="5110402" y="55244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1140990"/>
              <a:ext cx="200024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25500" y="1090191"/>
            <a:ext cx="4473575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sz="1800" b="1" spc="140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r>
              <a:rPr sz="18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160" dirty="0">
                <a:solidFill>
                  <a:srgbClr val="FFFFFF"/>
                </a:solidFill>
                <a:latin typeface="Trebuchet MS"/>
                <a:cs typeface="Trebuchet MS"/>
              </a:rPr>
              <a:t>Introduction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This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high-</a:t>
            </a:r>
            <a:r>
              <a:rPr sz="1200" spc="10" dirty="0">
                <a:solidFill>
                  <a:srgbClr val="D0D5DA"/>
                </a:solidFill>
                <a:latin typeface="Trebuchet MS"/>
                <a:cs typeface="Trebuchet MS"/>
              </a:rPr>
              <a:t>priority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D0D5DA"/>
                </a:solidFill>
                <a:latin typeface="Trebuchet MS"/>
                <a:cs typeface="Trebuchet MS"/>
              </a:rPr>
              <a:t>project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aims</a:t>
            </a:r>
            <a:r>
              <a:rPr sz="1200" spc="10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D0D5DA"/>
                </a:solidFill>
                <a:latin typeface="Trebuchet MS"/>
                <a:cs typeface="Trebuchet MS"/>
              </a:rPr>
              <a:t>to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create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5" dirty="0">
                <a:solidFill>
                  <a:srgbClr val="D0D5DA"/>
                </a:solidFill>
                <a:latin typeface="Trebuchet MS"/>
                <a:cs typeface="Trebuchet MS"/>
              </a:rPr>
              <a:t>an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automated,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25000"/>
              </a:lnSpc>
            </a:pPr>
            <a:r>
              <a:rPr sz="1200" spc="70" dirty="0">
                <a:solidFill>
                  <a:srgbClr val="D0D5DA"/>
                </a:solidFill>
                <a:latin typeface="Trebuchet MS"/>
                <a:cs typeface="Trebuchet MS"/>
              </a:rPr>
              <a:t>scalable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reporting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0" dirty="0">
                <a:solidFill>
                  <a:srgbClr val="D0D5DA"/>
                </a:solidFill>
                <a:latin typeface="Trebuchet MS"/>
                <a:cs typeface="Trebuchet MS"/>
              </a:rPr>
              <a:t>system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D0D5DA"/>
                </a:solidFill>
                <a:latin typeface="Trebuchet MS"/>
                <a:cs typeface="Trebuchet MS"/>
              </a:rPr>
              <a:t>player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tracking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using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Looker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Studio</a:t>
            </a:r>
            <a:r>
              <a:rPr sz="12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20" dirty="0">
                <a:solidFill>
                  <a:srgbClr val="D0D5DA"/>
                </a:solidFill>
                <a:latin typeface="Trebuchet MS"/>
                <a:cs typeface="Trebuchet MS"/>
              </a:rPr>
              <a:t>as</a:t>
            </a:r>
            <a:r>
              <a:rPr sz="12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the</a:t>
            </a:r>
            <a:r>
              <a:rPr sz="1200" spc="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frontend</a:t>
            </a:r>
            <a:r>
              <a:rPr sz="12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D0D5DA"/>
                </a:solidFill>
                <a:latin typeface="Trebuchet MS"/>
                <a:cs typeface="Trebuchet MS"/>
              </a:rPr>
              <a:t>visualization</a:t>
            </a:r>
            <a:r>
              <a:rPr sz="12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D0D5DA"/>
                </a:solidFill>
                <a:latin typeface="Trebuchet MS"/>
                <a:cs typeface="Trebuchet MS"/>
              </a:rPr>
              <a:t>tool.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38199" y="634254"/>
            <a:ext cx="10744200" cy="5764814"/>
            <a:chOff x="838199" y="634254"/>
            <a:chExt cx="10744200" cy="5764814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199" y="2512590"/>
              <a:ext cx="190499" cy="1904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199" y="2903115"/>
              <a:ext cx="152399" cy="1333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199" y="3236490"/>
              <a:ext cx="152399" cy="1523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199" y="3588915"/>
              <a:ext cx="152399" cy="1333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38199" y="411279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42874" y="380999"/>
                  </a:moveTo>
                  <a:lnTo>
                    <a:pt x="101399" y="374848"/>
                  </a:lnTo>
                  <a:lnTo>
                    <a:pt x="63497" y="356920"/>
                  </a:lnTo>
                  <a:lnTo>
                    <a:pt x="32429" y="328764"/>
                  </a:lnTo>
                  <a:lnTo>
                    <a:pt x="10875" y="292800"/>
                  </a:lnTo>
                  <a:lnTo>
                    <a:pt x="686" y="252129"/>
                  </a:lnTo>
                  <a:lnTo>
                    <a:pt x="0" y="238124"/>
                  </a:lnTo>
                  <a:lnTo>
                    <a:pt x="0" y="142874"/>
                  </a:ln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9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8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749" y="238124"/>
                  </a:lnTo>
                  <a:lnTo>
                    <a:pt x="279599" y="279599"/>
                  </a:lnTo>
                  <a:lnTo>
                    <a:pt x="261671" y="317501"/>
                  </a:lnTo>
                  <a:lnTo>
                    <a:pt x="233514" y="348570"/>
                  </a:lnTo>
                  <a:lnTo>
                    <a:pt x="197550" y="370123"/>
                  </a:lnTo>
                  <a:lnTo>
                    <a:pt x="156879" y="380313"/>
                  </a:lnTo>
                  <a:lnTo>
                    <a:pt x="142874" y="380999"/>
                  </a:lnTo>
                  <a:close/>
                </a:path>
              </a:pathLst>
            </a:custGeom>
            <a:solidFill>
              <a:srgbClr val="16A24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399" y="4217565"/>
              <a:ext cx="133349" cy="1523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419849" y="5712990"/>
              <a:ext cx="5162550" cy="685800"/>
            </a:xfrm>
            <a:custGeom>
              <a:avLst/>
              <a:gdLst/>
              <a:ahLst/>
              <a:cxnLst/>
              <a:rect l="l" t="t" r="r" b="b"/>
              <a:pathLst>
                <a:path w="5162550" h="685800">
                  <a:moveTo>
                    <a:pt x="5091352" y="685799"/>
                  </a:moveTo>
                  <a:lnTo>
                    <a:pt x="53397" y="685799"/>
                  </a:lnTo>
                  <a:lnTo>
                    <a:pt x="49680" y="685311"/>
                  </a:lnTo>
                  <a:lnTo>
                    <a:pt x="14084" y="659942"/>
                  </a:lnTo>
                  <a:lnTo>
                    <a:pt x="365" y="619558"/>
                  </a:lnTo>
                  <a:lnTo>
                    <a:pt x="0" y="614602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1715" y="29704"/>
                  </a:lnTo>
                  <a:lnTo>
                    <a:pt x="42318" y="2439"/>
                  </a:lnTo>
                  <a:lnTo>
                    <a:pt x="53397" y="0"/>
                  </a:lnTo>
                  <a:lnTo>
                    <a:pt x="5091352" y="0"/>
                  </a:lnTo>
                  <a:lnTo>
                    <a:pt x="5132842" y="15620"/>
                  </a:lnTo>
                  <a:lnTo>
                    <a:pt x="5158661" y="51661"/>
                  </a:lnTo>
                  <a:lnTo>
                    <a:pt x="5162548" y="71196"/>
                  </a:lnTo>
                  <a:lnTo>
                    <a:pt x="5162548" y="614602"/>
                  </a:lnTo>
                  <a:lnTo>
                    <a:pt x="5146926" y="656093"/>
                  </a:lnTo>
                  <a:lnTo>
                    <a:pt x="5110886" y="681912"/>
                  </a:lnTo>
                  <a:lnTo>
                    <a:pt x="5096307" y="685311"/>
                  </a:lnTo>
                  <a:lnTo>
                    <a:pt x="5091352" y="6857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00799" y="5713268"/>
              <a:ext cx="70485" cy="685800"/>
            </a:xfrm>
            <a:custGeom>
              <a:avLst/>
              <a:gdLst/>
              <a:ahLst/>
              <a:cxnLst/>
              <a:rect l="l" t="t" r="r" b="b"/>
              <a:pathLst>
                <a:path w="70485" h="685800">
                  <a:moveTo>
                    <a:pt x="70450" y="685244"/>
                  </a:moveTo>
                  <a:lnTo>
                    <a:pt x="33857" y="672691"/>
                  </a:lnTo>
                  <a:lnTo>
                    <a:pt x="5800" y="638482"/>
                  </a:lnTo>
                  <a:lnTo>
                    <a:pt x="0" y="6093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7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0"/>
                  </a:lnTo>
                  <a:lnTo>
                    <a:pt x="38100" y="75922"/>
                  </a:lnTo>
                  <a:lnTo>
                    <a:pt x="38100" y="609322"/>
                  </a:lnTo>
                  <a:lnTo>
                    <a:pt x="44515" y="651663"/>
                  </a:lnTo>
                  <a:lnTo>
                    <a:pt x="66287" y="683588"/>
                  </a:lnTo>
                  <a:lnTo>
                    <a:pt x="70450" y="68524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85339" y="634254"/>
              <a:ext cx="228599" cy="2285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400798" y="1331490"/>
              <a:ext cx="2514600" cy="2095500"/>
            </a:xfrm>
            <a:custGeom>
              <a:avLst/>
              <a:gdLst/>
              <a:ahLst/>
              <a:cxnLst/>
              <a:rect l="l" t="t" r="r" b="b"/>
              <a:pathLst>
                <a:path w="2514600" h="2095500">
                  <a:moveTo>
                    <a:pt x="2443403" y="2095499"/>
                  </a:moveTo>
                  <a:lnTo>
                    <a:pt x="71197" y="2095499"/>
                  </a:lnTo>
                  <a:lnTo>
                    <a:pt x="66241" y="2095011"/>
                  </a:lnTo>
                  <a:lnTo>
                    <a:pt x="29705" y="2079877"/>
                  </a:lnTo>
                  <a:lnTo>
                    <a:pt x="3885" y="2043837"/>
                  </a:lnTo>
                  <a:lnTo>
                    <a:pt x="0" y="2024303"/>
                  </a:lnTo>
                  <a:lnTo>
                    <a:pt x="0" y="2019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2443403" y="0"/>
                  </a:lnTo>
                  <a:lnTo>
                    <a:pt x="2484894" y="15621"/>
                  </a:lnTo>
                  <a:lnTo>
                    <a:pt x="2510713" y="51661"/>
                  </a:lnTo>
                  <a:lnTo>
                    <a:pt x="2514599" y="71196"/>
                  </a:lnTo>
                  <a:lnTo>
                    <a:pt x="2514599" y="2024303"/>
                  </a:lnTo>
                  <a:lnTo>
                    <a:pt x="2498977" y="2065793"/>
                  </a:lnTo>
                  <a:lnTo>
                    <a:pt x="2462937" y="2091613"/>
                  </a:lnTo>
                  <a:lnTo>
                    <a:pt x="2448357" y="2095011"/>
                  </a:lnTo>
                  <a:lnTo>
                    <a:pt x="2443403" y="20954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91299" y="1521990"/>
              <a:ext cx="466725" cy="495300"/>
            </a:xfrm>
            <a:custGeom>
              <a:avLst/>
              <a:gdLst/>
              <a:ahLst/>
              <a:cxnLst/>
              <a:rect l="l" t="t" r="r" b="b"/>
              <a:pathLst>
                <a:path w="466725" h="495300">
                  <a:moveTo>
                    <a:pt x="241005" y="495299"/>
                  </a:moveTo>
                  <a:lnTo>
                    <a:pt x="225719" y="495299"/>
                  </a:lnTo>
                  <a:lnTo>
                    <a:pt x="218095" y="494925"/>
                  </a:lnTo>
                  <a:lnTo>
                    <a:pt x="180339" y="489324"/>
                  </a:lnTo>
                  <a:lnTo>
                    <a:pt x="136996" y="474611"/>
                  </a:lnTo>
                  <a:lnTo>
                    <a:pt x="97357" y="451724"/>
                  </a:lnTo>
                  <a:lnTo>
                    <a:pt x="62945" y="421545"/>
                  </a:lnTo>
                  <a:lnTo>
                    <a:pt x="35081" y="385231"/>
                  </a:lnTo>
                  <a:lnTo>
                    <a:pt x="14838" y="344180"/>
                  </a:lnTo>
                  <a:lnTo>
                    <a:pt x="2992" y="299968"/>
                  </a:lnTo>
                  <a:lnTo>
                    <a:pt x="0" y="269580"/>
                  </a:lnTo>
                  <a:lnTo>
                    <a:pt x="0" y="261937"/>
                  </a:lnTo>
                  <a:lnTo>
                    <a:pt x="0" y="225719"/>
                  </a:lnTo>
                  <a:lnTo>
                    <a:pt x="5974" y="180339"/>
                  </a:lnTo>
                  <a:lnTo>
                    <a:pt x="20688" y="136997"/>
                  </a:lnTo>
                  <a:lnTo>
                    <a:pt x="43573" y="97358"/>
                  </a:lnTo>
                  <a:lnTo>
                    <a:pt x="73754" y="62945"/>
                  </a:lnTo>
                  <a:lnTo>
                    <a:pt x="110067" y="35082"/>
                  </a:lnTo>
                  <a:lnTo>
                    <a:pt x="151118" y="14838"/>
                  </a:lnTo>
                  <a:lnTo>
                    <a:pt x="195331" y="2992"/>
                  </a:lnTo>
                  <a:lnTo>
                    <a:pt x="225719" y="0"/>
                  </a:lnTo>
                  <a:lnTo>
                    <a:pt x="241005" y="0"/>
                  </a:lnTo>
                  <a:lnTo>
                    <a:pt x="286384" y="5974"/>
                  </a:lnTo>
                  <a:lnTo>
                    <a:pt x="329726" y="20688"/>
                  </a:lnTo>
                  <a:lnTo>
                    <a:pt x="369365" y="43574"/>
                  </a:lnTo>
                  <a:lnTo>
                    <a:pt x="403778" y="73754"/>
                  </a:lnTo>
                  <a:lnTo>
                    <a:pt x="431641" y="110067"/>
                  </a:lnTo>
                  <a:lnTo>
                    <a:pt x="451885" y="151119"/>
                  </a:lnTo>
                  <a:lnTo>
                    <a:pt x="463731" y="195331"/>
                  </a:lnTo>
                  <a:lnTo>
                    <a:pt x="466725" y="225719"/>
                  </a:lnTo>
                  <a:lnTo>
                    <a:pt x="466725" y="269580"/>
                  </a:lnTo>
                  <a:lnTo>
                    <a:pt x="460749" y="314960"/>
                  </a:lnTo>
                  <a:lnTo>
                    <a:pt x="446035" y="358302"/>
                  </a:lnTo>
                  <a:lnTo>
                    <a:pt x="423149" y="397941"/>
                  </a:lnTo>
                  <a:lnTo>
                    <a:pt x="392969" y="432353"/>
                  </a:lnTo>
                  <a:lnTo>
                    <a:pt x="356656" y="460217"/>
                  </a:lnTo>
                  <a:lnTo>
                    <a:pt x="315604" y="480461"/>
                  </a:lnTo>
                  <a:lnTo>
                    <a:pt x="271393" y="492306"/>
                  </a:lnTo>
                  <a:lnTo>
                    <a:pt x="248630" y="494925"/>
                  </a:lnTo>
                  <a:lnTo>
                    <a:pt x="241005" y="4952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05599" y="1636290"/>
              <a:ext cx="238124" cy="2666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92200" y="2471316"/>
            <a:ext cx="310769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</a:pPr>
            <a:r>
              <a:rPr sz="1500" b="1" spc="175" dirty="0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sz="15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60" dirty="0">
                <a:solidFill>
                  <a:srgbClr val="FFFFFF"/>
                </a:solidFill>
                <a:latin typeface="Trebuchet MS"/>
                <a:cs typeface="Trebuchet MS"/>
              </a:rPr>
              <a:t>Challenges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200" spc="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dispersion</a:t>
            </a:r>
            <a:r>
              <a:rPr sz="1200" spc="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across</a:t>
            </a:r>
            <a:r>
              <a:rPr sz="1200" spc="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multiple</a:t>
            </a:r>
            <a:r>
              <a:rPr sz="1200" spc="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systems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92200" y="3195216"/>
            <a:ext cx="346329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Time-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consuming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manual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reporting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80" dirty="0">
                <a:solidFill>
                  <a:srgbClr val="D0D5DA"/>
                </a:solidFill>
                <a:latin typeface="Trebuchet MS"/>
                <a:cs typeface="Trebuchet MS"/>
              </a:rPr>
              <a:t>processes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Limited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real-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time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analysis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40" dirty="0">
                <a:solidFill>
                  <a:srgbClr val="D0D5DA"/>
                </a:solidFill>
                <a:latin typeface="Trebuchet MS"/>
                <a:cs typeface="Trebuchet MS"/>
              </a:rPr>
              <a:t>capabilities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5549" y="4025795"/>
            <a:ext cx="2265680" cy="4826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20" dirty="0">
                <a:solidFill>
                  <a:srgbClr val="FFFFFF"/>
                </a:solidFill>
                <a:latin typeface="Trebuchet MS"/>
                <a:cs typeface="Trebuchet MS"/>
              </a:rPr>
              <a:t>Leads: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Dasol</a:t>
            </a:r>
            <a:r>
              <a:rPr sz="1200" spc="2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Shin</a:t>
            </a:r>
            <a:r>
              <a:rPr sz="12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&amp;</a:t>
            </a:r>
            <a:r>
              <a:rPr sz="12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D0D5DA"/>
                </a:solidFill>
                <a:latin typeface="Trebuchet MS"/>
                <a:cs typeface="Trebuchet MS"/>
              </a:rPr>
              <a:t>Christian</a:t>
            </a:r>
            <a:r>
              <a:rPr sz="12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Bolton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15292" y="598693"/>
            <a:ext cx="2052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5" dirty="0">
                <a:solidFill>
                  <a:srgbClr val="FFFFFF"/>
                </a:solidFill>
                <a:latin typeface="Trebuchet MS"/>
                <a:cs typeface="Trebuchet MS"/>
              </a:rPr>
              <a:t>Core</a:t>
            </a:r>
            <a:r>
              <a:rPr sz="18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160" dirty="0">
                <a:solidFill>
                  <a:srgbClr val="FFFFFF"/>
                </a:solidFill>
                <a:latin typeface="Trebuchet MS"/>
                <a:cs typeface="Trebuchet MS"/>
              </a:rPr>
              <a:t>Objectives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78600" y="2082695"/>
            <a:ext cx="1951355" cy="114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9920">
              <a:lnSpc>
                <a:spcPct val="125000"/>
              </a:lnSpc>
              <a:spcBef>
                <a:spcPts val="100"/>
              </a:spcBef>
            </a:pPr>
            <a:r>
              <a:rPr sz="1200" b="1" spc="140" dirty="0">
                <a:solidFill>
                  <a:srgbClr val="FFFFFF"/>
                </a:solidFill>
                <a:latin typeface="Trebuchet MS"/>
                <a:cs typeface="Trebuchet MS"/>
              </a:rPr>
              <a:t>Automate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40" dirty="0">
                <a:solidFill>
                  <a:srgbClr val="FFFFFF"/>
                </a:solidFill>
                <a:latin typeface="Trebuchet MS"/>
                <a:cs typeface="Trebuchet MS"/>
              </a:rPr>
              <a:t>Data 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Collection</a:t>
            </a:r>
            <a:endParaRPr sz="1200" dirty="0">
              <a:latin typeface="Trebuchet MS"/>
              <a:cs typeface="Trebuchet MS"/>
            </a:endParaRPr>
          </a:p>
          <a:p>
            <a:pPr marL="12700" marR="5080">
              <a:lnSpc>
                <a:spcPct val="119000"/>
              </a:lnSpc>
              <a:spcBef>
                <a:spcPts val="720"/>
              </a:spcBef>
            </a:pP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Create</a:t>
            </a:r>
            <a:r>
              <a:rPr sz="1050" spc="2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D0D5DA"/>
                </a:solidFill>
                <a:latin typeface="Trebuchet MS"/>
                <a:cs typeface="Trebuchet MS"/>
              </a:rPr>
              <a:t>automated</a:t>
            </a:r>
            <a:r>
              <a:rPr sz="105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40" dirty="0">
                <a:solidFill>
                  <a:srgbClr val="D0D5DA"/>
                </a:solidFill>
                <a:latin typeface="Trebuchet MS"/>
                <a:cs typeface="Trebuchet MS"/>
              </a:rPr>
              <a:t>workflows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D0D5DA"/>
                </a:solidFill>
                <a:latin typeface="Trebuchet MS"/>
                <a:cs typeface="Trebuchet MS"/>
              </a:rPr>
              <a:t>gathering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endParaRPr sz="10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processing</a:t>
            </a:r>
            <a:endParaRPr sz="1050" dirty="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067798" y="1714499"/>
            <a:ext cx="2514600" cy="2095500"/>
            <a:chOff x="9067798" y="1714499"/>
            <a:chExt cx="2514600" cy="2095500"/>
          </a:xfrm>
        </p:grpSpPr>
        <p:sp>
          <p:nvSpPr>
            <p:cNvPr id="26" name="object 26"/>
            <p:cNvSpPr/>
            <p:nvPr/>
          </p:nvSpPr>
          <p:spPr>
            <a:xfrm>
              <a:off x="9067798" y="1331490"/>
              <a:ext cx="2514600" cy="2095500"/>
            </a:xfrm>
            <a:custGeom>
              <a:avLst/>
              <a:gdLst/>
              <a:ahLst/>
              <a:cxnLst/>
              <a:rect l="l" t="t" r="r" b="b"/>
              <a:pathLst>
                <a:path w="2514600" h="2095500">
                  <a:moveTo>
                    <a:pt x="2443403" y="2095499"/>
                  </a:moveTo>
                  <a:lnTo>
                    <a:pt x="71196" y="2095499"/>
                  </a:lnTo>
                  <a:lnTo>
                    <a:pt x="66240" y="2095011"/>
                  </a:lnTo>
                  <a:lnTo>
                    <a:pt x="29705" y="2079877"/>
                  </a:lnTo>
                  <a:lnTo>
                    <a:pt x="3885" y="2043837"/>
                  </a:lnTo>
                  <a:lnTo>
                    <a:pt x="0" y="2024303"/>
                  </a:lnTo>
                  <a:lnTo>
                    <a:pt x="0" y="2019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443403" y="0"/>
                  </a:lnTo>
                  <a:lnTo>
                    <a:pt x="2484892" y="15621"/>
                  </a:lnTo>
                  <a:lnTo>
                    <a:pt x="2510712" y="51661"/>
                  </a:lnTo>
                  <a:lnTo>
                    <a:pt x="2514599" y="71196"/>
                  </a:lnTo>
                  <a:lnTo>
                    <a:pt x="2514599" y="2024303"/>
                  </a:lnTo>
                  <a:lnTo>
                    <a:pt x="2498976" y="2065793"/>
                  </a:lnTo>
                  <a:lnTo>
                    <a:pt x="2462937" y="2091613"/>
                  </a:lnTo>
                  <a:lnTo>
                    <a:pt x="2448357" y="2095011"/>
                  </a:lnTo>
                  <a:lnTo>
                    <a:pt x="2443403" y="20954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258299" y="1521990"/>
              <a:ext cx="419100" cy="495300"/>
            </a:xfrm>
            <a:custGeom>
              <a:avLst/>
              <a:gdLst/>
              <a:ahLst/>
              <a:cxnLst/>
              <a:rect l="l" t="t" r="r" b="b"/>
              <a:pathLst>
                <a:path w="419100" h="495300">
                  <a:moveTo>
                    <a:pt x="216412" y="495299"/>
                  </a:moveTo>
                  <a:lnTo>
                    <a:pt x="202687" y="495299"/>
                  </a:lnTo>
                  <a:lnTo>
                    <a:pt x="195840" y="494963"/>
                  </a:lnTo>
                  <a:lnTo>
                    <a:pt x="155288" y="488268"/>
                  </a:lnTo>
                  <a:lnTo>
                    <a:pt x="116820" y="473791"/>
                  </a:lnTo>
                  <a:lnTo>
                    <a:pt x="81917" y="452088"/>
                  </a:lnTo>
                  <a:lnTo>
                    <a:pt x="51919" y="423992"/>
                  </a:lnTo>
                  <a:lnTo>
                    <a:pt x="27978" y="390583"/>
                  </a:lnTo>
                  <a:lnTo>
                    <a:pt x="11014" y="353146"/>
                  </a:lnTo>
                  <a:lnTo>
                    <a:pt x="1681" y="313119"/>
                  </a:lnTo>
                  <a:lnTo>
                    <a:pt x="0" y="292612"/>
                  </a:lnTo>
                  <a:lnTo>
                    <a:pt x="0" y="285749"/>
                  </a:lnTo>
                  <a:lnTo>
                    <a:pt x="0" y="202686"/>
                  </a:lnTo>
                  <a:lnTo>
                    <a:pt x="5364" y="161937"/>
                  </a:lnTo>
                  <a:lnTo>
                    <a:pt x="18577" y="123017"/>
                  </a:lnTo>
                  <a:lnTo>
                    <a:pt x="39128" y="87423"/>
                  </a:lnTo>
                  <a:lnTo>
                    <a:pt x="66228" y="56522"/>
                  </a:lnTo>
                  <a:lnTo>
                    <a:pt x="98835" y="31502"/>
                  </a:lnTo>
                  <a:lnTo>
                    <a:pt x="135698" y="13324"/>
                  </a:lnTo>
                  <a:lnTo>
                    <a:pt x="175399" y="2687"/>
                  </a:lnTo>
                  <a:lnTo>
                    <a:pt x="202687" y="0"/>
                  </a:lnTo>
                  <a:lnTo>
                    <a:pt x="216412" y="0"/>
                  </a:lnTo>
                  <a:lnTo>
                    <a:pt x="257161" y="5365"/>
                  </a:lnTo>
                  <a:lnTo>
                    <a:pt x="296081" y="18577"/>
                  </a:lnTo>
                  <a:lnTo>
                    <a:pt x="331675" y="39128"/>
                  </a:lnTo>
                  <a:lnTo>
                    <a:pt x="362576" y="66228"/>
                  </a:lnTo>
                  <a:lnTo>
                    <a:pt x="387596" y="98836"/>
                  </a:lnTo>
                  <a:lnTo>
                    <a:pt x="405774" y="135699"/>
                  </a:lnTo>
                  <a:lnTo>
                    <a:pt x="416412" y="175399"/>
                  </a:lnTo>
                  <a:lnTo>
                    <a:pt x="419100" y="202686"/>
                  </a:lnTo>
                  <a:lnTo>
                    <a:pt x="419100" y="292612"/>
                  </a:lnTo>
                  <a:lnTo>
                    <a:pt x="413734" y="333362"/>
                  </a:lnTo>
                  <a:lnTo>
                    <a:pt x="400520" y="372281"/>
                  </a:lnTo>
                  <a:lnTo>
                    <a:pt x="379970" y="407875"/>
                  </a:lnTo>
                  <a:lnTo>
                    <a:pt x="352870" y="438776"/>
                  </a:lnTo>
                  <a:lnTo>
                    <a:pt x="320262" y="463797"/>
                  </a:lnTo>
                  <a:lnTo>
                    <a:pt x="283399" y="481975"/>
                  </a:lnTo>
                  <a:lnTo>
                    <a:pt x="243700" y="492612"/>
                  </a:lnTo>
                  <a:lnTo>
                    <a:pt x="223259" y="494963"/>
                  </a:lnTo>
                  <a:lnTo>
                    <a:pt x="216412" y="495299"/>
                  </a:lnTo>
                  <a:close/>
                </a:path>
              </a:pathLst>
            </a:custGeom>
            <a:solidFill>
              <a:srgbClr val="13532D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72599" y="1636290"/>
              <a:ext cx="190499" cy="26669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9245600" y="2082695"/>
            <a:ext cx="2099310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64235">
              <a:lnSpc>
                <a:spcPct val="125000"/>
              </a:lnSpc>
              <a:spcBef>
                <a:spcPts val="100"/>
              </a:spcBef>
            </a:pPr>
            <a:r>
              <a:rPr sz="1200" b="1" spc="114" dirty="0">
                <a:solidFill>
                  <a:srgbClr val="FFFFFF"/>
                </a:solidFill>
                <a:latin typeface="Trebuchet MS"/>
                <a:cs typeface="Trebuchet MS"/>
              </a:rPr>
              <a:t>Build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25" dirty="0">
                <a:solidFill>
                  <a:srgbClr val="FFFFFF"/>
                </a:solidFill>
                <a:latin typeface="Trebuchet MS"/>
                <a:cs typeface="Trebuchet MS"/>
              </a:rPr>
              <a:t>Scalable 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Architecture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19000"/>
              </a:lnSpc>
              <a:spcBef>
                <a:spcPts val="720"/>
              </a:spcBef>
            </a:pPr>
            <a:r>
              <a:rPr sz="1050" spc="90" dirty="0">
                <a:solidFill>
                  <a:srgbClr val="D0D5DA"/>
                </a:solidFill>
                <a:latin typeface="Trebuchet MS"/>
                <a:cs typeface="Trebuchet MS"/>
              </a:rPr>
              <a:t>Design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a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90" dirty="0">
                <a:solidFill>
                  <a:srgbClr val="D0D5DA"/>
                </a:solidFill>
                <a:latin typeface="Trebuchet MS"/>
                <a:cs typeface="Trebuchet MS"/>
              </a:rPr>
              <a:t>system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that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D0D5DA"/>
                </a:solidFill>
                <a:latin typeface="Trebuchet MS"/>
                <a:cs typeface="Trebuchet MS"/>
              </a:rPr>
              <a:t>can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grow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with</a:t>
            </a:r>
            <a:r>
              <a:rPr sz="105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the</a:t>
            </a:r>
            <a:r>
              <a:rPr sz="105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45" dirty="0">
                <a:solidFill>
                  <a:srgbClr val="D0D5DA"/>
                </a:solidFill>
                <a:latin typeface="Trebuchet MS"/>
                <a:cs typeface="Trebuchet MS"/>
              </a:rPr>
              <a:t>organization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400798" y="3962399"/>
            <a:ext cx="2514600" cy="1905000"/>
            <a:chOff x="6400798" y="3962399"/>
            <a:chExt cx="2514600" cy="1905000"/>
          </a:xfrm>
        </p:grpSpPr>
        <p:sp>
          <p:nvSpPr>
            <p:cNvPr id="31" name="object 31"/>
            <p:cNvSpPr/>
            <p:nvPr/>
          </p:nvSpPr>
          <p:spPr>
            <a:xfrm>
              <a:off x="6400798" y="3579390"/>
              <a:ext cx="2514600" cy="1905000"/>
            </a:xfrm>
            <a:custGeom>
              <a:avLst/>
              <a:gdLst/>
              <a:ahLst/>
              <a:cxnLst/>
              <a:rect l="l" t="t" r="r" b="b"/>
              <a:pathLst>
                <a:path w="2514600" h="1905000">
                  <a:moveTo>
                    <a:pt x="2443403" y="1904999"/>
                  </a:moveTo>
                  <a:lnTo>
                    <a:pt x="71197" y="1904999"/>
                  </a:lnTo>
                  <a:lnTo>
                    <a:pt x="66241" y="1904511"/>
                  </a:lnTo>
                  <a:lnTo>
                    <a:pt x="29705" y="1889376"/>
                  </a:lnTo>
                  <a:lnTo>
                    <a:pt x="3885" y="1853337"/>
                  </a:lnTo>
                  <a:lnTo>
                    <a:pt x="0" y="1833803"/>
                  </a:lnTo>
                  <a:lnTo>
                    <a:pt x="0" y="1828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2443403" y="0"/>
                  </a:lnTo>
                  <a:lnTo>
                    <a:pt x="2484894" y="15621"/>
                  </a:lnTo>
                  <a:lnTo>
                    <a:pt x="2510713" y="51661"/>
                  </a:lnTo>
                  <a:lnTo>
                    <a:pt x="2514599" y="71196"/>
                  </a:lnTo>
                  <a:lnTo>
                    <a:pt x="2514599" y="1833803"/>
                  </a:lnTo>
                  <a:lnTo>
                    <a:pt x="2498977" y="1875293"/>
                  </a:lnTo>
                  <a:lnTo>
                    <a:pt x="2462937" y="1901113"/>
                  </a:lnTo>
                  <a:lnTo>
                    <a:pt x="2448357" y="1904511"/>
                  </a:lnTo>
                  <a:lnTo>
                    <a:pt x="2443403" y="19049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91299" y="3769890"/>
              <a:ext cx="400050" cy="495300"/>
            </a:xfrm>
            <a:custGeom>
              <a:avLst/>
              <a:gdLst/>
              <a:ahLst/>
              <a:cxnLst/>
              <a:rect l="l" t="t" r="r" b="b"/>
              <a:pathLst>
                <a:path w="400050" h="495300">
                  <a:moveTo>
                    <a:pt x="200024" y="495299"/>
                  </a:moveTo>
                  <a:lnTo>
                    <a:pt x="161000" y="491456"/>
                  </a:lnTo>
                  <a:lnTo>
                    <a:pt x="123477" y="480073"/>
                  </a:lnTo>
                  <a:lnTo>
                    <a:pt x="88895" y="461589"/>
                  </a:lnTo>
                  <a:lnTo>
                    <a:pt x="58585" y="436713"/>
                  </a:lnTo>
                  <a:lnTo>
                    <a:pt x="33708" y="406402"/>
                  </a:lnTo>
                  <a:lnTo>
                    <a:pt x="15224" y="371820"/>
                  </a:lnTo>
                  <a:lnTo>
                    <a:pt x="3842" y="334297"/>
                  </a:lnTo>
                  <a:lnTo>
                    <a:pt x="0" y="295274"/>
                  </a:lnTo>
                  <a:lnTo>
                    <a:pt x="0" y="200024"/>
                  </a:lnTo>
                  <a:lnTo>
                    <a:pt x="3842" y="161001"/>
                  </a:lnTo>
                  <a:lnTo>
                    <a:pt x="15224" y="123478"/>
                  </a:lnTo>
                  <a:lnTo>
                    <a:pt x="33708" y="88896"/>
                  </a:lnTo>
                  <a:lnTo>
                    <a:pt x="58585" y="58585"/>
                  </a:lnTo>
                  <a:lnTo>
                    <a:pt x="88895" y="33710"/>
                  </a:lnTo>
                  <a:lnTo>
                    <a:pt x="123477" y="15225"/>
                  </a:lnTo>
                  <a:lnTo>
                    <a:pt x="161001" y="3843"/>
                  </a:lnTo>
                  <a:lnTo>
                    <a:pt x="200024" y="0"/>
                  </a:lnTo>
                  <a:lnTo>
                    <a:pt x="209851" y="240"/>
                  </a:lnTo>
                  <a:lnTo>
                    <a:pt x="248638" y="5996"/>
                  </a:lnTo>
                  <a:lnTo>
                    <a:pt x="285556" y="19208"/>
                  </a:lnTo>
                  <a:lnTo>
                    <a:pt x="319188" y="39369"/>
                  </a:lnTo>
                  <a:lnTo>
                    <a:pt x="348242" y="65704"/>
                  </a:lnTo>
                  <a:lnTo>
                    <a:pt x="371598" y="97200"/>
                  </a:lnTo>
                  <a:lnTo>
                    <a:pt x="388361" y="132648"/>
                  </a:lnTo>
                  <a:lnTo>
                    <a:pt x="397887" y="170686"/>
                  </a:lnTo>
                  <a:lnTo>
                    <a:pt x="400049" y="200024"/>
                  </a:lnTo>
                  <a:lnTo>
                    <a:pt x="400049" y="295274"/>
                  </a:lnTo>
                  <a:lnTo>
                    <a:pt x="396206" y="334297"/>
                  </a:lnTo>
                  <a:lnTo>
                    <a:pt x="384823" y="371820"/>
                  </a:lnTo>
                  <a:lnTo>
                    <a:pt x="366338" y="406402"/>
                  </a:lnTo>
                  <a:lnTo>
                    <a:pt x="341463" y="436713"/>
                  </a:lnTo>
                  <a:lnTo>
                    <a:pt x="311151" y="461588"/>
                  </a:lnTo>
                  <a:lnTo>
                    <a:pt x="276570" y="480073"/>
                  </a:lnTo>
                  <a:lnTo>
                    <a:pt x="239047" y="491456"/>
                  </a:lnTo>
                  <a:lnTo>
                    <a:pt x="200024" y="495299"/>
                  </a:lnTo>
                  <a:close/>
                </a:path>
              </a:pathLst>
            </a:custGeom>
            <a:solidFill>
              <a:srgbClr val="581B8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05599" y="3884190"/>
              <a:ext cx="171449" cy="26669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578600" y="4330595"/>
            <a:ext cx="2043430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spc="130" dirty="0">
                <a:solidFill>
                  <a:srgbClr val="FFFFFF"/>
                </a:solidFill>
                <a:latin typeface="Trebuchet MS"/>
                <a:cs typeface="Trebuchet MS"/>
              </a:rPr>
              <a:t>Integrate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14" dirty="0">
                <a:solidFill>
                  <a:srgbClr val="FFFFFF"/>
                </a:solidFill>
                <a:latin typeface="Trebuchet MS"/>
                <a:cs typeface="Trebuchet MS"/>
              </a:rPr>
              <a:t>Multiple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40" dirty="0">
                <a:solidFill>
                  <a:srgbClr val="FFFFFF"/>
                </a:solidFill>
                <a:latin typeface="Trebuchet MS"/>
                <a:cs typeface="Trebuchet MS"/>
              </a:rPr>
              <a:t>Data </a:t>
            </a:r>
            <a:r>
              <a:rPr sz="1200" b="1" spc="135" dirty="0">
                <a:solidFill>
                  <a:srgbClr val="FFFFFF"/>
                </a:solidFill>
                <a:latin typeface="Trebuchet MS"/>
                <a:cs typeface="Trebuchet MS"/>
              </a:rPr>
              <a:t>Sources</a:t>
            </a:r>
            <a:endParaRPr sz="1200">
              <a:latin typeface="Trebuchet MS"/>
              <a:cs typeface="Trebuchet MS"/>
            </a:endParaRPr>
          </a:p>
          <a:p>
            <a:pPr marL="12700" marR="12065">
              <a:lnSpc>
                <a:spcPct val="119000"/>
              </a:lnSpc>
              <a:spcBef>
                <a:spcPts val="720"/>
              </a:spcBef>
            </a:pP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Consolidate</a:t>
            </a:r>
            <a:r>
              <a:rPr sz="1050" spc="10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050" spc="10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from</a:t>
            </a:r>
            <a:r>
              <a:rPr sz="1050" spc="10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various 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testing</a:t>
            </a:r>
            <a:r>
              <a:rPr sz="1050" spc="1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scenarios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067798" y="3962399"/>
            <a:ext cx="2514600" cy="1905000"/>
            <a:chOff x="9067798" y="3962399"/>
            <a:chExt cx="2514600" cy="1905000"/>
          </a:xfrm>
        </p:grpSpPr>
        <p:sp>
          <p:nvSpPr>
            <p:cNvPr id="36" name="object 36"/>
            <p:cNvSpPr/>
            <p:nvPr/>
          </p:nvSpPr>
          <p:spPr>
            <a:xfrm>
              <a:off x="9067798" y="3579390"/>
              <a:ext cx="2514600" cy="1905000"/>
            </a:xfrm>
            <a:custGeom>
              <a:avLst/>
              <a:gdLst/>
              <a:ahLst/>
              <a:cxnLst/>
              <a:rect l="l" t="t" r="r" b="b"/>
              <a:pathLst>
                <a:path w="2514600" h="1905000">
                  <a:moveTo>
                    <a:pt x="2443403" y="1904999"/>
                  </a:moveTo>
                  <a:lnTo>
                    <a:pt x="71196" y="1904999"/>
                  </a:lnTo>
                  <a:lnTo>
                    <a:pt x="66240" y="1904511"/>
                  </a:lnTo>
                  <a:lnTo>
                    <a:pt x="29705" y="1889376"/>
                  </a:lnTo>
                  <a:lnTo>
                    <a:pt x="3885" y="1853337"/>
                  </a:lnTo>
                  <a:lnTo>
                    <a:pt x="0" y="1833803"/>
                  </a:lnTo>
                  <a:lnTo>
                    <a:pt x="0" y="18287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443403" y="0"/>
                  </a:lnTo>
                  <a:lnTo>
                    <a:pt x="2484892" y="15621"/>
                  </a:lnTo>
                  <a:lnTo>
                    <a:pt x="2510712" y="51661"/>
                  </a:lnTo>
                  <a:lnTo>
                    <a:pt x="2514599" y="71196"/>
                  </a:lnTo>
                  <a:lnTo>
                    <a:pt x="2514599" y="1833803"/>
                  </a:lnTo>
                  <a:lnTo>
                    <a:pt x="2498976" y="1875293"/>
                  </a:lnTo>
                  <a:lnTo>
                    <a:pt x="2462937" y="1901113"/>
                  </a:lnTo>
                  <a:lnTo>
                    <a:pt x="2448357" y="1904511"/>
                  </a:lnTo>
                  <a:lnTo>
                    <a:pt x="2443403" y="19049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258299" y="3769890"/>
              <a:ext cx="419100" cy="495300"/>
            </a:xfrm>
            <a:custGeom>
              <a:avLst/>
              <a:gdLst/>
              <a:ahLst/>
              <a:cxnLst/>
              <a:rect l="l" t="t" r="r" b="b"/>
              <a:pathLst>
                <a:path w="419100" h="495300">
                  <a:moveTo>
                    <a:pt x="216412" y="495299"/>
                  </a:moveTo>
                  <a:lnTo>
                    <a:pt x="202687" y="495299"/>
                  </a:lnTo>
                  <a:lnTo>
                    <a:pt x="195840" y="494963"/>
                  </a:lnTo>
                  <a:lnTo>
                    <a:pt x="155288" y="488268"/>
                  </a:lnTo>
                  <a:lnTo>
                    <a:pt x="116820" y="473791"/>
                  </a:lnTo>
                  <a:lnTo>
                    <a:pt x="81917" y="452087"/>
                  </a:lnTo>
                  <a:lnTo>
                    <a:pt x="51919" y="423991"/>
                  </a:lnTo>
                  <a:lnTo>
                    <a:pt x="27978" y="390583"/>
                  </a:lnTo>
                  <a:lnTo>
                    <a:pt x="11014" y="353146"/>
                  </a:lnTo>
                  <a:lnTo>
                    <a:pt x="1681" y="313118"/>
                  </a:lnTo>
                  <a:lnTo>
                    <a:pt x="0" y="292612"/>
                  </a:lnTo>
                  <a:lnTo>
                    <a:pt x="0" y="285749"/>
                  </a:lnTo>
                  <a:lnTo>
                    <a:pt x="0" y="202686"/>
                  </a:lnTo>
                  <a:lnTo>
                    <a:pt x="5364" y="161936"/>
                  </a:lnTo>
                  <a:lnTo>
                    <a:pt x="18577" y="123017"/>
                  </a:lnTo>
                  <a:lnTo>
                    <a:pt x="39128" y="87423"/>
                  </a:lnTo>
                  <a:lnTo>
                    <a:pt x="66228" y="56522"/>
                  </a:lnTo>
                  <a:lnTo>
                    <a:pt x="98835" y="31502"/>
                  </a:lnTo>
                  <a:lnTo>
                    <a:pt x="135698" y="13324"/>
                  </a:lnTo>
                  <a:lnTo>
                    <a:pt x="175399" y="2687"/>
                  </a:lnTo>
                  <a:lnTo>
                    <a:pt x="202687" y="0"/>
                  </a:lnTo>
                  <a:lnTo>
                    <a:pt x="216412" y="0"/>
                  </a:lnTo>
                  <a:lnTo>
                    <a:pt x="257161" y="5365"/>
                  </a:lnTo>
                  <a:lnTo>
                    <a:pt x="296081" y="18576"/>
                  </a:lnTo>
                  <a:lnTo>
                    <a:pt x="331675" y="39127"/>
                  </a:lnTo>
                  <a:lnTo>
                    <a:pt x="362576" y="66228"/>
                  </a:lnTo>
                  <a:lnTo>
                    <a:pt x="387596" y="98836"/>
                  </a:lnTo>
                  <a:lnTo>
                    <a:pt x="405774" y="135698"/>
                  </a:lnTo>
                  <a:lnTo>
                    <a:pt x="416412" y="175399"/>
                  </a:lnTo>
                  <a:lnTo>
                    <a:pt x="419100" y="202686"/>
                  </a:lnTo>
                  <a:lnTo>
                    <a:pt x="419100" y="292612"/>
                  </a:lnTo>
                  <a:lnTo>
                    <a:pt x="413734" y="333361"/>
                  </a:lnTo>
                  <a:lnTo>
                    <a:pt x="400520" y="372281"/>
                  </a:lnTo>
                  <a:lnTo>
                    <a:pt x="379970" y="407875"/>
                  </a:lnTo>
                  <a:lnTo>
                    <a:pt x="352870" y="438776"/>
                  </a:lnTo>
                  <a:lnTo>
                    <a:pt x="320262" y="463796"/>
                  </a:lnTo>
                  <a:lnTo>
                    <a:pt x="283399" y="481974"/>
                  </a:lnTo>
                  <a:lnTo>
                    <a:pt x="243700" y="492612"/>
                  </a:lnTo>
                  <a:lnTo>
                    <a:pt x="223259" y="494963"/>
                  </a:lnTo>
                  <a:lnTo>
                    <a:pt x="216412" y="495299"/>
                  </a:lnTo>
                  <a:close/>
                </a:path>
              </a:pathLst>
            </a:custGeom>
            <a:solidFill>
              <a:srgbClr val="7C2D1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72599" y="3884190"/>
              <a:ext cx="190499" cy="26669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245600" y="4330595"/>
            <a:ext cx="1917700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6550">
              <a:lnSpc>
                <a:spcPct val="125000"/>
              </a:lnSpc>
              <a:spcBef>
                <a:spcPts val="100"/>
              </a:spcBef>
            </a:pPr>
            <a:r>
              <a:rPr sz="1200" b="1" spc="114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00" dirty="0">
                <a:solidFill>
                  <a:srgbClr val="FFFFFF"/>
                </a:solidFill>
                <a:latin typeface="Trebuchet MS"/>
                <a:cs typeface="Trebuchet MS"/>
              </a:rPr>
              <a:t>Interactive </a:t>
            </a:r>
            <a:r>
              <a:rPr sz="1200" b="1" spc="155" dirty="0">
                <a:solidFill>
                  <a:srgbClr val="FFFFFF"/>
                </a:solidFill>
                <a:latin typeface="Trebuchet MS"/>
                <a:cs typeface="Trebuchet MS"/>
              </a:rPr>
              <a:t>Dashboards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19000"/>
              </a:lnSpc>
              <a:spcBef>
                <a:spcPts val="720"/>
              </a:spcBef>
            </a:pP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Build</a:t>
            </a:r>
            <a:r>
              <a:rPr sz="1050" spc="1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D0D5DA"/>
                </a:solidFill>
                <a:latin typeface="Trebuchet MS"/>
                <a:cs typeface="Trebuchet MS"/>
              </a:rPr>
              <a:t>dynamic</a:t>
            </a:r>
            <a:r>
              <a:rPr sz="1050" spc="14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40" dirty="0">
                <a:solidFill>
                  <a:srgbClr val="D0D5DA"/>
                </a:solidFill>
                <a:latin typeface="Trebuchet MS"/>
                <a:cs typeface="Trebuchet MS"/>
              </a:rPr>
              <a:t>visualizations 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using</a:t>
            </a:r>
            <a:r>
              <a:rPr sz="1050" spc="1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Looker</a:t>
            </a:r>
            <a:r>
              <a:rPr sz="1050" spc="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Studio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91300" y="5893965"/>
            <a:ext cx="95249" cy="13334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578600" y="5831735"/>
            <a:ext cx="45256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2885">
              <a:lnSpc>
                <a:spcPct val="119000"/>
              </a:lnSpc>
              <a:spcBef>
                <a:spcPts val="100"/>
              </a:spcBef>
            </a:pPr>
            <a:r>
              <a:rPr sz="1050" b="1" spc="105" dirty="0">
                <a:solidFill>
                  <a:srgbClr val="D0D5DA"/>
                </a:solidFill>
                <a:latin typeface="Trebuchet MS"/>
                <a:cs typeface="Trebuchet MS"/>
              </a:rPr>
              <a:t>Expected</a:t>
            </a:r>
            <a:r>
              <a:rPr sz="1050" b="1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b="1" spc="110" dirty="0">
                <a:solidFill>
                  <a:srgbClr val="D0D5DA"/>
                </a:solidFill>
                <a:latin typeface="Trebuchet MS"/>
                <a:cs typeface="Trebuchet MS"/>
              </a:rPr>
              <a:t>Impact:</a:t>
            </a:r>
            <a:r>
              <a:rPr sz="1050" b="1" spc="7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Increase</a:t>
            </a:r>
            <a:r>
              <a:rPr sz="105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05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D0D5DA"/>
                </a:solidFill>
                <a:latin typeface="Trebuchet MS"/>
                <a:cs typeface="Trebuchet MS"/>
              </a:rPr>
              <a:t>analysis</a:t>
            </a:r>
            <a:r>
              <a:rPr sz="105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efficiency,</a:t>
            </a:r>
            <a:r>
              <a:rPr sz="105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improve 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decision-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making,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and 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reduce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D0D5DA"/>
                </a:solidFill>
                <a:latin typeface="Trebuchet MS"/>
                <a:cs typeface="Trebuchet MS"/>
              </a:rPr>
              <a:t>reporting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D0D5DA"/>
                </a:solidFill>
                <a:latin typeface="Trebuchet MS"/>
                <a:cs typeface="Trebuchet MS"/>
              </a:rPr>
              <a:t>time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D0D5DA"/>
                </a:solidFill>
                <a:latin typeface="Trebuchet MS"/>
                <a:cs typeface="Trebuchet MS"/>
              </a:rPr>
              <a:t>from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D0D5DA"/>
                </a:solidFill>
                <a:latin typeface="Trebuchet MS"/>
                <a:cs typeface="Trebuchet MS"/>
              </a:rPr>
              <a:t>hours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D0D5DA"/>
                </a:solidFill>
                <a:latin typeface="Trebuchet MS"/>
                <a:cs typeface="Trebuchet MS"/>
              </a:rPr>
              <a:t>to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45" dirty="0">
                <a:solidFill>
                  <a:srgbClr val="D0D5DA"/>
                </a:solidFill>
                <a:latin typeface="Trebuchet MS"/>
                <a:cs typeface="Trebuchet MS"/>
              </a:rPr>
              <a:t>minutes.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689208" y="6081290"/>
            <a:ext cx="3251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FFFFFF"/>
                </a:solidFill>
                <a:latin typeface="Trebuchet MS"/>
                <a:cs typeface="Trebuchet MS"/>
              </a:rPr>
              <a:t>2/11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Project</a:t>
            </a:r>
            <a:r>
              <a:rPr spc="130" dirty="0"/>
              <a:t> </a:t>
            </a:r>
            <a:r>
              <a:rPr spc="235" dirty="0"/>
              <a:t>Timeline</a:t>
            </a:r>
            <a:r>
              <a:rPr spc="130" dirty="0"/>
              <a:t> </a:t>
            </a:r>
            <a:r>
              <a:rPr spc="434" dirty="0"/>
              <a:t>&amp;</a:t>
            </a:r>
            <a:r>
              <a:rPr spc="130" dirty="0"/>
              <a:t> </a:t>
            </a:r>
            <a:r>
              <a:rPr spc="220" dirty="0"/>
              <a:t>Team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9599" y="1257299"/>
            <a:ext cx="5181600" cy="4752975"/>
            <a:chOff x="609599" y="1257299"/>
            <a:chExt cx="5181600" cy="4752975"/>
          </a:xfrm>
        </p:grpSpPr>
        <p:sp>
          <p:nvSpPr>
            <p:cNvPr id="4" name="object 4"/>
            <p:cNvSpPr/>
            <p:nvPr/>
          </p:nvSpPr>
          <p:spPr>
            <a:xfrm>
              <a:off x="609599" y="874290"/>
              <a:ext cx="5181600" cy="4752975"/>
            </a:xfrm>
            <a:custGeom>
              <a:avLst/>
              <a:gdLst/>
              <a:ahLst/>
              <a:cxnLst/>
              <a:rect l="l" t="t" r="r" b="b"/>
              <a:pathLst>
                <a:path w="5181600" h="4752975">
                  <a:moveTo>
                    <a:pt x="5110402" y="4752974"/>
                  </a:moveTo>
                  <a:lnTo>
                    <a:pt x="71196" y="4752974"/>
                  </a:lnTo>
                  <a:lnTo>
                    <a:pt x="66241" y="4752486"/>
                  </a:lnTo>
                  <a:lnTo>
                    <a:pt x="29705" y="4737351"/>
                  </a:lnTo>
                  <a:lnTo>
                    <a:pt x="3885" y="4701312"/>
                  </a:lnTo>
                  <a:lnTo>
                    <a:pt x="0" y="4681777"/>
                  </a:lnTo>
                  <a:lnTo>
                    <a:pt x="0" y="467677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110402" y="0"/>
                  </a:lnTo>
                  <a:lnTo>
                    <a:pt x="5151893" y="15621"/>
                  </a:lnTo>
                  <a:lnTo>
                    <a:pt x="5177712" y="51661"/>
                  </a:lnTo>
                  <a:lnTo>
                    <a:pt x="5181599" y="71196"/>
                  </a:lnTo>
                  <a:lnTo>
                    <a:pt x="5181599" y="4681777"/>
                  </a:lnTo>
                  <a:lnTo>
                    <a:pt x="5165977" y="4723268"/>
                  </a:lnTo>
                  <a:lnTo>
                    <a:pt x="5129937" y="4749088"/>
                  </a:lnTo>
                  <a:lnTo>
                    <a:pt x="5115357" y="4752486"/>
                  </a:lnTo>
                  <a:lnTo>
                    <a:pt x="5110402" y="4752974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199" y="4712866"/>
              <a:ext cx="4724400" cy="685800"/>
            </a:xfrm>
            <a:custGeom>
              <a:avLst/>
              <a:gdLst/>
              <a:ahLst/>
              <a:cxnLst/>
              <a:rect l="l" t="t" r="r" b="b"/>
              <a:pathLst>
                <a:path w="4724400" h="685800">
                  <a:moveTo>
                    <a:pt x="4653202" y="685799"/>
                  </a:moveTo>
                  <a:lnTo>
                    <a:pt x="71196" y="685799"/>
                  </a:lnTo>
                  <a:lnTo>
                    <a:pt x="66241" y="685311"/>
                  </a:lnTo>
                  <a:lnTo>
                    <a:pt x="29705" y="670177"/>
                  </a:lnTo>
                  <a:lnTo>
                    <a:pt x="3885" y="634136"/>
                  </a:lnTo>
                  <a:lnTo>
                    <a:pt x="0" y="614602"/>
                  </a:lnTo>
                  <a:lnTo>
                    <a:pt x="0" y="609599"/>
                  </a:lnTo>
                  <a:lnTo>
                    <a:pt x="0" y="71195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653202" y="0"/>
                  </a:lnTo>
                  <a:lnTo>
                    <a:pt x="4694693" y="15620"/>
                  </a:lnTo>
                  <a:lnTo>
                    <a:pt x="4720512" y="51660"/>
                  </a:lnTo>
                  <a:lnTo>
                    <a:pt x="4724399" y="71195"/>
                  </a:lnTo>
                  <a:lnTo>
                    <a:pt x="4724399" y="614602"/>
                  </a:lnTo>
                  <a:lnTo>
                    <a:pt x="4708776" y="656093"/>
                  </a:lnTo>
                  <a:lnTo>
                    <a:pt x="4672737" y="681912"/>
                  </a:lnTo>
                  <a:lnTo>
                    <a:pt x="4658157" y="685311"/>
                  </a:lnTo>
                  <a:lnTo>
                    <a:pt x="4653202" y="685799"/>
                  </a:lnTo>
                  <a:close/>
                </a:path>
              </a:pathLst>
            </a:custGeom>
            <a:solidFill>
              <a:srgbClr val="13532D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1140990"/>
              <a:ext cx="200024" cy="2285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39825" y="1090191"/>
            <a:ext cx="212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40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r>
              <a:rPr sz="18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145" dirty="0">
                <a:solidFill>
                  <a:srgbClr val="FFFFFF"/>
                </a:solidFill>
                <a:latin typeface="Trebuchet MS"/>
                <a:cs typeface="Trebuchet MS"/>
              </a:rPr>
              <a:t>Timeline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8199" y="2019300"/>
            <a:ext cx="4724400" cy="1971675"/>
            <a:chOff x="838199" y="2019300"/>
            <a:chExt cx="4724400" cy="19716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1636291"/>
              <a:ext cx="4724399" cy="9429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38199" y="2884065"/>
              <a:ext cx="2286000" cy="723900"/>
            </a:xfrm>
            <a:custGeom>
              <a:avLst/>
              <a:gdLst/>
              <a:ahLst/>
              <a:cxnLst/>
              <a:rect l="l" t="t" r="r" b="b"/>
              <a:pathLst>
                <a:path w="2286000" h="723900">
                  <a:moveTo>
                    <a:pt x="2214803" y="723899"/>
                  </a:moveTo>
                  <a:lnTo>
                    <a:pt x="71196" y="723899"/>
                  </a:lnTo>
                  <a:lnTo>
                    <a:pt x="66241" y="723411"/>
                  </a:lnTo>
                  <a:lnTo>
                    <a:pt x="29705" y="708277"/>
                  </a:lnTo>
                  <a:lnTo>
                    <a:pt x="3885" y="672237"/>
                  </a:lnTo>
                  <a:lnTo>
                    <a:pt x="0" y="652702"/>
                  </a:lnTo>
                  <a:lnTo>
                    <a:pt x="0" y="647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214803" y="0"/>
                  </a:lnTo>
                  <a:lnTo>
                    <a:pt x="2256294" y="15621"/>
                  </a:lnTo>
                  <a:lnTo>
                    <a:pt x="2282113" y="51661"/>
                  </a:lnTo>
                  <a:lnTo>
                    <a:pt x="2285999" y="71196"/>
                  </a:lnTo>
                  <a:lnTo>
                    <a:pt x="2285999" y="652702"/>
                  </a:lnTo>
                  <a:lnTo>
                    <a:pt x="2270377" y="694193"/>
                  </a:lnTo>
                  <a:lnTo>
                    <a:pt x="2234337" y="720013"/>
                  </a:lnTo>
                  <a:lnTo>
                    <a:pt x="2219758" y="723411"/>
                  </a:lnTo>
                  <a:lnTo>
                    <a:pt x="2214803" y="723899"/>
                  </a:lnTo>
                  <a:close/>
                </a:path>
              </a:pathLst>
            </a:custGeom>
            <a:solidFill>
              <a:srgbClr val="37405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0599" y="3055515"/>
              <a:ext cx="266700" cy="381000"/>
            </a:xfrm>
            <a:custGeom>
              <a:avLst/>
              <a:gdLst/>
              <a:ahLst/>
              <a:cxnLst/>
              <a:rect l="l" t="t" r="r" b="b"/>
              <a:pathLst>
                <a:path w="266700" h="381000">
                  <a:moveTo>
                    <a:pt x="133349" y="380999"/>
                  </a:moveTo>
                  <a:lnTo>
                    <a:pt x="94640" y="375259"/>
                  </a:lnTo>
                  <a:lnTo>
                    <a:pt x="59264" y="358526"/>
                  </a:lnTo>
                  <a:lnTo>
                    <a:pt x="30267" y="332246"/>
                  </a:lnTo>
                  <a:lnTo>
                    <a:pt x="10150" y="298680"/>
                  </a:lnTo>
                  <a:lnTo>
                    <a:pt x="640" y="260720"/>
                  </a:lnTo>
                  <a:lnTo>
                    <a:pt x="0" y="247649"/>
                  </a:lnTo>
                  <a:lnTo>
                    <a:pt x="0" y="133349"/>
                  </a:lnTo>
                  <a:lnTo>
                    <a:pt x="5740" y="94639"/>
                  </a:lnTo>
                  <a:lnTo>
                    <a:pt x="22473" y="59264"/>
                  </a:lnTo>
                  <a:lnTo>
                    <a:pt x="48752" y="30267"/>
                  </a:lnTo>
                  <a:lnTo>
                    <a:pt x="82318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699" y="247649"/>
                  </a:lnTo>
                  <a:lnTo>
                    <a:pt x="260959" y="286359"/>
                  </a:lnTo>
                  <a:lnTo>
                    <a:pt x="244226" y="321734"/>
                  </a:lnTo>
                  <a:lnTo>
                    <a:pt x="217947" y="350731"/>
                  </a:lnTo>
                  <a:lnTo>
                    <a:pt x="184380" y="370848"/>
                  </a:lnTo>
                  <a:lnTo>
                    <a:pt x="146420" y="380359"/>
                  </a:lnTo>
                  <a:lnTo>
                    <a:pt x="133349" y="3809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800" y="3160290"/>
              <a:ext cx="114299" cy="1523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58899" y="3006621"/>
            <a:ext cx="1097280" cy="42545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Start</a:t>
            </a:r>
            <a:r>
              <a:rPr sz="1050" spc="3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9CA2AF"/>
                </a:solidFill>
                <a:latin typeface="Trebuchet MS"/>
                <a:cs typeface="Trebuchet MS"/>
              </a:rPr>
              <a:t>Date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June</a:t>
            </a:r>
            <a:r>
              <a:rPr sz="1200" b="1" spc="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4,</a:t>
            </a:r>
            <a:r>
              <a:rPr sz="1200" b="1" spc="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76599" y="3267074"/>
            <a:ext cx="2286000" cy="723900"/>
            <a:chOff x="3276599" y="3267074"/>
            <a:chExt cx="2286000" cy="723900"/>
          </a:xfrm>
        </p:grpSpPr>
        <p:sp>
          <p:nvSpPr>
            <p:cNvPr id="15" name="object 15"/>
            <p:cNvSpPr/>
            <p:nvPr/>
          </p:nvSpPr>
          <p:spPr>
            <a:xfrm>
              <a:off x="3276599" y="2884065"/>
              <a:ext cx="2286000" cy="723900"/>
            </a:xfrm>
            <a:custGeom>
              <a:avLst/>
              <a:gdLst/>
              <a:ahLst/>
              <a:cxnLst/>
              <a:rect l="l" t="t" r="r" b="b"/>
              <a:pathLst>
                <a:path w="2286000" h="723900">
                  <a:moveTo>
                    <a:pt x="2214802" y="723899"/>
                  </a:moveTo>
                  <a:lnTo>
                    <a:pt x="71196" y="723899"/>
                  </a:lnTo>
                  <a:lnTo>
                    <a:pt x="66241" y="723411"/>
                  </a:lnTo>
                  <a:lnTo>
                    <a:pt x="29705" y="708277"/>
                  </a:lnTo>
                  <a:lnTo>
                    <a:pt x="3885" y="672237"/>
                  </a:lnTo>
                  <a:lnTo>
                    <a:pt x="0" y="652702"/>
                  </a:lnTo>
                  <a:lnTo>
                    <a:pt x="0" y="647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214802" y="0"/>
                  </a:lnTo>
                  <a:lnTo>
                    <a:pt x="2256293" y="15621"/>
                  </a:lnTo>
                  <a:lnTo>
                    <a:pt x="2282112" y="51661"/>
                  </a:lnTo>
                  <a:lnTo>
                    <a:pt x="2285999" y="71196"/>
                  </a:lnTo>
                  <a:lnTo>
                    <a:pt x="2285999" y="652702"/>
                  </a:lnTo>
                  <a:lnTo>
                    <a:pt x="2270376" y="694193"/>
                  </a:lnTo>
                  <a:lnTo>
                    <a:pt x="2234337" y="720013"/>
                  </a:lnTo>
                  <a:lnTo>
                    <a:pt x="2219757" y="723411"/>
                  </a:lnTo>
                  <a:lnTo>
                    <a:pt x="2214802" y="723899"/>
                  </a:lnTo>
                  <a:close/>
                </a:path>
              </a:pathLst>
            </a:custGeom>
            <a:solidFill>
              <a:srgbClr val="37405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28999" y="3055515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42874" y="380999"/>
                  </a:moveTo>
                  <a:lnTo>
                    <a:pt x="101400" y="374849"/>
                  </a:lnTo>
                  <a:lnTo>
                    <a:pt x="63497" y="356920"/>
                  </a:lnTo>
                  <a:lnTo>
                    <a:pt x="32429" y="328764"/>
                  </a:lnTo>
                  <a:lnTo>
                    <a:pt x="10875" y="292800"/>
                  </a:lnTo>
                  <a:lnTo>
                    <a:pt x="686" y="252129"/>
                  </a:lnTo>
                  <a:lnTo>
                    <a:pt x="0" y="238124"/>
                  </a:lnTo>
                  <a:lnTo>
                    <a:pt x="0" y="142874"/>
                  </a:lnTo>
                  <a:lnTo>
                    <a:pt x="6150" y="101399"/>
                  </a:lnTo>
                  <a:lnTo>
                    <a:pt x="24078" y="63497"/>
                  </a:lnTo>
                  <a:lnTo>
                    <a:pt x="52235" y="32429"/>
                  </a:lnTo>
                  <a:lnTo>
                    <a:pt x="88199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49893" y="171"/>
                  </a:lnTo>
                  <a:lnTo>
                    <a:pt x="190999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749" y="238124"/>
                  </a:lnTo>
                  <a:lnTo>
                    <a:pt x="279598" y="279599"/>
                  </a:lnTo>
                  <a:lnTo>
                    <a:pt x="261670" y="317501"/>
                  </a:lnTo>
                  <a:lnTo>
                    <a:pt x="233514" y="348569"/>
                  </a:lnTo>
                  <a:lnTo>
                    <a:pt x="197550" y="370123"/>
                  </a:lnTo>
                  <a:lnTo>
                    <a:pt x="156879" y="380313"/>
                  </a:lnTo>
                  <a:lnTo>
                    <a:pt x="142874" y="380999"/>
                  </a:lnTo>
                  <a:close/>
                </a:path>
              </a:pathLst>
            </a:custGeom>
            <a:solidFill>
              <a:srgbClr val="7E1C1C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199" y="3160290"/>
              <a:ext cx="133349" cy="1523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816350" y="3006621"/>
            <a:ext cx="1327785" cy="42545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050" spc="100" dirty="0">
                <a:solidFill>
                  <a:srgbClr val="9CA2AF"/>
                </a:solidFill>
                <a:latin typeface="Trebuchet MS"/>
                <a:cs typeface="Trebuchet MS"/>
              </a:rPr>
              <a:t>Due</a:t>
            </a:r>
            <a:r>
              <a:rPr sz="1050" spc="2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9CA2AF"/>
                </a:solidFill>
                <a:latin typeface="Trebuchet MS"/>
                <a:cs typeface="Trebuchet MS"/>
              </a:rPr>
              <a:t>Date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b="1" spc="160" dirty="0">
                <a:solidFill>
                  <a:srgbClr val="FFFFFF"/>
                </a:solidFill>
                <a:latin typeface="Trebuchet MS"/>
                <a:cs typeface="Trebuchet MS"/>
              </a:rPr>
              <a:t>August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3, </a:t>
            </a: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8199" y="4143374"/>
            <a:ext cx="2286000" cy="723900"/>
            <a:chOff x="838199" y="4143374"/>
            <a:chExt cx="2286000" cy="723900"/>
          </a:xfrm>
        </p:grpSpPr>
        <p:sp>
          <p:nvSpPr>
            <p:cNvPr id="20" name="object 20"/>
            <p:cNvSpPr/>
            <p:nvPr/>
          </p:nvSpPr>
          <p:spPr>
            <a:xfrm>
              <a:off x="838199" y="3760365"/>
              <a:ext cx="2286000" cy="723900"/>
            </a:xfrm>
            <a:custGeom>
              <a:avLst/>
              <a:gdLst/>
              <a:ahLst/>
              <a:cxnLst/>
              <a:rect l="l" t="t" r="r" b="b"/>
              <a:pathLst>
                <a:path w="2286000" h="723900">
                  <a:moveTo>
                    <a:pt x="2214803" y="723899"/>
                  </a:moveTo>
                  <a:lnTo>
                    <a:pt x="71196" y="723899"/>
                  </a:lnTo>
                  <a:lnTo>
                    <a:pt x="66241" y="723411"/>
                  </a:lnTo>
                  <a:lnTo>
                    <a:pt x="29705" y="708277"/>
                  </a:lnTo>
                  <a:lnTo>
                    <a:pt x="3885" y="672237"/>
                  </a:lnTo>
                  <a:lnTo>
                    <a:pt x="0" y="652702"/>
                  </a:lnTo>
                  <a:lnTo>
                    <a:pt x="0" y="6476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214803" y="0"/>
                  </a:lnTo>
                  <a:lnTo>
                    <a:pt x="2256294" y="15621"/>
                  </a:lnTo>
                  <a:lnTo>
                    <a:pt x="2282113" y="51661"/>
                  </a:lnTo>
                  <a:lnTo>
                    <a:pt x="2285999" y="71196"/>
                  </a:lnTo>
                  <a:lnTo>
                    <a:pt x="2285999" y="652702"/>
                  </a:lnTo>
                  <a:lnTo>
                    <a:pt x="2270377" y="694193"/>
                  </a:lnTo>
                  <a:lnTo>
                    <a:pt x="2234337" y="720013"/>
                  </a:lnTo>
                  <a:lnTo>
                    <a:pt x="2219758" y="723411"/>
                  </a:lnTo>
                  <a:lnTo>
                    <a:pt x="2214803" y="723899"/>
                  </a:lnTo>
                  <a:close/>
                </a:path>
              </a:pathLst>
            </a:custGeom>
            <a:solidFill>
              <a:srgbClr val="37405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90599" y="3931815"/>
              <a:ext cx="266700" cy="381000"/>
            </a:xfrm>
            <a:custGeom>
              <a:avLst/>
              <a:gdLst/>
              <a:ahLst/>
              <a:cxnLst/>
              <a:rect l="l" t="t" r="r" b="b"/>
              <a:pathLst>
                <a:path w="266700" h="381000">
                  <a:moveTo>
                    <a:pt x="133349" y="380999"/>
                  </a:moveTo>
                  <a:lnTo>
                    <a:pt x="94640" y="375258"/>
                  </a:lnTo>
                  <a:lnTo>
                    <a:pt x="59264" y="358525"/>
                  </a:lnTo>
                  <a:lnTo>
                    <a:pt x="30267" y="332246"/>
                  </a:lnTo>
                  <a:lnTo>
                    <a:pt x="10150" y="298680"/>
                  </a:lnTo>
                  <a:lnTo>
                    <a:pt x="640" y="260720"/>
                  </a:lnTo>
                  <a:lnTo>
                    <a:pt x="0" y="247649"/>
                  </a:lnTo>
                  <a:lnTo>
                    <a:pt x="0" y="133349"/>
                  </a:lnTo>
                  <a:lnTo>
                    <a:pt x="5740" y="94639"/>
                  </a:lnTo>
                  <a:lnTo>
                    <a:pt x="22473" y="59263"/>
                  </a:lnTo>
                  <a:lnTo>
                    <a:pt x="48752" y="30267"/>
                  </a:lnTo>
                  <a:lnTo>
                    <a:pt x="82318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3" y="26245"/>
                  </a:lnTo>
                  <a:lnTo>
                    <a:pt x="240453" y="53905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699" y="247649"/>
                  </a:lnTo>
                  <a:lnTo>
                    <a:pt x="260959" y="286359"/>
                  </a:lnTo>
                  <a:lnTo>
                    <a:pt x="244226" y="321734"/>
                  </a:lnTo>
                  <a:lnTo>
                    <a:pt x="217947" y="350731"/>
                  </a:lnTo>
                  <a:lnTo>
                    <a:pt x="184380" y="370848"/>
                  </a:lnTo>
                  <a:lnTo>
                    <a:pt x="146420" y="380359"/>
                  </a:lnTo>
                  <a:lnTo>
                    <a:pt x="133349" y="380999"/>
                  </a:lnTo>
                  <a:close/>
                </a:path>
              </a:pathLst>
            </a:custGeom>
            <a:solidFill>
              <a:srgbClr val="581B8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800" y="4036590"/>
              <a:ext cx="114299" cy="15239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358899" y="3882920"/>
            <a:ext cx="688340" cy="4254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Duration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b="1" spc="130" dirty="0">
                <a:solidFill>
                  <a:srgbClr val="FFFFFF"/>
                </a:solidFill>
                <a:latin typeface="Trebuchet MS"/>
                <a:cs typeface="Trebuchet MS"/>
              </a:rPr>
              <a:t>61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35" dirty="0">
                <a:solidFill>
                  <a:srgbClr val="FFFFFF"/>
                </a:solidFill>
                <a:latin typeface="Trebuchet MS"/>
                <a:cs typeface="Trebuchet MS"/>
              </a:rPr>
              <a:t>days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276599" y="4143374"/>
            <a:ext cx="2286000" cy="723900"/>
            <a:chOff x="3276599" y="4143374"/>
            <a:chExt cx="2286000" cy="723900"/>
          </a:xfrm>
        </p:grpSpPr>
        <p:sp>
          <p:nvSpPr>
            <p:cNvPr id="25" name="object 25"/>
            <p:cNvSpPr/>
            <p:nvPr/>
          </p:nvSpPr>
          <p:spPr>
            <a:xfrm>
              <a:off x="3276599" y="3760365"/>
              <a:ext cx="2286000" cy="723900"/>
            </a:xfrm>
            <a:custGeom>
              <a:avLst/>
              <a:gdLst/>
              <a:ahLst/>
              <a:cxnLst/>
              <a:rect l="l" t="t" r="r" b="b"/>
              <a:pathLst>
                <a:path w="2286000" h="723900">
                  <a:moveTo>
                    <a:pt x="2214802" y="723899"/>
                  </a:moveTo>
                  <a:lnTo>
                    <a:pt x="71196" y="723899"/>
                  </a:lnTo>
                  <a:lnTo>
                    <a:pt x="66241" y="723411"/>
                  </a:lnTo>
                  <a:lnTo>
                    <a:pt x="29705" y="708277"/>
                  </a:lnTo>
                  <a:lnTo>
                    <a:pt x="3885" y="672237"/>
                  </a:lnTo>
                  <a:lnTo>
                    <a:pt x="0" y="652702"/>
                  </a:lnTo>
                  <a:lnTo>
                    <a:pt x="0" y="6476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214802" y="0"/>
                  </a:lnTo>
                  <a:lnTo>
                    <a:pt x="2256293" y="15621"/>
                  </a:lnTo>
                  <a:lnTo>
                    <a:pt x="2282112" y="51661"/>
                  </a:lnTo>
                  <a:lnTo>
                    <a:pt x="2285999" y="71196"/>
                  </a:lnTo>
                  <a:lnTo>
                    <a:pt x="2285999" y="652702"/>
                  </a:lnTo>
                  <a:lnTo>
                    <a:pt x="2270376" y="694193"/>
                  </a:lnTo>
                  <a:lnTo>
                    <a:pt x="2234337" y="720013"/>
                  </a:lnTo>
                  <a:lnTo>
                    <a:pt x="2219757" y="723411"/>
                  </a:lnTo>
                  <a:lnTo>
                    <a:pt x="2214802" y="723899"/>
                  </a:lnTo>
                  <a:close/>
                </a:path>
              </a:pathLst>
            </a:custGeom>
            <a:solidFill>
              <a:srgbClr val="37405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28999" y="3931815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399" y="380999"/>
                  </a:moveTo>
                  <a:lnTo>
                    <a:pt x="108160" y="374438"/>
                  </a:lnTo>
                  <a:lnTo>
                    <a:pt x="67730" y="355315"/>
                  </a:lnTo>
                  <a:lnTo>
                    <a:pt x="34591" y="325282"/>
                  </a:lnTo>
                  <a:lnTo>
                    <a:pt x="11600" y="286920"/>
                  </a:lnTo>
                  <a:lnTo>
                    <a:pt x="732" y="243537"/>
                  </a:lnTo>
                  <a:lnTo>
                    <a:pt x="0" y="228599"/>
                  </a:lnTo>
                  <a:lnTo>
                    <a:pt x="0" y="152399"/>
                  </a:lnTo>
                  <a:lnTo>
                    <a:pt x="6560" y="108159"/>
                  </a:lnTo>
                  <a:lnTo>
                    <a:pt x="25684" y="67730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3" y="61606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799" y="228599"/>
                  </a:lnTo>
                  <a:lnTo>
                    <a:pt x="298239" y="272839"/>
                  </a:lnTo>
                  <a:lnTo>
                    <a:pt x="279115" y="313268"/>
                  </a:lnTo>
                  <a:lnTo>
                    <a:pt x="249082" y="346407"/>
                  </a:lnTo>
                  <a:lnTo>
                    <a:pt x="210720" y="369398"/>
                  </a:lnTo>
                  <a:lnTo>
                    <a:pt x="167337" y="380267"/>
                  </a:lnTo>
                  <a:lnTo>
                    <a:pt x="152399" y="380999"/>
                  </a:lnTo>
                  <a:close/>
                </a:path>
              </a:pathLst>
            </a:custGeom>
            <a:solidFill>
              <a:srgbClr val="703F1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199" y="4036590"/>
              <a:ext cx="152399" cy="15239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835400" y="3882920"/>
            <a:ext cx="500380" cy="4254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050" spc="-10" dirty="0">
                <a:solidFill>
                  <a:srgbClr val="9CA2AF"/>
                </a:solidFill>
                <a:latin typeface="Trebuchet MS"/>
                <a:cs typeface="Trebuchet MS"/>
              </a:rPr>
              <a:t>Priority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b="1" spc="135" dirty="0">
                <a:solidFill>
                  <a:srgbClr val="FDDF46"/>
                </a:solidFill>
                <a:latin typeface="Trebuchet MS"/>
                <a:cs typeface="Trebuchet MS"/>
              </a:rPr>
              <a:t>High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90599" y="1257299"/>
            <a:ext cx="10591800" cy="4752975"/>
            <a:chOff x="990599" y="1257299"/>
            <a:chExt cx="10591800" cy="4752975"/>
          </a:xfrm>
        </p:grpSpPr>
        <p:sp>
          <p:nvSpPr>
            <p:cNvPr id="30" name="object 30"/>
            <p:cNvSpPr/>
            <p:nvPr/>
          </p:nvSpPr>
          <p:spPr>
            <a:xfrm>
              <a:off x="990599" y="4865265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399" y="380999"/>
                  </a:moveTo>
                  <a:lnTo>
                    <a:pt x="108159" y="374438"/>
                  </a:lnTo>
                  <a:lnTo>
                    <a:pt x="67730" y="355314"/>
                  </a:lnTo>
                  <a:lnTo>
                    <a:pt x="34591" y="325282"/>
                  </a:lnTo>
                  <a:lnTo>
                    <a:pt x="11600" y="286920"/>
                  </a:lnTo>
                  <a:lnTo>
                    <a:pt x="731" y="243538"/>
                  </a:lnTo>
                  <a:lnTo>
                    <a:pt x="0" y="228599"/>
                  </a:lnTo>
                  <a:lnTo>
                    <a:pt x="0" y="152399"/>
                  </a:lnTo>
                  <a:lnTo>
                    <a:pt x="6560" y="108159"/>
                  </a:lnTo>
                  <a:lnTo>
                    <a:pt x="25683" y="67730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3" y="61607"/>
                  </a:lnTo>
                  <a:lnTo>
                    <a:pt x="295895" y="101065"/>
                  </a:lnTo>
                  <a:lnTo>
                    <a:pt x="304616" y="144913"/>
                  </a:lnTo>
                  <a:lnTo>
                    <a:pt x="304799" y="152399"/>
                  </a:lnTo>
                  <a:lnTo>
                    <a:pt x="304799" y="228599"/>
                  </a:lnTo>
                  <a:lnTo>
                    <a:pt x="298239" y="272838"/>
                  </a:lnTo>
                  <a:lnTo>
                    <a:pt x="279115" y="313268"/>
                  </a:lnTo>
                  <a:lnTo>
                    <a:pt x="249082" y="346407"/>
                  </a:lnTo>
                  <a:lnTo>
                    <a:pt x="210720" y="369398"/>
                  </a:lnTo>
                  <a:lnTo>
                    <a:pt x="167337" y="380267"/>
                  </a:lnTo>
                  <a:lnTo>
                    <a:pt x="152399" y="380999"/>
                  </a:lnTo>
                  <a:close/>
                </a:path>
              </a:pathLst>
            </a:custGeom>
            <a:solidFill>
              <a:srgbClr val="13532D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6799" y="4970040"/>
              <a:ext cx="152399" cy="1523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400798" y="874290"/>
              <a:ext cx="5181600" cy="4752975"/>
            </a:xfrm>
            <a:custGeom>
              <a:avLst/>
              <a:gdLst/>
              <a:ahLst/>
              <a:cxnLst/>
              <a:rect l="l" t="t" r="r" b="b"/>
              <a:pathLst>
                <a:path w="5181600" h="4752975">
                  <a:moveTo>
                    <a:pt x="5110403" y="4752974"/>
                  </a:moveTo>
                  <a:lnTo>
                    <a:pt x="71197" y="4752974"/>
                  </a:lnTo>
                  <a:lnTo>
                    <a:pt x="66241" y="4752486"/>
                  </a:lnTo>
                  <a:lnTo>
                    <a:pt x="29705" y="4737351"/>
                  </a:lnTo>
                  <a:lnTo>
                    <a:pt x="3885" y="4701312"/>
                  </a:lnTo>
                  <a:lnTo>
                    <a:pt x="0" y="4681777"/>
                  </a:lnTo>
                  <a:lnTo>
                    <a:pt x="0" y="467677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5110403" y="0"/>
                  </a:lnTo>
                  <a:lnTo>
                    <a:pt x="5151892" y="15621"/>
                  </a:lnTo>
                  <a:lnTo>
                    <a:pt x="5177712" y="51661"/>
                  </a:lnTo>
                  <a:lnTo>
                    <a:pt x="5181599" y="71196"/>
                  </a:lnTo>
                  <a:lnTo>
                    <a:pt x="5181599" y="4681777"/>
                  </a:lnTo>
                  <a:lnTo>
                    <a:pt x="5165976" y="4723268"/>
                  </a:lnTo>
                  <a:lnTo>
                    <a:pt x="5129937" y="4749088"/>
                  </a:lnTo>
                  <a:lnTo>
                    <a:pt x="5115357" y="4752486"/>
                  </a:lnTo>
                  <a:lnTo>
                    <a:pt x="5110403" y="4752974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29398" y="4379490"/>
              <a:ext cx="4724400" cy="304800"/>
            </a:xfrm>
            <a:custGeom>
              <a:avLst/>
              <a:gdLst/>
              <a:ahLst/>
              <a:cxnLst/>
              <a:rect l="l" t="t" r="r" b="b"/>
              <a:pathLst>
                <a:path w="4724400" h="304800">
                  <a:moveTo>
                    <a:pt x="4653203" y="304799"/>
                  </a:moveTo>
                  <a:lnTo>
                    <a:pt x="71196" y="304799"/>
                  </a:lnTo>
                  <a:lnTo>
                    <a:pt x="66241" y="304310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2"/>
                  </a:lnTo>
                  <a:lnTo>
                    <a:pt x="0" y="228599"/>
                  </a:lnTo>
                  <a:lnTo>
                    <a:pt x="0" y="71195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4653203" y="0"/>
                  </a:lnTo>
                  <a:lnTo>
                    <a:pt x="4694693" y="15620"/>
                  </a:lnTo>
                  <a:lnTo>
                    <a:pt x="4720513" y="51661"/>
                  </a:lnTo>
                  <a:lnTo>
                    <a:pt x="4724399" y="71195"/>
                  </a:lnTo>
                  <a:lnTo>
                    <a:pt x="4724399" y="233602"/>
                  </a:lnTo>
                  <a:lnTo>
                    <a:pt x="4708777" y="275093"/>
                  </a:lnTo>
                  <a:lnTo>
                    <a:pt x="4672738" y="300913"/>
                  </a:lnTo>
                  <a:lnTo>
                    <a:pt x="4658158" y="304310"/>
                  </a:lnTo>
                  <a:lnTo>
                    <a:pt x="4653203" y="304799"/>
                  </a:lnTo>
                  <a:close/>
                </a:path>
              </a:pathLst>
            </a:custGeom>
            <a:solidFill>
              <a:srgbClr val="37405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9399" y="1140990"/>
              <a:ext cx="285749" cy="22859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396999" y="4957341"/>
            <a:ext cx="30727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solidFill>
                  <a:srgbClr val="D0D5DA"/>
                </a:solidFill>
                <a:latin typeface="Trebuchet MS"/>
                <a:cs typeface="Trebuchet MS"/>
              </a:rPr>
              <a:t>Current</a:t>
            </a:r>
            <a:r>
              <a:rPr sz="1050" b="1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b="1" spc="120" dirty="0">
                <a:solidFill>
                  <a:srgbClr val="D0D5DA"/>
                </a:solidFill>
                <a:latin typeface="Trebuchet MS"/>
                <a:cs typeface="Trebuchet MS"/>
              </a:rPr>
              <a:t>Status:</a:t>
            </a:r>
            <a:r>
              <a:rPr sz="1050" b="1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In</a:t>
            </a:r>
            <a:r>
              <a:rPr sz="1050" spc="2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D0D5DA"/>
                </a:solidFill>
                <a:latin typeface="Trebuchet MS"/>
                <a:cs typeface="Trebuchet MS"/>
              </a:rPr>
              <a:t>Progress</a:t>
            </a:r>
            <a:r>
              <a:rPr sz="1050" spc="2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150" dirty="0">
                <a:solidFill>
                  <a:srgbClr val="D0D5DA"/>
                </a:solidFill>
                <a:latin typeface="Trebuchet MS"/>
                <a:cs typeface="Trebuchet MS"/>
              </a:rPr>
              <a:t>(66%</a:t>
            </a:r>
            <a:r>
              <a:rPr sz="105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40" dirty="0">
                <a:solidFill>
                  <a:srgbClr val="D0D5DA"/>
                </a:solidFill>
                <a:latin typeface="Trebuchet MS"/>
                <a:cs typeface="Trebuchet MS"/>
              </a:rPr>
              <a:t>complete)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16750" y="1090191"/>
            <a:ext cx="2383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0" dirty="0">
                <a:solidFill>
                  <a:srgbClr val="FFFFFF"/>
                </a:solidFill>
                <a:latin typeface="Trebuchet MS"/>
                <a:cs typeface="Trebuchet MS"/>
              </a:rPr>
              <a:t>Team</a:t>
            </a:r>
            <a:r>
              <a:rPr sz="18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185" dirty="0">
                <a:solidFill>
                  <a:srgbClr val="FFFFFF"/>
                </a:solidFill>
                <a:latin typeface="Trebuchet MS"/>
                <a:cs typeface="Trebuchet MS"/>
              </a:rPr>
              <a:t>Composition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629399" y="1943188"/>
            <a:ext cx="2400300" cy="609600"/>
            <a:chOff x="6629399" y="1943188"/>
            <a:chExt cx="2400300" cy="609600"/>
          </a:xfrm>
        </p:grpSpPr>
        <p:sp>
          <p:nvSpPr>
            <p:cNvPr id="38" name="object 38"/>
            <p:cNvSpPr/>
            <p:nvPr/>
          </p:nvSpPr>
          <p:spPr>
            <a:xfrm>
              <a:off x="6629399" y="1560179"/>
              <a:ext cx="590550" cy="609600"/>
            </a:xfrm>
            <a:custGeom>
              <a:avLst/>
              <a:gdLst/>
              <a:ahLst/>
              <a:cxnLst/>
              <a:rect l="l" t="t" r="r" b="b"/>
              <a:pathLst>
                <a:path w="590550" h="609600">
                  <a:moveTo>
                    <a:pt x="302523" y="609422"/>
                  </a:moveTo>
                  <a:lnTo>
                    <a:pt x="288026" y="609422"/>
                  </a:lnTo>
                  <a:lnTo>
                    <a:pt x="273555" y="608711"/>
                  </a:lnTo>
                  <a:lnTo>
                    <a:pt x="230577" y="602336"/>
                  </a:lnTo>
                  <a:lnTo>
                    <a:pt x="189007" y="589726"/>
                  </a:lnTo>
                  <a:lnTo>
                    <a:pt x="149731" y="571149"/>
                  </a:lnTo>
                  <a:lnTo>
                    <a:pt x="113613" y="547016"/>
                  </a:lnTo>
                  <a:lnTo>
                    <a:pt x="81420" y="517838"/>
                  </a:lnTo>
                  <a:lnTo>
                    <a:pt x="53862" y="484259"/>
                  </a:lnTo>
                  <a:lnTo>
                    <a:pt x="31526" y="446992"/>
                  </a:lnTo>
                  <a:lnTo>
                    <a:pt x="14903" y="406860"/>
                  </a:lnTo>
                  <a:lnTo>
                    <a:pt x="4346" y="364714"/>
                  </a:lnTo>
                  <a:lnTo>
                    <a:pt x="88" y="321484"/>
                  </a:lnTo>
                  <a:lnTo>
                    <a:pt x="0" y="314236"/>
                  </a:lnTo>
                  <a:lnTo>
                    <a:pt x="88" y="287937"/>
                  </a:lnTo>
                  <a:lnTo>
                    <a:pt x="4346" y="244707"/>
                  </a:lnTo>
                  <a:lnTo>
                    <a:pt x="14903" y="202561"/>
                  </a:lnTo>
                  <a:lnTo>
                    <a:pt x="31526" y="162428"/>
                  </a:lnTo>
                  <a:lnTo>
                    <a:pt x="53862" y="125162"/>
                  </a:lnTo>
                  <a:lnTo>
                    <a:pt x="81420" y="91583"/>
                  </a:lnTo>
                  <a:lnTo>
                    <a:pt x="113613" y="62405"/>
                  </a:lnTo>
                  <a:lnTo>
                    <a:pt x="149731" y="38272"/>
                  </a:lnTo>
                  <a:lnTo>
                    <a:pt x="189007" y="19695"/>
                  </a:lnTo>
                  <a:lnTo>
                    <a:pt x="230577" y="7085"/>
                  </a:lnTo>
                  <a:lnTo>
                    <a:pt x="273555" y="710"/>
                  </a:lnTo>
                  <a:lnTo>
                    <a:pt x="288026" y="0"/>
                  </a:lnTo>
                  <a:lnTo>
                    <a:pt x="302523" y="0"/>
                  </a:lnTo>
                  <a:lnTo>
                    <a:pt x="345752" y="4257"/>
                  </a:lnTo>
                  <a:lnTo>
                    <a:pt x="387898" y="14814"/>
                  </a:lnTo>
                  <a:lnTo>
                    <a:pt x="428031" y="31438"/>
                  </a:lnTo>
                  <a:lnTo>
                    <a:pt x="465298" y="53774"/>
                  </a:lnTo>
                  <a:lnTo>
                    <a:pt x="498877" y="81332"/>
                  </a:lnTo>
                  <a:lnTo>
                    <a:pt x="528055" y="113525"/>
                  </a:lnTo>
                  <a:lnTo>
                    <a:pt x="552188" y="149643"/>
                  </a:lnTo>
                  <a:lnTo>
                    <a:pt x="570764" y="188919"/>
                  </a:lnTo>
                  <a:lnTo>
                    <a:pt x="583374" y="230488"/>
                  </a:lnTo>
                  <a:lnTo>
                    <a:pt x="589750" y="273466"/>
                  </a:lnTo>
                  <a:lnTo>
                    <a:pt x="590461" y="287937"/>
                  </a:lnTo>
                  <a:lnTo>
                    <a:pt x="590461" y="321484"/>
                  </a:lnTo>
                  <a:lnTo>
                    <a:pt x="586202" y="364714"/>
                  </a:lnTo>
                  <a:lnTo>
                    <a:pt x="575645" y="406860"/>
                  </a:lnTo>
                  <a:lnTo>
                    <a:pt x="559022" y="446992"/>
                  </a:lnTo>
                  <a:lnTo>
                    <a:pt x="536685" y="484259"/>
                  </a:lnTo>
                  <a:lnTo>
                    <a:pt x="509128" y="517838"/>
                  </a:lnTo>
                  <a:lnTo>
                    <a:pt x="476935" y="547016"/>
                  </a:lnTo>
                  <a:lnTo>
                    <a:pt x="440816" y="571149"/>
                  </a:lnTo>
                  <a:lnTo>
                    <a:pt x="401540" y="589726"/>
                  </a:lnTo>
                  <a:lnTo>
                    <a:pt x="359971" y="602336"/>
                  </a:lnTo>
                  <a:lnTo>
                    <a:pt x="316994" y="608711"/>
                  </a:lnTo>
                  <a:lnTo>
                    <a:pt x="302523" y="609422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38949" y="1731540"/>
              <a:ext cx="171449" cy="26669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505824" y="1579140"/>
              <a:ext cx="523875" cy="228600"/>
            </a:xfrm>
            <a:custGeom>
              <a:avLst/>
              <a:gdLst/>
              <a:ahLst/>
              <a:cxnLst/>
              <a:rect l="l" t="t" r="r" b="b"/>
              <a:pathLst>
                <a:path w="523875" h="228600">
                  <a:moveTo>
                    <a:pt x="417079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7" y="213506"/>
                  </a:lnTo>
                  <a:lnTo>
                    <a:pt x="23431" y="184041"/>
                  </a:lnTo>
                  <a:lnTo>
                    <a:pt x="3659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417079" y="0"/>
                  </a:lnTo>
                  <a:lnTo>
                    <a:pt x="460248" y="11572"/>
                  </a:lnTo>
                  <a:lnTo>
                    <a:pt x="495702" y="38784"/>
                  </a:lnTo>
                  <a:lnTo>
                    <a:pt x="518045" y="77492"/>
                  </a:lnTo>
                  <a:lnTo>
                    <a:pt x="523874" y="106794"/>
                  </a:lnTo>
                  <a:lnTo>
                    <a:pt x="523874" y="121804"/>
                  </a:lnTo>
                  <a:lnTo>
                    <a:pt x="512300" y="164974"/>
                  </a:lnTo>
                  <a:lnTo>
                    <a:pt x="485089" y="200428"/>
                  </a:lnTo>
                  <a:lnTo>
                    <a:pt x="446380" y="222771"/>
                  </a:lnTo>
                  <a:lnTo>
                    <a:pt x="424512" y="227867"/>
                  </a:lnTo>
                  <a:lnTo>
                    <a:pt x="417079" y="2285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356524" y="1566441"/>
            <a:ext cx="104838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170" dirty="0">
                <a:solidFill>
                  <a:srgbClr val="FFFFFF"/>
                </a:solidFill>
                <a:latin typeface="Trebuchet MS"/>
                <a:cs typeface="Trebuchet MS"/>
              </a:rPr>
              <a:t>Dasol</a:t>
            </a:r>
            <a:r>
              <a:rPr sz="135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50" b="1" spc="140" dirty="0">
                <a:solidFill>
                  <a:srgbClr val="FFFFFF"/>
                </a:solidFill>
                <a:latin typeface="Trebuchet MS"/>
                <a:cs typeface="Trebuchet MS"/>
              </a:rPr>
              <a:t>Shin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69771" y="1604541"/>
            <a:ext cx="398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0" dirty="0">
                <a:solidFill>
                  <a:srgbClr val="FFFFFF"/>
                </a:solidFill>
                <a:latin typeface="Trebuchet MS"/>
                <a:cs typeface="Trebuchet MS"/>
              </a:rPr>
              <a:t>Owner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372349" y="3124199"/>
            <a:ext cx="1162050" cy="228600"/>
            <a:chOff x="7372349" y="3124199"/>
            <a:chExt cx="1162050" cy="228600"/>
          </a:xfrm>
        </p:grpSpPr>
        <p:sp>
          <p:nvSpPr>
            <p:cNvPr id="44" name="object 44"/>
            <p:cNvSpPr/>
            <p:nvPr/>
          </p:nvSpPr>
          <p:spPr>
            <a:xfrm>
              <a:off x="7372349" y="2741190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350405" y="228599"/>
                  </a:moveTo>
                  <a:lnTo>
                    <a:pt x="106795" y="228599"/>
                  </a:lnTo>
                  <a:lnTo>
                    <a:pt x="99362" y="227867"/>
                  </a:lnTo>
                  <a:lnTo>
                    <a:pt x="57038" y="213506"/>
                  </a:lnTo>
                  <a:lnTo>
                    <a:pt x="23431" y="184041"/>
                  </a:lnTo>
                  <a:lnTo>
                    <a:pt x="3660" y="143959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350405" y="0"/>
                  </a:lnTo>
                  <a:lnTo>
                    <a:pt x="393573" y="11572"/>
                  </a:lnTo>
                  <a:lnTo>
                    <a:pt x="429028" y="38784"/>
                  </a:lnTo>
                  <a:lnTo>
                    <a:pt x="451371" y="77492"/>
                  </a:lnTo>
                  <a:lnTo>
                    <a:pt x="457199" y="106794"/>
                  </a:lnTo>
                  <a:lnTo>
                    <a:pt x="457199" y="121805"/>
                  </a:lnTo>
                  <a:lnTo>
                    <a:pt x="445626" y="164973"/>
                  </a:lnTo>
                  <a:lnTo>
                    <a:pt x="418414" y="200429"/>
                  </a:lnTo>
                  <a:lnTo>
                    <a:pt x="379705" y="222770"/>
                  </a:lnTo>
                  <a:lnTo>
                    <a:pt x="357838" y="227867"/>
                  </a:lnTo>
                  <a:lnTo>
                    <a:pt x="350405" y="22859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48550" y="2798340"/>
              <a:ext cx="104774" cy="11429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905749" y="2741190"/>
              <a:ext cx="628650" cy="228600"/>
            </a:xfrm>
            <a:custGeom>
              <a:avLst/>
              <a:gdLst/>
              <a:ahLst/>
              <a:cxnLst/>
              <a:rect l="l" t="t" r="r" b="b"/>
              <a:pathLst>
                <a:path w="628650" h="228600">
                  <a:moveTo>
                    <a:pt x="521854" y="228599"/>
                  </a:moveTo>
                  <a:lnTo>
                    <a:pt x="106795" y="228599"/>
                  </a:lnTo>
                  <a:lnTo>
                    <a:pt x="99361" y="227867"/>
                  </a:lnTo>
                  <a:lnTo>
                    <a:pt x="57037" y="213506"/>
                  </a:lnTo>
                  <a:lnTo>
                    <a:pt x="23431" y="184041"/>
                  </a:lnTo>
                  <a:lnTo>
                    <a:pt x="3659" y="143959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3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521854" y="0"/>
                  </a:lnTo>
                  <a:lnTo>
                    <a:pt x="565023" y="11572"/>
                  </a:lnTo>
                  <a:lnTo>
                    <a:pt x="600477" y="38784"/>
                  </a:lnTo>
                  <a:lnTo>
                    <a:pt x="622820" y="77492"/>
                  </a:lnTo>
                  <a:lnTo>
                    <a:pt x="628649" y="106794"/>
                  </a:lnTo>
                  <a:lnTo>
                    <a:pt x="628649" y="121805"/>
                  </a:lnTo>
                  <a:lnTo>
                    <a:pt x="617075" y="164973"/>
                  </a:lnTo>
                  <a:lnTo>
                    <a:pt x="589863" y="200429"/>
                  </a:lnTo>
                  <a:lnTo>
                    <a:pt x="551155" y="222770"/>
                  </a:lnTo>
                  <a:lnTo>
                    <a:pt x="529287" y="227867"/>
                  </a:lnTo>
                  <a:lnTo>
                    <a:pt x="521854" y="22859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81950" y="2798340"/>
              <a:ext cx="142874" cy="114299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7356524" y="1831236"/>
            <a:ext cx="3285490" cy="1097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1050" spc="55" dirty="0">
                <a:solidFill>
                  <a:srgbClr val="9CA2AF"/>
                </a:solidFill>
                <a:latin typeface="Trebuchet MS"/>
                <a:cs typeface="Trebuchet MS"/>
              </a:rPr>
              <a:t>Primary</a:t>
            </a:r>
            <a:r>
              <a:rPr sz="1050" spc="3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9CA2AF"/>
                </a:solidFill>
                <a:latin typeface="Trebuchet MS"/>
                <a:cs typeface="Trebuchet MS"/>
              </a:rPr>
              <a:t>responsible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CA2AF"/>
                </a:solidFill>
                <a:latin typeface="Trebuchet MS"/>
                <a:cs typeface="Trebuchet MS"/>
              </a:rPr>
              <a:t>for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9CA2AF"/>
                </a:solidFill>
                <a:latin typeface="Trebuchet MS"/>
                <a:cs typeface="Trebuchet MS"/>
              </a:rPr>
              <a:t>database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9CA2AF"/>
                </a:solidFill>
                <a:latin typeface="Trebuchet MS"/>
                <a:cs typeface="Trebuchet MS"/>
              </a:rPr>
              <a:t>setup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and</a:t>
            </a:r>
            <a:r>
              <a:rPr sz="1050" spc="3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data </a:t>
            </a:r>
            <a:r>
              <a:rPr sz="1050" spc="60" dirty="0">
                <a:solidFill>
                  <a:srgbClr val="9CA2AF"/>
                </a:solidFill>
                <a:latin typeface="Trebuchet MS"/>
                <a:cs typeface="Trebuchet MS"/>
              </a:rPr>
              <a:t>processing</a:t>
            </a:r>
            <a:endParaRPr sz="1050">
              <a:latin typeface="Trebuchet MS"/>
              <a:cs typeface="Trebuchet MS"/>
            </a:endParaRPr>
          </a:p>
          <a:p>
            <a:pPr marL="12700" marR="67310">
              <a:lnSpc>
                <a:spcPct val="119000"/>
              </a:lnSpc>
              <a:spcBef>
                <a:spcPts val="300"/>
              </a:spcBef>
            </a:pPr>
            <a:r>
              <a:rPr sz="1050" spc="60" dirty="0">
                <a:solidFill>
                  <a:srgbClr val="9CA2AF"/>
                </a:solidFill>
                <a:latin typeface="Trebuchet MS"/>
                <a:cs typeface="Trebuchet MS"/>
              </a:rPr>
              <a:t>Responsible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CA2AF"/>
                </a:solidFill>
                <a:latin typeface="Trebuchet MS"/>
                <a:cs typeface="Trebuchet MS"/>
              </a:rPr>
              <a:t>for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9CA2AF"/>
                </a:solidFill>
                <a:latin typeface="Trebuchet MS"/>
                <a:cs typeface="Trebuchet MS"/>
              </a:rPr>
              <a:t>data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9CA2AF"/>
                </a:solidFill>
                <a:latin typeface="Trebuchet MS"/>
                <a:cs typeface="Trebuchet MS"/>
              </a:rPr>
              <a:t>analysis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and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Looker</a:t>
            </a:r>
            <a:r>
              <a:rPr sz="1050" spc="4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Studio </a:t>
            </a:r>
            <a:r>
              <a:rPr sz="1050" spc="45" dirty="0">
                <a:solidFill>
                  <a:srgbClr val="9CA2AF"/>
                </a:solidFill>
                <a:latin typeface="Trebuchet MS"/>
                <a:cs typeface="Trebuchet MS"/>
              </a:rPr>
              <a:t>implementation</a:t>
            </a:r>
            <a:endParaRPr sz="1050">
              <a:latin typeface="Trebuchet MS"/>
              <a:cs typeface="Trebuchet MS"/>
            </a:endParaRPr>
          </a:p>
          <a:p>
            <a:pPr marL="231140">
              <a:lnSpc>
                <a:spcPct val="100000"/>
              </a:lnSpc>
              <a:spcBef>
                <a:spcPts val="1065"/>
              </a:spcBef>
              <a:tabLst>
                <a:tab pos="807720" algn="l"/>
              </a:tabLst>
            </a:pPr>
            <a:r>
              <a:rPr sz="900" spc="95" dirty="0">
                <a:solidFill>
                  <a:srgbClr val="D0D5DA"/>
                </a:solidFill>
                <a:latin typeface="Trebuchet MS"/>
                <a:cs typeface="Trebuchet MS"/>
              </a:rPr>
              <a:t>DB</a:t>
            </a:r>
            <a:r>
              <a:rPr sz="900" dirty="0">
                <a:solidFill>
                  <a:srgbClr val="D0D5DA"/>
                </a:solidFill>
                <a:latin typeface="Trebuchet MS"/>
                <a:cs typeface="Trebuchet MS"/>
              </a:rPr>
              <a:t>	</a:t>
            </a:r>
            <a:r>
              <a:rPr sz="900" spc="50" dirty="0">
                <a:solidFill>
                  <a:srgbClr val="D0D5DA"/>
                </a:solidFill>
                <a:latin typeface="Trebuchet MS"/>
                <a:cs typeface="Trebuchet MS"/>
              </a:rPr>
              <a:t>Code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629399" y="3543388"/>
            <a:ext cx="2943225" cy="609600"/>
            <a:chOff x="6629399" y="3543388"/>
            <a:chExt cx="2943225" cy="609600"/>
          </a:xfrm>
        </p:grpSpPr>
        <p:sp>
          <p:nvSpPr>
            <p:cNvPr id="50" name="object 50"/>
            <p:cNvSpPr/>
            <p:nvPr/>
          </p:nvSpPr>
          <p:spPr>
            <a:xfrm>
              <a:off x="6629399" y="3160379"/>
              <a:ext cx="590550" cy="609600"/>
            </a:xfrm>
            <a:custGeom>
              <a:avLst/>
              <a:gdLst/>
              <a:ahLst/>
              <a:cxnLst/>
              <a:rect l="l" t="t" r="r" b="b"/>
              <a:pathLst>
                <a:path w="590550" h="609600">
                  <a:moveTo>
                    <a:pt x="302523" y="609422"/>
                  </a:moveTo>
                  <a:lnTo>
                    <a:pt x="259127" y="607290"/>
                  </a:lnTo>
                  <a:lnTo>
                    <a:pt x="216522" y="598816"/>
                  </a:lnTo>
                  <a:lnTo>
                    <a:pt x="175613" y="584178"/>
                  </a:lnTo>
                  <a:lnTo>
                    <a:pt x="137304" y="563701"/>
                  </a:lnTo>
                  <a:lnTo>
                    <a:pt x="102406" y="537819"/>
                  </a:lnTo>
                  <a:lnTo>
                    <a:pt x="71690" y="507103"/>
                  </a:lnTo>
                  <a:lnTo>
                    <a:pt x="45808" y="472205"/>
                  </a:lnTo>
                  <a:lnTo>
                    <a:pt x="25331" y="433895"/>
                  </a:lnTo>
                  <a:lnTo>
                    <a:pt x="10695" y="392987"/>
                  </a:lnTo>
                  <a:lnTo>
                    <a:pt x="2220" y="350382"/>
                  </a:lnTo>
                  <a:lnTo>
                    <a:pt x="0" y="314235"/>
                  </a:lnTo>
                  <a:lnTo>
                    <a:pt x="88" y="287937"/>
                  </a:lnTo>
                  <a:lnTo>
                    <a:pt x="4346" y="244707"/>
                  </a:lnTo>
                  <a:lnTo>
                    <a:pt x="14903" y="202560"/>
                  </a:lnTo>
                  <a:lnTo>
                    <a:pt x="31526" y="162428"/>
                  </a:lnTo>
                  <a:lnTo>
                    <a:pt x="53862" y="125162"/>
                  </a:lnTo>
                  <a:lnTo>
                    <a:pt x="81420" y="91583"/>
                  </a:lnTo>
                  <a:lnTo>
                    <a:pt x="113613" y="62405"/>
                  </a:lnTo>
                  <a:lnTo>
                    <a:pt x="149731" y="38271"/>
                  </a:lnTo>
                  <a:lnTo>
                    <a:pt x="189007" y="19695"/>
                  </a:lnTo>
                  <a:lnTo>
                    <a:pt x="230577" y="7085"/>
                  </a:lnTo>
                  <a:lnTo>
                    <a:pt x="273555" y="711"/>
                  </a:lnTo>
                  <a:lnTo>
                    <a:pt x="288026" y="0"/>
                  </a:lnTo>
                  <a:lnTo>
                    <a:pt x="302523" y="0"/>
                  </a:lnTo>
                  <a:lnTo>
                    <a:pt x="345752" y="4257"/>
                  </a:lnTo>
                  <a:lnTo>
                    <a:pt x="387898" y="14814"/>
                  </a:lnTo>
                  <a:lnTo>
                    <a:pt x="428031" y="31437"/>
                  </a:lnTo>
                  <a:lnTo>
                    <a:pt x="465298" y="53774"/>
                  </a:lnTo>
                  <a:lnTo>
                    <a:pt x="498877" y="81331"/>
                  </a:lnTo>
                  <a:lnTo>
                    <a:pt x="528055" y="113524"/>
                  </a:lnTo>
                  <a:lnTo>
                    <a:pt x="552188" y="149643"/>
                  </a:lnTo>
                  <a:lnTo>
                    <a:pt x="570764" y="188919"/>
                  </a:lnTo>
                  <a:lnTo>
                    <a:pt x="583374" y="230488"/>
                  </a:lnTo>
                  <a:lnTo>
                    <a:pt x="589750" y="273466"/>
                  </a:lnTo>
                  <a:lnTo>
                    <a:pt x="590461" y="287937"/>
                  </a:lnTo>
                  <a:lnTo>
                    <a:pt x="590461" y="321484"/>
                  </a:lnTo>
                  <a:lnTo>
                    <a:pt x="586202" y="364714"/>
                  </a:lnTo>
                  <a:lnTo>
                    <a:pt x="575645" y="406860"/>
                  </a:lnTo>
                  <a:lnTo>
                    <a:pt x="559022" y="446992"/>
                  </a:lnTo>
                  <a:lnTo>
                    <a:pt x="536685" y="484259"/>
                  </a:lnTo>
                  <a:lnTo>
                    <a:pt x="509128" y="517838"/>
                  </a:lnTo>
                  <a:lnTo>
                    <a:pt x="476935" y="547016"/>
                  </a:lnTo>
                  <a:lnTo>
                    <a:pt x="440816" y="571149"/>
                  </a:lnTo>
                  <a:lnTo>
                    <a:pt x="401540" y="589726"/>
                  </a:lnTo>
                  <a:lnTo>
                    <a:pt x="359971" y="602335"/>
                  </a:lnTo>
                  <a:lnTo>
                    <a:pt x="316994" y="608711"/>
                  </a:lnTo>
                  <a:lnTo>
                    <a:pt x="302523" y="609422"/>
                  </a:lnTo>
                  <a:close/>
                </a:path>
              </a:pathLst>
            </a:custGeom>
            <a:solidFill>
              <a:srgbClr val="13532D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38949" y="3331740"/>
              <a:ext cx="171449" cy="26669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9048748" y="3179340"/>
              <a:ext cx="523875" cy="228600"/>
            </a:xfrm>
            <a:custGeom>
              <a:avLst/>
              <a:gdLst/>
              <a:ahLst/>
              <a:cxnLst/>
              <a:rect l="l" t="t" r="r" b="b"/>
              <a:pathLst>
                <a:path w="523875" h="228600">
                  <a:moveTo>
                    <a:pt x="417080" y="228599"/>
                  </a:moveTo>
                  <a:lnTo>
                    <a:pt x="106795" y="228599"/>
                  </a:lnTo>
                  <a:lnTo>
                    <a:pt x="99361" y="227867"/>
                  </a:lnTo>
                  <a:lnTo>
                    <a:pt x="57037" y="213506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417080" y="0"/>
                  </a:lnTo>
                  <a:lnTo>
                    <a:pt x="460249" y="11572"/>
                  </a:lnTo>
                  <a:lnTo>
                    <a:pt x="495704" y="38784"/>
                  </a:lnTo>
                  <a:lnTo>
                    <a:pt x="518045" y="77492"/>
                  </a:lnTo>
                  <a:lnTo>
                    <a:pt x="523874" y="106794"/>
                  </a:lnTo>
                  <a:lnTo>
                    <a:pt x="523874" y="121805"/>
                  </a:lnTo>
                  <a:lnTo>
                    <a:pt x="512301" y="164973"/>
                  </a:lnTo>
                  <a:lnTo>
                    <a:pt x="485090" y="200428"/>
                  </a:lnTo>
                  <a:lnTo>
                    <a:pt x="446382" y="222770"/>
                  </a:lnTo>
                  <a:lnTo>
                    <a:pt x="424513" y="227867"/>
                  </a:lnTo>
                  <a:lnTo>
                    <a:pt x="417080" y="22859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356524" y="3166641"/>
            <a:ext cx="15862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130" dirty="0">
                <a:solidFill>
                  <a:srgbClr val="FFFFFF"/>
                </a:solidFill>
                <a:latin typeface="Trebuchet MS"/>
                <a:cs typeface="Trebuchet MS"/>
              </a:rPr>
              <a:t>Christian</a:t>
            </a:r>
            <a:r>
              <a:rPr sz="135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50" b="1" spc="130" dirty="0">
                <a:solidFill>
                  <a:srgbClr val="FFFFFF"/>
                </a:solidFill>
                <a:latin typeface="Trebuchet MS"/>
                <a:cs typeface="Trebuchet MS"/>
              </a:rPr>
              <a:t>Bolton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107487" y="3204741"/>
            <a:ext cx="398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0" dirty="0">
                <a:solidFill>
                  <a:srgbClr val="FFFFFF"/>
                </a:solidFill>
                <a:latin typeface="Trebuchet MS"/>
                <a:cs typeface="Trebuchet MS"/>
              </a:rPr>
              <a:t>Owner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372349" y="4305299"/>
            <a:ext cx="2076450" cy="228600"/>
            <a:chOff x="7372349" y="4305299"/>
            <a:chExt cx="2076450" cy="228600"/>
          </a:xfrm>
        </p:grpSpPr>
        <p:sp>
          <p:nvSpPr>
            <p:cNvPr id="56" name="object 56"/>
            <p:cNvSpPr/>
            <p:nvPr/>
          </p:nvSpPr>
          <p:spPr>
            <a:xfrm>
              <a:off x="7372349" y="3922290"/>
              <a:ext cx="819150" cy="228600"/>
            </a:xfrm>
            <a:custGeom>
              <a:avLst/>
              <a:gdLst/>
              <a:ahLst/>
              <a:cxnLst/>
              <a:rect l="l" t="t" r="r" b="b"/>
              <a:pathLst>
                <a:path w="819150" h="228600">
                  <a:moveTo>
                    <a:pt x="712355" y="228599"/>
                  </a:moveTo>
                  <a:lnTo>
                    <a:pt x="106795" y="228599"/>
                  </a:lnTo>
                  <a:lnTo>
                    <a:pt x="99362" y="227867"/>
                  </a:lnTo>
                  <a:lnTo>
                    <a:pt x="57038" y="213505"/>
                  </a:lnTo>
                  <a:lnTo>
                    <a:pt x="23431" y="184041"/>
                  </a:lnTo>
                  <a:lnTo>
                    <a:pt x="3660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712355" y="0"/>
                  </a:lnTo>
                  <a:lnTo>
                    <a:pt x="755524" y="11572"/>
                  </a:lnTo>
                  <a:lnTo>
                    <a:pt x="790978" y="38784"/>
                  </a:lnTo>
                  <a:lnTo>
                    <a:pt x="813321" y="77492"/>
                  </a:lnTo>
                  <a:lnTo>
                    <a:pt x="819150" y="106794"/>
                  </a:lnTo>
                  <a:lnTo>
                    <a:pt x="819150" y="121804"/>
                  </a:lnTo>
                  <a:lnTo>
                    <a:pt x="807577" y="164973"/>
                  </a:lnTo>
                  <a:lnTo>
                    <a:pt x="780365" y="200429"/>
                  </a:lnTo>
                  <a:lnTo>
                    <a:pt x="741656" y="222771"/>
                  </a:lnTo>
                  <a:lnTo>
                    <a:pt x="719788" y="227867"/>
                  </a:lnTo>
                  <a:lnTo>
                    <a:pt x="712355" y="22859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58075" y="3979440"/>
              <a:ext cx="104774" cy="10477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267699" y="3922290"/>
              <a:ext cx="1181100" cy="228600"/>
            </a:xfrm>
            <a:custGeom>
              <a:avLst/>
              <a:gdLst/>
              <a:ahLst/>
              <a:cxnLst/>
              <a:rect l="l" t="t" r="r" b="b"/>
              <a:pathLst>
                <a:path w="1181100" h="228600">
                  <a:moveTo>
                    <a:pt x="1074305" y="228599"/>
                  </a:moveTo>
                  <a:lnTo>
                    <a:pt x="106795" y="228599"/>
                  </a:lnTo>
                  <a:lnTo>
                    <a:pt x="99362" y="227867"/>
                  </a:lnTo>
                  <a:lnTo>
                    <a:pt x="57037" y="213505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1074305" y="0"/>
                  </a:lnTo>
                  <a:lnTo>
                    <a:pt x="1117474" y="11572"/>
                  </a:lnTo>
                  <a:lnTo>
                    <a:pt x="1152928" y="38784"/>
                  </a:lnTo>
                  <a:lnTo>
                    <a:pt x="1175271" y="77492"/>
                  </a:lnTo>
                  <a:lnTo>
                    <a:pt x="1181099" y="106794"/>
                  </a:lnTo>
                  <a:lnTo>
                    <a:pt x="1181099" y="121804"/>
                  </a:lnTo>
                  <a:lnTo>
                    <a:pt x="1169526" y="164973"/>
                  </a:lnTo>
                  <a:lnTo>
                    <a:pt x="1142315" y="200429"/>
                  </a:lnTo>
                  <a:lnTo>
                    <a:pt x="1103606" y="222771"/>
                  </a:lnTo>
                  <a:lnTo>
                    <a:pt x="1081737" y="227867"/>
                  </a:lnTo>
                  <a:lnTo>
                    <a:pt x="1074305" y="22859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43900" y="3979440"/>
              <a:ext cx="133349" cy="104774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7356524" y="3431435"/>
            <a:ext cx="3222625" cy="67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1050" spc="60" dirty="0">
                <a:solidFill>
                  <a:srgbClr val="9CA2AF"/>
                </a:solidFill>
                <a:latin typeface="Trebuchet MS"/>
                <a:cs typeface="Trebuchet MS"/>
              </a:rPr>
              <a:t>Responsible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CA2AF"/>
                </a:solidFill>
                <a:latin typeface="Trebuchet MS"/>
                <a:cs typeface="Trebuchet MS"/>
              </a:rPr>
              <a:t>for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9CA2AF"/>
                </a:solidFill>
                <a:latin typeface="Trebuchet MS"/>
                <a:cs typeface="Trebuchet MS"/>
              </a:rPr>
              <a:t>data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9CA2AF"/>
                </a:solidFill>
                <a:latin typeface="Trebuchet MS"/>
                <a:cs typeface="Trebuchet MS"/>
              </a:rPr>
              <a:t>analysis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and</a:t>
            </a:r>
            <a:r>
              <a:rPr sz="1050" spc="4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Looker</a:t>
            </a:r>
            <a:r>
              <a:rPr sz="1050" spc="4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Studio </a:t>
            </a:r>
            <a:r>
              <a:rPr sz="1050" spc="45" dirty="0">
                <a:solidFill>
                  <a:srgbClr val="9CA2AF"/>
                </a:solidFill>
                <a:latin typeface="Trebuchet MS"/>
                <a:cs typeface="Trebuchet MS"/>
              </a:rPr>
              <a:t>implementation</a:t>
            </a:r>
            <a:endParaRPr sz="1050">
              <a:latin typeface="Trebuchet MS"/>
              <a:cs typeface="Trebuchet MS"/>
            </a:endParaRPr>
          </a:p>
          <a:p>
            <a:pPr marL="240665">
              <a:lnSpc>
                <a:spcPct val="100000"/>
              </a:lnSpc>
              <a:spcBef>
                <a:spcPts val="1065"/>
              </a:spcBef>
              <a:tabLst>
                <a:tab pos="1160145" algn="l"/>
              </a:tabLst>
            </a:pPr>
            <a:r>
              <a:rPr sz="900" spc="-10" dirty="0">
                <a:solidFill>
                  <a:srgbClr val="D0D5DA"/>
                </a:solidFill>
                <a:latin typeface="Trebuchet MS"/>
                <a:cs typeface="Trebuchet MS"/>
              </a:rPr>
              <a:t>Analytics</a:t>
            </a:r>
            <a:r>
              <a:rPr sz="900" dirty="0">
                <a:solidFill>
                  <a:srgbClr val="D0D5DA"/>
                </a:solidFill>
                <a:latin typeface="Trebuchet MS"/>
                <a:cs typeface="Trebuchet MS"/>
              </a:rPr>
              <a:t>	</a:t>
            </a:r>
            <a:r>
              <a:rPr sz="900" spc="50" dirty="0">
                <a:solidFill>
                  <a:srgbClr val="D0D5DA"/>
                </a:solidFill>
                <a:latin typeface="Trebuchet MS"/>
                <a:cs typeface="Trebuchet MS"/>
              </a:rPr>
              <a:t>ReportinComm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09599" y="5932065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304799" y="38099"/>
                </a:moveTo>
                <a:lnTo>
                  <a:pt x="0" y="38099"/>
                </a:lnTo>
                <a:lnTo>
                  <a:pt x="0" y="0"/>
                </a:lnTo>
                <a:lnTo>
                  <a:pt x="304799" y="0"/>
                </a:lnTo>
                <a:lnTo>
                  <a:pt x="304799" y="38099"/>
                </a:lnTo>
                <a:close/>
              </a:path>
            </a:pathLst>
          </a:custGeom>
          <a:solidFill>
            <a:srgbClr val="21C4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977900" y="5852690"/>
            <a:ext cx="43916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65" dirty="0">
                <a:solidFill>
                  <a:srgbClr val="9CA2AF"/>
                </a:solidFill>
                <a:latin typeface="Trebuchet MS"/>
                <a:cs typeface="Trebuchet MS"/>
              </a:rPr>
              <a:t>Automated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10" dirty="0">
                <a:solidFill>
                  <a:srgbClr val="9CA2AF"/>
                </a:solidFill>
                <a:latin typeface="Trebuchet MS"/>
                <a:cs typeface="Trebuchet MS"/>
              </a:rPr>
              <a:t>Player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10" dirty="0">
                <a:solidFill>
                  <a:srgbClr val="9CA2AF"/>
                </a:solidFill>
                <a:latin typeface="Trebuchet MS"/>
                <a:cs typeface="Trebuchet MS"/>
              </a:rPr>
              <a:t>Tracking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9CA2AF"/>
                </a:solidFill>
                <a:latin typeface="Trebuchet MS"/>
                <a:cs typeface="Trebuchet MS"/>
              </a:rPr>
              <a:t>&amp;</a:t>
            </a:r>
            <a:r>
              <a:rPr sz="105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9CA2AF"/>
                </a:solidFill>
                <a:latin typeface="Trebuchet MS"/>
                <a:cs typeface="Trebuchet MS"/>
              </a:rPr>
              <a:t>Reporting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95" dirty="0">
                <a:solidFill>
                  <a:srgbClr val="9CA2AF"/>
                </a:solidFill>
                <a:latin typeface="Trebuchet MS"/>
                <a:cs typeface="Trebuchet MS"/>
              </a:rPr>
              <a:t>System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9CA2AF"/>
                </a:solidFill>
                <a:latin typeface="Trebuchet MS"/>
                <a:cs typeface="Trebuchet MS"/>
              </a:rPr>
              <a:t>via</a:t>
            </a:r>
            <a:r>
              <a:rPr sz="105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Looker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Studio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689208" y="6081290"/>
            <a:ext cx="3251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FFFFFF"/>
                </a:solidFill>
                <a:latin typeface="Trebuchet MS"/>
                <a:cs typeface="Trebuchet MS"/>
              </a:rPr>
              <a:t>3/11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pc="250" dirty="0"/>
              <a:t>Current</a:t>
            </a:r>
            <a:r>
              <a:rPr spc="130" dirty="0"/>
              <a:t> </a:t>
            </a:r>
            <a:r>
              <a:rPr spc="345" dirty="0"/>
              <a:t>Progress</a:t>
            </a:r>
            <a:r>
              <a:rPr spc="130" dirty="0"/>
              <a:t> </a:t>
            </a:r>
            <a:r>
              <a:rPr spc="434" dirty="0"/>
              <a:t>&amp;</a:t>
            </a:r>
            <a:r>
              <a:rPr spc="135" dirty="0"/>
              <a:t> </a:t>
            </a:r>
            <a:r>
              <a:rPr spc="305" dirty="0"/>
              <a:t>Milestones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9599" y="1866900"/>
            <a:ext cx="3505200" cy="2590800"/>
            <a:chOff x="609599" y="1866900"/>
            <a:chExt cx="3505200" cy="2590800"/>
          </a:xfrm>
        </p:grpSpPr>
        <p:sp>
          <p:nvSpPr>
            <p:cNvPr id="7" name="object 7"/>
            <p:cNvSpPr/>
            <p:nvPr/>
          </p:nvSpPr>
          <p:spPr>
            <a:xfrm>
              <a:off x="609599" y="1502940"/>
              <a:ext cx="3505200" cy="2571750"/>
            </a:xfrm>
            <a:custGeom>
              <a:avLst/>
              <a:gdLst/>
              <a:ahLst/>
              <a:cxnLst/>
              <a:rect l="l" t="t" r="r" b="b"/>
              <a:pathLst>
                <a:path w="3505200" h="2571750">
                  <a:moveTo>
                    <a:pt x="3434002" y="2571749"/>
                  </a:moveTo>
                  <a:lnTo>
                    <a:pt x="71196" y="2571749"/>
                  </a:lnTo>
                  <a:lnTo>
                    <a:pt x="66241" y="2571261"/>
                  </a:lnTo>
                  <a:lnTo>
                    <a:pt x="29705" y="2556127"/>
                  </a:lnTo>
                  <a:lnTo>
                    <a:pt x="3885" y="2520087"/>
                  </a:lnTo>
                  <a:lnTo>
                    <a:pt x="0" y="2500552"/>
                  </a:lnTo>
                  <a:lnTo>
                    <a:pt x="0" y="24955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434002" y="0"/>
                  </a:lnTo>
                  <a:lnTo>
                    <a:pt x="3475493" y="11716"/>
                  </a:lnTo>
                  <a:lnTo>
                    <a:pt x="3502758" y="42319"/>
                  </a:lnTo>
                  <a:lnTo>
                    <a:pt x="3505199" y="53397"/>
                  </a:lnTo>
                  <a:lnTo>
                    <a:pt x="3505199" y="2500552"/>
                  </a:lnTo>
                  <a:lnTo>
                    <a:pt x="3489577" y="2542044"/>
                  </a:lnTo>
                  <a:lnTo>
                    <a:pt x="3453536" y="2567863"/>
                  </a:lnTo>
                  <a:lnTo>
                    <a:pt x="3438958" y="2571261"/>
                  </a:lnTo>
                  <a:lnTo>
                    <a:pt x="3434002" y="257174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9877" y="1483891"/>
              <a:ext cx="3505200" cy="70485"/>
            </a:xfrm>
            <a:custGeom>
              <a:avLst/>
              <a:gdLst/>
              <a:ahLst/>
              <a:cxnLst/>
              <a:rect l="l" t="t" r="r" b="b"/>
              <a:pathLst>
                <a:path w="3505200" h="70485">
                  <a:moveTo>
                    <a:pt x="0" y="70449"/>
                  </a:moveTo>
                  <a:lnTo>
                    <a:pt x="12552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428722" y="0"/>
                  </a:lnTo>
                  <a:lnTo>
                    <a:pt x="3471064" y="12829"/>
                  </a:lnTo>
                  <a:lnTo>
                    <a:pt x="349463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49"/>
                  </a:lnTo>
                  <a:close/>
                </a:path>
                <a:path w="3505200" h="70485">
                  <a:moveTo>
                    <a:pt x="3504644" y="70449"/>
                  </a:moveTo>
                  <a:lnTo>
                    <a:pt x="3471064" y="44515"/>
                  </a:lnTo>
                  <a:lnTo>
                    <a:pt x="3428722" y="38099"/>
                  </a:lnTo>
                  <a:lnTo>
                    <a:pt x="3494630" y="38099"/>
                  </a:lnTo>
                  <a:lnTo>
                    <a:pt x="3504559" y="68693"/>
                  </a:lnTo>
                  <a:lnTo>
                    <a:pt x="3504644" y="704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0099" y="1712490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171449" y="380999"/>
                  </a:moveTo>
                  <a:lnTo>
                    <a:pt x="129780" y="375860"/>
                  </a:lnTo>
                  <a:lnTo>
                    <a:pt x="90627" y="360756"/>
                  </a:lnTo>
                  <a:lnTo>
                    <a:pt x="56317" y="336593"/>
                  </a:lnTo>
                  <a:lnTo>
                    <a:pt x="28894" y="304802"/>
                  </a:lnTo>
                  <a:lnTo>
                    <a:pt x="10017" y="267300"/>
                  </a:lnTo>
                  <a:lnTo>
                    <a:pt x="823" y="226355"/>
                  </a:lnTo>
                  <a:lnTo>
                    <a:pt x="0" y="209549"/>
                  </a:lnTo>
                  <a:lnTo>
                    <a:pt x="0" y="171449"/>
                  </a:lnTo>
                  <a:lnTo>
                    <a:pt x="5139" y="129780"/>
                  </a:lnTo>
                  <a:lnTo>
                    <a:pt x="20242" y="90627"/>
                  </a:lnTo>
                  <a:lnTo>
                    <a:pt x="44406" y="56317"/>
                  </a:lnTo>
                  <a:lnTo>
                    <a:pt x="76197" y="28894"/>
                  </a:lnTo>
                  <a:lnTo>
                    <a:pt x="113699" y="10017"/>
                  </a:lnTo>
                  <a:lnTo>
                    <a:pt x="154644" y="823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899" y="209549"/>
                  </a:lnTo>
                  <a:lnTo>
                    <a:pt x="337760" y="251219"/>
                  </a:lnTo>
                  <a:lnTo>
                    <a:pt x="322656" y="290371"/>
                  </a:lnTo>
                  <a:lnTo>
                    <a:pt x="298493" y="324681"/>
                  </a:lnTo>
                  <a:lnTo>
                    <a:pt x="266702" y="352105"/>
                  </a:lnTo>
                  <a:lnTo>
                    <a:pt x="229200" y="370981"/>
                  </a:lnTo>
                  <a:lnTo>
                    <a:pt x="188255" y="380176"/>
                  </a:lnTo>
                  <a:lnTo>
                    <a:pt x="171449" y="380999"/>
                  </a:lnTo>
                  <a:close/>
                </a:path>
              </a:pathLst>
            </a:custGeom>
            <a:solidFill>
              <a:srgbClr val="13532D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299" y="1817265"/>
              <a:ext cx="190499" cy="1523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244599" y="1785516"/>
            <a:ext cx="13296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Initial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25" dirty="0">
                <a:solidFill>
                  <a:srgbClr val="FFFFFF"/>
                </a:solidFill>
                <a:latin typeface="Trebuchet MS"/>
                <a:cs typeface="Trebuchet MS"/>
              </a:rPr>
              <a:t>Planning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00099" y="1866900"/>
            <a:ext cx="7048500" cy="2590800"/>
            <a:chOff x="800099" y="1866900"/>
            <a:chExt cx="7048500" cy="259080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099" y="2245890"/>
              <a:ext cx="133349" cy="1333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099" y="2550690"/>
              <a:ext cx="133349" cy="1333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099" y="2855490"/>
              <a:ext cx="133349" cy="1333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099" y="3160291"/>
              <a:ext cx="133349" cy="1333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43399" y="1502940"/>
              <a:ext cx="3505200" cy="2571750"/>
            </a:xfrm>
            <a:custGeom>
              <a:avLst/>
              <a:gdLst/>
              <a:ahLst/>
              <a:cxnLst/>
              <a:rect l="l" t="t" r="r" b="b"/>
              <a:pathLst>
                <a:path w="3505200" h="2571750">
                  <a:moveTo>
                    <a:pt x="3434002" y="2571749"/>
                  </a:moveTo>
                  <a:lnTo>
                    <a:pt x="71196" y="2571749"/>
                  </a:lnTo>
                  <a:lnTo>
                    <a:pt x="66241" y="2571261"/>
                  </a:lnTo>
                  <a:lnTo>
                    <a:pt x="29705" y="2556127"/>
                  </a:lnTo>
                  <a:lnTo>
                    <a:pt x="3885" y="2520087"/>
                  </a:lnTo>
                  <a:lnTo>
                    <a:pt x="0" y="2500552"/>
                  </a:lnTo>
                  <a:lnTo>
                    <a:pt x="0" y="2495549"/>
                  </a:lnTo>
                  <a:lnTo>
                    <a:pt x="0" y="53397"/>
                  </a:lnTo>
                  <a:lnTo>
                    <a:pt x="18780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434002" y="0"/>
                  </a:lnTo>
                  <a:lnTo>
                    <a:pt x="3475494" y="11716"/>
                  </a:lnTo>
                  <a:lnTo>
                    <a:pt x="3502759" y="42319"/>
                  </a:lnTo>
                  <a:lnTo>
                    <a:pt x="3505199" y="53397"/>
                  </a:lnTo>
                  <a:lnTo>
                    <a:pt x="3505199" y="2500552"/>
                  </a:lnTo>
                  <a:lnTo>
                    <a:pt x="3489577" y="2542044"/>
                  </a:lnTo>
                  <a:lnTo>
                    <a:pt x="3453536" y="2567863"/>
                  </a:lnTo>
                  <a:lnTo>
                    <a:pt x="3438957" y="2571261"/>
                  </a:lnTo>
                  <a:lnTo>
                    <a:pt x="3434002" y="257174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43677" y="1483891"/>
              <a:ext cx="3505200" cy="70485"/>
            </a:xfrm>
            <a:custGeom>
              <a:avLst/>
              <a:gdLst/>
              <a:ahLst/>
              <a:cxnLst/>
              <a:rect l="l" t="t" r="r" b="b"/>
              <a:pathLst>
                <a:path w="3505200" h="70485">
                  <a:moveTo>
                    <a:pt x="0" y="70450"/>
                  </a:moveTo>
                  <a:lnTo>
                    <a:pt x="12551" y="33857"/>
                  </a:lnTo>
                  <a:lnTo>
                    <a:pt x="46761" y="5800"/>
                  </a:lnTo>
                  <a:lnTo>
                    <a:pt x="75922" y="0"/>
                  </a:lnTo>
                  <a:lnTo>
                    <a:pt x="3428722" y="0"/>
                  </a:lnTo>
                  <a:lnTo>
                    <a:pt x="3471063" y="12829"/>
                  </a:lnTo>
                  <a:lnTo>
                    <a:pt x="349463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5" y="66287"/>
                  </a:lnTo>
                  <a:lnTo>
                    <a:pt x="0" y="70450"/>
                  </a:lnTo>
                  <a:close/>
                </a:path>
                <a:path w="3505200" h="70485">
                  <a:moveTo>
                    <a:pt x="3504644" y="70450"/>
                  </a:moveTo>
                  <a:lnTo>
                    <a:pt x="3471063" y="44515"/>
                  </a:lnTo>
                  <a:lnTo>
                    <a:pt x="3428722" y="38099"/>
                  </a:lnTo>
                  <a:lnTo>
                    <a:pt x="3494630" y="38099"/>
                  </a:lnTo>
                  <a:lnTo>
                    <a:pt x="3504559" y="68693"/>
                  </a:lnTo>
                  <a:lnTo>
                    <a:pt x="3504644" y="70450"/>
                  </a:lnTo>
                  <a:close/>
                </a:path>
              </a:pathLst>
            </a:custGeom>
            <a:solidFill>
              <a:srgbClr val="E9B3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33899" y="171249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399" y="380999"/>
                  </a:moveTo>
                  <a:lnTo>
                    <a:pt x="108159" y="374439"/>
                  </a:lnTo>
                  <a:lnTo>
                    <a:pt x="67730" y="355315"/>
                  </a:lnTo>
                  <a:lnTo>
                    <a:pt x="34591" y="325282"/>
                  </a:lnTo>
                  <a:lnTo>
                    <a:pt x="11600" y="286920"/>
                  </a:lnTo>
                  <a:lnTo>
                    <a:pt x="731" y="243537"/>
                  </a:lnTo>
                  <a:lnTo>
                    <a:pt x="0" y="228599"/>
                  </a:lnTo>
                  <a:lnTo>
                    <a:pt x="0" y="152399"/>
                  </a:lnTo>
                  <a:lnTo>
                    <a:pt x="6560" y="108159"/>
                  </a:lnTo>
                  <a:lnTo>
                    <a:pt x="25683" y="67730"/>
                  </a:lnTo>
                  <a:lnTo>
                    <a:pt x="55716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799" y="228599"/>
                  </a:lnTo>
                  <a:lnTo>
                    <a:pt x="298238" y="272839"/>
                  </a:lnTo>
                  <a:lnTo>
                    <a:pt x="279114" y="313268"/>
                  </a:lnTo>
                  <a:lnTo>
                    <a:pt x="249082" y="346407"/>
                  </a:lnTo>
                  <a:lnTo>
                    <a:pt x="210720" y="369398"/>
                  </a:lnTo>
                  <a:lnTo>
                    <a:pt x="167337" y="380267"/>
                  </a:lnTo>
                  <a:lnTo>
                    <a:pt x="152399" y="380999"/>
                  </a:lnTo>
                  <a:close/>
                </a:path>
              </a:pathLst>
            </a:custGeom>
            <a:solidFill>
              <a:srgbClr val="703F1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0099" y="1817265"/>
              <a:ext cx="152399" cy="15239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996950" y="2204616"/>
            <a:ext cx="21170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r>
              <a:rPr sz="1050" spc="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kickoff</a:t>
            </a:r>
            <a:r>
              <a:rPr sz="1050" spc="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meeting</a:t>
            </a:r>
            <a:r>
              <a:rPr sz="1050" spc="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(June</a:t>
            </a:r>
            <a:r>
              <a:rPr sz="1050" spc="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40" dirty="0">
                <a:solidFill>
                  <a:srgbClr val="FFFFFF"/>
                </a:solidFill>
                <a:latin typeface="Trebuchet MS"/>
                <a:cs typeface="Trebuchet MS"/>
              </a:rPr>
              <a:t>6)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6950" y="2509416"/>
            <a:ext cx="18935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Defined</a:t>
            </a:r>
            <a:r>
              <a:rPr sz="1050" spc="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initial</a:t>
            </a:r>
            <a:r>
              <a:rPr sz="1050" spc="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r>
              <a:rPr sz="1050" spc="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scope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6950" y="2814216"/>
            <a:ext cx="23025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Created</a:t>
            </a:r>
            <a:r>
              <a:rPr sz="105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9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10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operation</a:t>
            </a:r>
            <a:r>
              <a:rPr sz="105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manual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6950" y="3088535"/>
            <a:ext cx="261493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1050" spc="85" dirty="0">
                <a:solidFill>
                  <a:srgbClr val="FFFFFF"/>
                </a:solidFill>
                <a:latin typeface="Trebuchet MS"/>
                <a:cs typeface="Trebuchet MS"/>
              </a:rPr>
              <a:t>Designed</a:t>
            </a:r>
            <a:r>
              <a:rPr sz="105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human-</a:t>
            </a:r>
            <a:r>
              <a:rPr sz="1050" spc="65" dirty="0">
                <a:solidFill>
                  <a:srgbClr val="FFFFFF"/>
                </a:solidFill>
                <a:latin typeface="Trebuchet MS"/>
                <a:cs typeface="Trebuchet MS"/>
              </a:rPr>
              <a:t>computer</a:t>
            </a:r>
            <a:r>
              <a:rPr sz="105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interaction </a:t>
            </a:r>
            <a:r>
              <a:rPr sz="1050" spc="40" dirty="0">
                <a:solidFill>
                  <a:srgbClr val="FFFFFF"/>
                </a:solidFill>
                <a:latin typeface="Trebuchet MS"/>
                <a:cs typeface="Trebuchet MS"/>
              </a:rPr>
              <a:t>prototype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40299" y="1785516"/>
            <a:ext cx="1813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Technical </a:t>
            </a:r>
            <a:r>
              <a:rPr sz="1200" b="1" spc="125" dirty="0">
                <a:solidFill>
                  <a:srgbClr val="FFFFFF"/>
                </a:solidFill>
                <a:latin typeface="Trebuchet MS"/>
                <a:cs typeface="Trebuchet MS"/>
              </a:rPr>
              <a:t>Challenges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533900" y="1866900"/>
            <a:ext cx="7048500" cy="2590800"/>
            <a:chOff x="4533900" y="1866900"/>
            <a:chExt cx="7048500" cy="259080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3900" y="2245890"/>
              <a:ext cx="114299" cy="13334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3900" y="2550690"/>
              <a:ext cx="133349" cy="12382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33900" y="3045990"/>
              <a:ext cx="171449" cy="13334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3900" y="3541290"/>
              <a:ext cx="133349" cy="13334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077198" y="1502940"/>
              <a:ext cx="3505200" cy="2571750"/>
            </a:xfrm>
            <a:custGeom>
              <a:avLst/>
              <a:gdLst/>
              <a:ahLst/>
              <a:cxnLst/>
              <a:rect l="l" t="t" r="r" b="b"/>
              <a:pathLst>
                <a:path w="3505200" h="2571750">
                  <a:moveTo>
                    <a:pt x="3434003" y="2571749"/>
                  </a:moveTo>
                  <a:lnTo>
                    <a:pt x="71196" y="2571749"/>
                  </a:lnTo>
                  <a:lnTo>
                    <a:pt x="66241" y="2571261"/>
                  </a:lnTo>
                  <a:lnTo>
                    <a:pt x="29703" y="2556127"/>
                  </a:lnTo>
                  <a:lnTo>
                    <a:pt x="3885" y="2520087"/>
                  </a:lnTo>
                  <a:lnTo>
                    <a:pt x="0" y="2500552"/>
                  </a:lnTo>
                  <a:lnTo>
                    <a:pt x="0" y="2495549"/>
                  </a:lnTo>
                  <a:lnTo>
                    <a:pt x="0" y="53397"/>
                  </a:lnTo>
                  <a:lnTo>
                    <a:pt x="18779" y="19392"/>
                  </a:lnTo>
                  <a:lnTo>
                    <a:pt x="56426" y="1830"/>
                  </a:lnTo>
                  <a:lnTo>
                    <a:pt x="71196" y="0"/>
                  </a:lnTo>
                  <a:lnTo>
                    <a:pt x="3434003" y="0"/>
                  </a:lnTo>
                  <a:lnTo>
                    <a:pt x="3475492" y="11716"/>
                  </a:lnTo>
                  <a:lnTo>
                    <a:pt x="3502757" y="42319"/>
                  </a:lnTo>
                  <a:lnTo>
                    <a:pt x="3505199" y="53397"/>
                  </a:lnTo>
                  <a:lnTo>
                    <a:pt x="3505199" y="2500552"/>
                  </a:lnTo>
                  <a:lnTo>
                    <a:pt x="3489576" y="2542044"/>
                  </a:lnTo>
                  <a:lnTo>
                    <a:pt x="3453537" y="2567863"/>
                  </a:lnTo>
                  <a:lnTo>
                    <a:pt x="3438957" y="2571261"/>
                  </a:lnTo>
                  <a:lnTo>
                    <a:pt x="3434003" y="257174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77477" y="1483891"/>
              <a:ext cx="3505200" cy="70485"/>
            </a:xfrm>
            <a:custGeom>
              <a:avLst/>
              <a:gdLst/>
              <a:ahLst/>
              <a:cxnLst/>
              <a:rect l="l" t="t" r="r" b="b"/>
              <a:pathLst>
                <a:path w="3505200" h="70485">
                  <a:moveTo>
                    <a:pt x="0" y="70450"/>
                  </a:moveTo>
                  <a:lnTo>
                    <a:pt x="12551" y="33857"/>
                  </a:lnTo>
                  <a:lnTo>
                    <a:pt x="46760" y="5800"/>
                  </a:lnTo>
                  <a:lnTo>
                    <a:pt x="75922" y="0"/>
                  </a:lnTo>
                  <a:lnTo>
                    <a:pt x="3428722" y="0"/>
                  </a:lnTo>
                  <a:lnTo>
                    <a:pt x="3471063" y="12829"/>
                  </a:lnTo>
                  <a:lnTo>
                    <a:pt x="3494630" y="38099"/>
                  </a:lnTo>
                  <a:lnTo>
                    <a:pt x="75922" y="38099"/>
                  </a:lnTo>
                  <a:lnTo>
                    <a:pt x="68415" y="38281"/>
                  </a:lnTo>
                  <a:lnTo>
                    <a:pt x="27604" y="46733"/>
                  </a:lnTo>
                  <a:lnTo>
                    <a:pt x="1654" y="66287"/>
                  </a:lnTo>
                  <a:lnTo>
                    <a:pt x="0" y="70450"/>
                  </a:lnTo>
                  <a:close/>
                </a:path>
                <a:path w="3505200" h="70485">
                  <a:moveTo>
                    <a:pt x="3504644" y="70450"/>
                  </a:moveTo>
                  <a:lnTo>
                    <a:pt x="3471063" y="44515"/>
                  </a:lnTo>
                  <a:lnTo>
                    <a:pt x="3428722" y="38099"/>
                  </a:lnTo>
                  <a:lnTo>
                    <a:pt x="3494630" y="38099"/>
                  </a:lnTo>
                  <a:lnTo>
                    <a:pt x="3504559" y="68693"/>
                  </a:lnTo>
                  <a:lnTo>
                    <a:pt x="3504644" y="70450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67699" y="171249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42874" y="380999"/>
                  </a:moveTo>
                  <a:lnTo>
                    <a:pt x="101399" y="374849"/>
                  </a:lnTo>
                  <a:lnTo>
                    <a:pt x="63496" y="356921"/>
                  </a:lnTo>
                  <a:lnTo>
                    <a:pt x="32428" y="328764"/>
                  </a:lnTo>
                  <a:lnTo>
                    <a:pt x="10874" y="292800"/>
                  </a:lnTo>
                  <a:lnTo>
                    <a:pt x="685" y="252129"/>
                  </a:lnTo>
                  <a:lnTo>
                    <a:pt x="0" y="238124"/>
                  </a:lnTo>
                  <a:lnTo>
                    <a:pt x="0" y="142874"/>
                  </a:lnTo>
                  <a:lnTo>
                    <a:pt x="6149" y="101399"/>
                  </a:lnTo>
                  <a:lnTo>
                    <a:pt x="24077" y="63497"/>
                  </a:lnTo>
                  <a:lnTo>
                    <a:pt x="52233" y="32429"/>
                  </a:lnTo>
                  <a:lnTo>
                    <a:pt x="88197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0999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749" y="238124"/>
                  </a:lnTo>
                  <a:lnTo>
                    <a:pt x="279598" y="279599"/>
                  </a:lnTo>
                  <a:lnTo>
                    <a:pt x="261670" y="317501"/>
                  </a:lnTo>
                  <a:lnTo>
                    <a:pt x="233514" y="348570"/>
                  </a:lnTo>
                  <a:lnTo>
                    <a:pt x="197549" y="370123"/>
                  </a:lnTo>
                  <a:lnTo>
                    <a:pt x="156879" y="380313"/>
                  </a:lnTo>
                  <a:lnTo>
                    <a:pt x="142874" y="380999"/>
                  </a:lnTo>
                  <a:close/>
                </a:path>
              </a:pathLst>
            </a:custGeom>
            <a:solidFill>
              <a:srgbClr val="7C2D1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43900" y="1817265"/>
              <a:ext cx="133349" cy="15239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711699" y="2204616"/>
            <a:ext cx="26752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85" dirty="0">
                <a:solidFill>
                  <a:srgbClr val="FFFFFF"/>
                </a:solidFill>
                <a:latin typeface="Trebuchet MS"/>
                <a:cs typeface="Trebuchet MS"/>
              </a:rPr>
              <a:t>Database</a:t>
            </a:r>
            <a:r>
              <a:rPr sz="105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connection</a:t>
            </a:r>
            <a:r>
              <a:rPr sz="105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FFFFFF"/>
                </a:solidFill>
                <a:latin typeface="Trebuchet MS"/>
                <a:cs typeface="Trebuchet MS"/>
              </a:rPr>
              <a:t>issues</a:t>
            </a:r>
            <a:r>
              <a:rPr sz="105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(June</a:t>
            </a:r>
            <a:r>
              <a:rPr sz="105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9-</a:t>
            </a:r>
            <a:r>
              <a:rPr sz="1050" spc="45" dirty="0">
                <a:solidFill>
                  <a:srgbClr val="FFFFFF"/>
                </a:solidFill>
                <a:latin typeface="Trebuchet MS"/>
                <a:cs typeface="Trebuchet MS"/>
              </a:rPr>
              <a:t>10)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30749" y="2478936"/>
            <a:ext cx="237617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Team</a:t>
            </a:r>
            <a:r>
              <a:rPr sz="105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meeting</a:t>
            </a:r>
            <a:r>
              <a:rPr sz="105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050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FFFFFF"/>
                </a:solidFill>
                <a:latin typeface="Trebuchet MS"/>
                <a:cs typeface="Trebuchet MS"/>
              </a:rPr>
              <a:t>address </a:t>
            </a:r>
            <a:r>
              <a:rPr sz="1050" spc="60" dirty="0">
                <a:solidFill>
                  <a:srgbClr val="FFFFFF"/>
                </a:solidFill>
                <a:latin typeface="Trebuchet MS"/>
                <a:cs typeface="Trebuchet MS"/>
              </a:rPr>
              <a:t>database </a:t>
            </a:r>
            <a:r>
              <a:rPr sz="1050" spc="65" dirty="0">
                <a:solidFill>
                  <a:srgbClr val="FFFFFF"/>
                </a:solidFill>
                <a:latin typeface="Trebuchet MS"/>
                <a:cs typeface="Trebuchet MS"/>
              </a:rPr>
              <a:t>problems</a:t>
            </a:r>
            <a:r>
              <a:rPr sz="1050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(June</a:t>
            </a:r>
            <a:r>
              <a:rPr sz="1050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11)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68849" y="2974236"/>
            <a:ext cx="248539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Meeting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05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FFFFFF"/>
                </a:solidFill>
                <a:latin typeface="Trebuchet MS"/>
                <a:cs typeface="Trebuchet MS"/>
              </a:rPr>
              <a:t>Noah</a:t>
            </a:r>
            <a:r>
              <a:rPr sz="105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050" spc="75" dirty="0">
                <a:solidFill>
                  <a:srgbClr val="FFFFFF"/>
                </a:solidFill>
                <a:latin typeface="Trebuchet MS"/>
                <a:cs typeface="Trebuchet MS"/>
              </a:rPr>
              <a:t> discuss </a:t>
            </a:r>
            <a:r>
              <a:rPr sz="1050" spc="100" dirty="0">
                <a:solidFill>
                  <a:srgbClr val="FFFFFF"/>
                </a:solidFill>
                <a:latin typeface="Trebuchet MS"/>
                <a:cs typeface="Trebuchet MS"/>
              </a:rPr>
              <a:t>MySQL </a:t>
            </a:r>
            <a:r>
              <a:rPr sz="1050" spc="85" dirty="0">
                <a:solidFill>
                  <a:srgbClr val="FFFFFF"/>
                </a:solidFill>
                <a:latin typeface="Trebuchet MS"/>
                <a:cs typeface="Trebuchet MS"/>
              </a:rPr>
              <a:t>issues</a:t>
            </a: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(June</a:t>
            </a:r>
            <a:r>
              <a:rPr sz="1050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12)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30749" y="3469535"/>
            <a:ext cx="25812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Resolved</a:t>
            </a:r>
            <a:r>
              <a:rPr sz="105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IP</a:t>
            </a:r>
            <a:r>
              <a:rPr sz="105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FFFFFF"/>
                </a:solidFill>
                <a:latin typeface="Trebuchet MS"/>
                <a:cs typeface="Trebuchet MS"/>
              </a:rPr>
              <a:t>address</a:t>
            </a:r>
            <a:r>
              <a:rPr sz="105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permissions</a:t>
            </a:r>
            <a:r>
              <a:rPr sz="105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FFFFFF"/>
                </a:solidFill>
                <a:latin typeface="Trebuchet MS"/>
                <a:cs typeface="Trebuchet MS"/>
              </a:rPr>
              <a:t>issue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(June</a:t>
            </a:r>
            <a:r>
              <a:rPr sz="105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13)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55050" y="1785516"/>
            <a:ext cx="1420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6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35" dirty="0">
                <a:solidFill>
                  <a:srgbClr val="FFFFFF"/>
                </a:solidFill>
                <a:latin typeface="Trebuchet MS"/>
                <a:cs typeface="Trebuchet MS"/>
              </a:rPr>
              <a:t>Processing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09599" y="2245890"/>
            <a:ext cx="10972800" cy="3429278"/>
            <a:chOff x="609599" y="2245890"/>
            <a:chExt cx="10972800" cy="3429278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67699" y="2245890"/>
              <a:ext cx="133349" cy="13334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67699" y="2703090"/>
              <a:ext cx="133349" cy="13334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67699" y="2969790"/>
              <a:ext cx="133349" cy="13334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67699" y="3236490"/>
              <a:ext cx="133349" cy="13334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28649" y="4303290"/>
              <a:ext cx="10953750" cy="1371600"/>
            </a:xfrm>
            <a:custGeom>
              <a:avLst/>
              <a:gdLst/>
              <a:ahLst/>
              <a:cxnLst/>
              <a:rect l="l" t="t" r="r" b="b"/>
              <a:pathLst>
                <a:path w="10953750" h="1371600">
                  <a:moveTo>
                    <a:pt x="10882552" y="1371599"/>
                  </a:moveTo>
                  <a:lnTo>
                    <a:pt x="53397" y="1371599"/>
                  </a:lnTo>
                  <a:lnTo>
                    <a:pt x="49680" y="1371111"/>
                  </a:lnTo>
                  <a:lnTo>
                    <a:pt x="14085" y="1345743"/>
                  </a:lnTo>
                  <a:lnTo>
                    <a:pt x="366" y="1305357"/>
                  </a:lnTo>
                  <a:lnTo>
                    <a:pt x="0" y="1300403"/>
                  </a:lnTo>
                  <a:lnTo>
                    <a:pt x="0" y="12953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10882552" y="0"/>
                  </a:lnTo>
                  <a:lnTo>
                    <a:pt x="10924041" y="15621"/>
                  </a:lnTo>
                  <a:lnTo>
                    <a:pt x="10949861" y="51661"/>
                  </a:lnTo>
                  <a:lnTo>
                    <a:pt x="10953747" y="71196"/>
                  </a:lnTo>
                  <a:lnTo>
                    <a:pt x="10953747" y="1300403"/>
                  </a:lnTo>
                  <a:lnTo>
                    <a:pt x="10938125" y="1341894"/>
                  </a:lnTo>
                  <a:lnTo>
                    <a:pt x="10902086" y="1367713"/>
                  </a:lnTo>
                  <a:lnTo>
                    <a:pt x="10887506" y="1371111"/>
                  </a:lnTo>
                  <a:lnTo>
                    <a:pt x="10882552" y="13715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09599" y="4303568"/>
              <a:ext cx="70485" cy="1371600"/>
            </a:xfrm>
            <a:custGeom>
              <a:avLst/>
              <a:gdLst/>
              <a:ahLst/>
              <a:cxnLst/>
              <a:rect l="l" t="t" r="r" b="b"/>
              <a:pathLst>
                <a:path w="70484" h="1371600">
                  <a:moveTo>
                    <a:pt x="70450" y="1371044"/>
                  </a:moveTo>
                  <a:lnTo>
                    <a:pt x="33857" y="1358491"/>
                  </a:lnTo>
                  <a:lnTo>
                    <a:pt x="5800" y="1324282"/>
                  </a:lnTo>
                  <a:lnTo>
                    <a:pt x="0" y="12951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295122"/>
                  </a:lnTo>
                  <a:lnTo>
                    <a:pt x="44514" y="1337464"/>
                  </a:lnTo>
                  <a:lnTo>
                    <a:pt x="66287" y="1369388"/>
                  </a:lnTo>
                  <a:lnTo>
                    <a:pt x="70450" y="137104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8199" y="453189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42874" y="380999"/>
                  </a:moveTo>
                  <a:lnTo>
                    <a:pt x="101399" y="374848"/>
                  </a:lnTo>
                  <a:lnTo>
                    <a:pt x="63497" y="356920"/>
                  </a:lnTo>
                  <a:lnTo>
                    <a:pt x="32429" y="328764"/>
                  </a:lnTo>
                  <a:lnTo>
                    <a:pt x="10875" y="292800"/>
                  </a:lnTo>
                  <a:lnTo>
                    <a:pt x="686" y="252129"/>
                  </a:lnTo>
                  <a:lnTo>
                    <a:pt x="0" y="238124"/>
                  </a:lnTo>
                  <a:lnTo>
                    <a:pt x="0" y="142874"/>
                  </a:lnTo>
                  <a:lnTo>
                    <a:pt x="6150" y="101398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9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8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749" y="238124"/>
                  </a:lnTo>
                  <a:lnTo>
                    <a:pt x="279599" y="279599"/>
                  </a:lnTo>
                  <a:lnTo>
                    <a:pt x="261671" y="317502"/>
                  </a:lnTo>
                  <a:lnTo>
                    <a:pt x="233514" y="348569"/>
                  </a:lnTo>
                  <a:lnTo>
                    <a:pt x="197550" y="370123"/>
                  </a:lnTo>
                  <a:lnTo>
                    <a:pt x="156879" y="380313"/>
                  </a:lnTo>
                  <a:lnTo>
                    <a:pt x="142874" y="380999"/>
                  </a:lnTo>
                  <a:close/>
                </a:path>
              </a:pathLst>
            </a:custGeom>
            <a:solidFill>
              <a:srgbClr val="13532D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4399" y="4636665"/>
              <a:ext cx="133349" cy="152399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8464550" y="2174136"/>
            <a:ext cx="2872740" cy="11647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07390">
              <a:lnSpc>
                <a:spcPct val="119000"/>
              </a:lnSpc>
              <a:spcBef>
                <a:spcPts val="100"/>
              </a:spcBef>
            </a:pPr>
            <a:r>
              <a:rPr sz="1050" spc="75" dirty="0">
                <a:solidFill>
                  <a:srgbClr val="FFFFFF"/>
                </a:solidFill>
                <a:latin typeface="Trebuchet MS"/>
                <a:cs typeface="Trebuchet MS"/>
              </a:rPr>
              <a:t>Setup</a:t>
            </a:r>
            <a:r>
              <a:rPr sz="105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105" dirty="0">
                <a:solidFill>
                  <a:srgbClr val="FFFFFF"/>
                </a:solidFill>
                <a:latin typeface="Trebuchet MS"/>
                <a:cs typeface="Trebuchet MS"/>
              </a:rPr>
              <a:t>SQL</a:t>
            </a:r>
            <a:r>
              <a:rPr sz="10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Workbench</a:t>
            </a:r>
            <a:r>
              <a:rPr sz="10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FFFFFF"/>
                </a:solidFill>
                <a:latin typeface="Trebuchet MS"/>
                <a:cs typeface="Trebuchet MS"/>
              </a:rPr>
              <a:t>database </a:t>
            </a:r>
            <a:r>
              <a:rPr sz="1050" spc="50" dirty="0">
                <a:solidFill>
                  <a:srgbClr val="FFFFFF"/>
                </a:solidFill>
                <a:latin typeface="Trebuchet MS"/>
                <a:cs typeface="Trebuchet MS"/>
              </a:rPr>
              <a:t>environment</a:t>
            </a:r>
            <a:endParaRPr sz="10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Imported</a:t>
            </a:r>
            <a:r>
              <a:rPr sz="105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r>
              <a:rPr sz="105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05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105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three</a:t>
            </a:r>
            <a:r>
              <a:rPr sz="105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45" dirty="0">
                <a:solidFill>
                  <a:srgbClr val="FFFFFF"/>
                </a:solidFill>
                <a:latin typeface="Trebuchet MS"/>
                <a:cs typeface="Trebuchet MS"/>
              </a:rPr>
              <a:t>tables</a:t>
            </a:r>
            <a:endParaRPr sz="1050" dirty="0">
              <a:latin typeface="Trebuchet MS"/>
              <a:cs typeface="Trebuchet MS"/>
            </a:endParaRPr>
          </a:p>
          <a:p>
            <a:pPr marL="12700" marR="5080">
              <a:lnSpc>
                <a:spcPct val="166700"/>
              </a:lnSpc>
            </a:pP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Matched</a:t>
            </a:r>
            <a:r>
              <a:rPr sz="105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FFFFFF"/>
                </a:solidFill>
                <a:latin typeface="Trebuchet MS"/>
                <a:cs typeface="Trebuchet MS"/>
              </a:rPr>
              <a:t>training</a:t>
            </a:r>
            <a:r>
              <a:rPr sz="105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05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1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05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10" dirty="0">
                <a:solidFill>
                  <a:srgbClr val="FFFFFF"/>
                </a:solidFill>
                <a:latin typeface="Trebuchet MS"/>
                <a:cs typeface="Trebuchet MS"/>
              </a:rPr>
              <a:t>velocity</a:t>
            </a:r>
            <a:r>
              <a:rPr sz="105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FFFFFF"/>
                </a:solidFill>
                <a:latin typeface="Trebuchet MS"/>
                <a:cs typeface="Trebuchet MS"/>
              </a:rPr>
              <a:t>analysis </a:t>
            </a: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Created</a:t>
            </a:r>
            <a:r>
              <a:rPr sz="105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0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FFFFFF"/>
                </a:solidFill>
                <a:latin typeface="Trebuchet MS"/>
                <a:cs typeface="Trebuchet MS"/>
              </a:rPr>
              <a:t>uploaded</a:t>
            </a:r>
            <a:r>
              <a:rPr sz="105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100" dirty="0">
                <a:solidFill>
                  <a:srgbClr val="FFFFFF"/>
                </a:solidFill>
                <a:latin typeface="Trebuchet MS"/>
                <a:cs typeface="Trebuchet MS"/>
              </a:rPr>
              <a:t>summary</a:t>
            </a:r>
            <a:r>
              <a:rPr sz="10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table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25549" y="4490616"/>
            <a:ext cx="9756140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Current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45" dirty="0">
                <a:solidFill>
                  <a:srgbClr val="FFFFFF"/>
                </a:solidFill>
                <a:latin typeface="Trebuchet MS"/>
                <a:cs typeface="Trebuchet MS"/>
              </a:rPr>
              <a:t>Status</a:t>
            </a:r>
            <a:endParaRPr sz="1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200" spc="120" dirty="0">
                <a:solidFill>
                  <a:srgbClr val="D0D5DA"/>
                </a:solidFill>
                <a:latin typeface="Trebuchet MS"/>
                <a:cs typeface="Trebuchet MS"/>
              </a:rPr>
              <a:t>As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of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D0D5DA"/>
                </a:solidFill>
                <a:latin typeface="Trebuchet MS"/>
                <a:cs typeface="Trebuchet MS"/>
              </a:rPr>
              <a:t>JULY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80" dirty="0">
                <a:solidFill>
                  <a:srgbClr val="D0D5DA"/>
                </a:solidFill>
                <a:latin typeface="Trebuchet MS"/>
                <a:cs typeface="Trebuchet MS"/>
              </a:rPr>
              <a:t>31ST,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the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project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14" dirty="0">
                <a:solidFill>
                  <a:srgbClr val="D0D5DA"/>
                </a:solidFill>
                <a:latin typeface="Trebuchet MS"/>
                <a:cs typeface="Trebuchet MS"/>
              </a:rPr>
              <a:t>has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completed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the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processing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phase,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with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all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three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test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80" dirty="0">
                <a:solidFill>
                  <a:srgbClr val="D0D5DA"/>
                </a:solidFill>
                <a:latin typeface="Trebuchet MS"/>
                <a:cs typeface="Trebuchet MS"/>
              </a:rPr>
              <a:t>scenarios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(pull_down,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bull_pen,</a:t>
            </a:r>
            <a:r>
              <a:rPr sz="12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endParaRPr sz="1200" dirty="0">
              <a:latin typeface="Trebuchet MS"/>
              <a:cs typeface="Trebuchet MS"/>
            </a:endParaRPr>
          </a:p>
          <a:p>
            <a:pPr marL="12700" marR="5080">
              <a:lnSpc>
                <a:spcPct val="125000"/>
              </a:lnSpc>
            </a:pP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plyo_testing)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integrated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into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5" dirty="0">
                <a:solidFill>
                  <a:srgbClr val="D0D5DA"/>
                </a:solidFill>
                <a:latin typeface="Trebuchet MS"/>
                <a:cs typeface="Trebuchet MS"/>
              </a:rPr>
              <a:t>a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unified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14" dirty="0">
                <a:solidFill>
                  <a:srgbClr val="D0D5DA"/>
                </a:solidFill>
                <a:latin typeface="Trebuchet MS"/>
                <a:cs typeface="Trebuchet MS"/>
              </a:rPr>
              <a:t>summary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table.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D0D5DA"/>
                </a:solidFill>
                <a:latin typeface="Trebuchet MS"/>
                <a:cs typeface="Trebuchet MS"/>
              </a:rPr>
              <a:t>The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team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is 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now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prepared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to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implement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the</a:t>
            </a:r>
            <a:r>
              <a:rPr sz="1200" spc="7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final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D0D5DA"/>
                </a:solidFill>
                <a:latin typeface="Trebuchet MS"/>
                <a:cs typeface="Trebuchet MS"/>
              </a:rPr>
              <a:t>pipeline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D0D5DA"/>
                </a:solidFill>
                <a:latin typeface="Trebuchet MS"/>
                <a:cs typeface="Trebuchet MS"/>
              </a:rPr>
              <a:t>to</a:t>
            </a:r>
            <a:r>
              <a:rPr sz="12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45" dirty="0">
                <a:solidFill>
                  <a:srgbClr val="D0D5DA"/>
                </a:solidFill>
                <a:latin typeface="Trebuchet MS"/>
                <a:cs typeface="Trebuchet MS"/>
              </a:rPr>
              <a:t>Looker </a:t>
            </a:r>
            <a:r>
              <a:rPr sz="1200" spc="75" dirty="0">
                <a:solidFill>
                  <a:srgbClr val="D0D5DA"/>
                </a:solidFill>
                <a:latin typeface="Trebuchet MS"/>
                <a:cs typeface="Trebuchet MS"/>
              </a:rPr>
              <a:t>Studio</a:t>
            </a:r>
            <a:r>
              <a:rPr sz="12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10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2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D0D5DA"/>
                </a:solidFill>
                <a:latin typeface="Trebuchet MS"/>
                <a:cs typeface="Trebuchet MS"/>
              </a:rPr>
              <a:t>begin</a:t>
            </a:r>
            <a:r>
              <a:rPr sz="1200" spc="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90" dirty="0">
                <a:solidFill>
                  <a:srgbClr val="D0D5DA"/>
                </a:solidFill>
                <a:latin typeface="Trebuchet MS"/>
                <a:cs typeface="Trebuchet MS"/>
              </a:rPr>
              <a:t>dashboard</a:t>
            </a:r>
            <a:r>
              <a:rPr sz="12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D0D5DA"/>
                </a:solidFill>
                <a:latin typeface="Trebuchet MS"/>
                <a:cs typeface="Trebuchet MS"/>
              </a:rPr>
              <a:t>development.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09599" y="1466850"/>
            <a:ext cx="10972800" cy="4933950"/>
            <a:chOff x="609599" y="1466850"/>
            <a:chExt cx="10972800" cy="4933950"/>
          </a:xfrm>
        </p:grpSpPr>
        <p:sp>
          <p:nvSpPr>
            <p:cNvPr id="53" name="object 53"/>
            <p:cNvSpPr/>
            <p:nvPr/>
          </p:nvSpPr>
          <p:spPr>
            <a:xfrm>
              <a:off x="609599" y="5979690"/>
              <a:ext cx="304800" cy="38100"/>
            </a:xfrm>
            <a:custGeom>
              <a:avLst/>
              <a:gdLst/>
              <a:ahLst/>
              <a:cxnLst/>
              <a:rect l="l" t="t" r="r" b="b"/>
              <a:pathLst>
                <a:path w="304800" h="38100">
                  <a:moveTo>
                    <a:pt x="3047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809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9599" y="1140990"/>
              <a:ext cx="10972800" cy="38100"/>
            </a:xfrm>
            <a:custGeom>
              <a:avLst/>
              <a:gdLst/>
              <a:ahLst/>
              <a:cxnLst/>
              <a:rect l="l" t="t" r="r" b="b"/>
              <a:pathLst>
                <a:path w="10972800" h="38100">
                  <a:moveTo>
                    <a:pt x="109727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0972799" y="0"/>
                  </a:lnTo>
                  <a:lnTo>
                    <a:pt x="10972799" y="3809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9599" y="1083841"/>
              <a:ext cx="152400" cy="15239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67199" y="1083841"/>
              <a:ext cx="152400" cy="15239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24799" y="1083841"/>
              <a:ext cx="152400" cy="15239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29997" y="1083841"/>
              <a:ext cx="152401" cy="15239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09599" y="1150515"/>
              <a:ext cx="10972800" cy="19050"/>
            </a:xfrm>
            <a:custGeom>
              <a:avLst/>
              <a:gdLst/>
              <a:ahLst/>
              <a:cxnLst/>
              <a:rect l="l" t="t" r="r" b="b"/>
              <a:pathLst>
                <a:path w="10972800" h="19050">
                  <a:moveTo>
                    <a:pt x="109727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0972799" y="0"/>
                  </a:lnTo>
                  <a:lnTo>
                    <a:pt x="10972799" y="19049"/>
                  </a:lnTo>
                  <a:close/>
                </a:path>
              </a:pathLst>
            </a:custGeom>
            <a:solidFill>
              <a:srgbClr val="2ECC7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77900" y="5900315"/>
            <a:ext cx="43916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65" dirty="0">
                <a:solidFill>
                  <a:srgbClr val="9CA2AF"/>
                </a:solidFill>
                <a:latin typeface="Trebuchet MS"/>
                <a:cs typeface="Trebuchet MS"/>
              </a:rPr>
              <a:t>Automated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10" dirty="0">
                <a:solidFill>
                  <a:srgbClr val="9CA2AF"/>
                </a:solidFill>
                <a:latin typeface="Trebuchet MS"/>
                <a:cs typeface="Trebuchet MS"/>
              </a:rPr>
              <a:t>Player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10" dirty="0">
                <a:solidFill>
                  <a:srgbClr val="9CA2AF"/>
                </a:solidFill>
                <a:latin typeface="Trebuchet MS"/>
                <a:cs typeface="Trebuchet MS"/>
              </a:rPr>
              <a:t>Tracking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9CA2AF"/>
                </a:solidFill>
                <a:latin typeface="Trebuchet MS"/>
                <a:cs typeface="Trebuchet MS"/>
              </a:rPr>
              <a:t>&amp;</a:t>
            </a:r>
            <a:r>
              <a:rPr sz="105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9CA2AF"/>
                </a:solidFill>
                <a:latin typeface="Trebuchet MS"/>
                <a:cs typeface="Trebuchet MS"/>
              </a:rPr>
              <a:t>Reporting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95" dirty="0">
                <a:solidFill>
                  <a:srgbClr val="9CA2AF"/>
                </a:solidFill>
                <a:latin typeface="Trebuchet MS"/>
                <a:cs typeface="Trebuchet MS"/>
              </a:rPr>
              <a:t>System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9CA2AF"/>
                </a:solidFill>
                <a:latin typeface="Trebuchet MS"/>
                <a:cs typeface="Trebuchet MS"/>
              </a:rPr>
              <a:t>via</a:t>
            </a:r>
            <a:r>
              <a:rPr sz="105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Looker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Studio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689208" y="6081290"/>
            <a:ext cx="3251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FFFFFF"/>
                </a:solidFill>
                <a:latin typeface="Trebuchet MS"/>
                <a:cs typeface="Trebuchet MS"/>
              </a:rPr>
              <a:t>4/11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2065" y="4821"/>
            <a:ext cx="12058650" cy="6849109"/>
            <a:chOff x="0" y="0"/>
            <a:chExt cx="12058650" cy="68491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058021" cy="68485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2901" y="621741"/>
              <a:ext cx="452755" cy="38100"/>
            </a:xfrm>
            <a:custGeom>
              <a:avLst/>
              <a:gdLst/>
              <a:ahLst/>
              <a:cxnLst/>
              <a:rect l="l" t="t" r="r" b="b"/>
              <a:pathLst>
                <a:path w="452755" h="38100">
                  <a:moveTo>
                    <a:pt x="452175" y="37681"/>
                  </a:moveTo>
                  <a:lnTo>
                    <a:pt x="0" y="37681"/>
                  </a:lnTo>
                  <a:lnTo>
                    <a:pt x="0" y="0"/>
                  </a:lnTo>
                  <a:lnTo>
                    <a:pt x="452175" y="0"/>
                  </a:lnTo>
                  <a:lnTo>
                    <a:pt x="452175" y="37681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20"/>
              </a:spcBef>
            </a:pPr>
            <a:r>
              <a:rPr sz="2650" spc="375" dirty="0"/>
              <a:t>Data</a:t>
            </a:r>
            <a:r>
              <a:rPr sz="2650" spc="145" dirty="0"/>
              <a:t> </a:t>
            </a:r>
            <a:r>
              <a:rPr sz="2650" spc="335" dirty="0"/>
              <a:t>Processing</a:t>
            </a:r>
            <a:r>
              <a:rPr sz="2650" spc="150" dirty="0"/>
              <a:t> </a:t>
            </a:r>
            <a:r>
              <a:rPr sz="2650" spc="335" dirty="0"/>
              <a:t>Strategy</a:t>
            </a:r>
            <a:endParaRPr sz="2650"/>
          </a:p>
        </p:txBody>
      </p:sp>
      <p:grpSp>
        <p:nvGrpSpPr>
          <p:cNvPr id="6" name="object 6"/>
          <p:cNvGrpSpPr/>
          <p:nvPr/>
        </p:nvGrpSpPr>
        <p:grpSpPr>
          <a:xfrm>
            <a:off x="602901" y="1205802"/>
            <a:ext cx="3467100" cy="3730625"/>
            <a:chOff x="602901" y="1205802"/>
            <a:chExt cx="3467100" cy="3730625"/>
          </a:xfrm>
        </p:grpSpPr>
        <p:sp>
          <p:nvSpPr>
            <p:cNvPr id="7" name="object 7"/>
            <p:cNvSpPr/>
            <p:nvPr/>
          </p:nvSpPr>
          <p:spPr>
            <a:xfrm>
              <a:off x="621741" y="1620296"/>
              <a:ext cx="3448050" cy="1130935"/>
            </a:xfrm>
            <a:custGeom>
              <a:avLst/>
              <a:gdLst/>
              <a:ahLst/>
              <a:cxnLst/>
              <a:rect l="l" t="t" r="r" b="b"/>
              <a:pathLst>
                <a:path w="3448050" h="1130935">
                  <a:moveTo>
                    <a:pt x="3377426" y="1130439"/>
                  </a:moveTo>
                  <a:lnTo>
                    <a:pt x="52810" y="1130439"/>
                  </a:lnTo>
                  <a:lnTo>
                    <a:pt x="49135" y="1129956"/>
                  </a:lnTo>
                  <a:lnTo>
                    <a:pt x="13930" y="1104867"/>
                  </a:lnTo>
                  <a:lnTo>
                    <a:pt x="362" y="1064926"/>
                  </a:lnTo>
                  <a:lnTo>
                    <a:pt x="0" y="1060025"/>
                  </a:lnTo>
                  <a:lnTo>
                    <a:pt x="0" y="1055076"/>
                  </a:lnTo>
                  <a:lnTo>
                    <a:pt x="0" y="70414"/>
                  </a:lnTo>
                  <a:lnTo>
                    <a:pt x="11587" y="29378"/>
                  </a:lnTo>
                  <a:lnTo>
                    <a:pt x="41855" y="2413"/>
                  </a:lnTo>
                  <a:lnTo>
                    <a:pt x="52810" y="0"/>
                  </a:lnTo>
                  <a:lnTo>
                    <a:pt x="3377426" y="0"/>
                  </a:lnTo>
                  <a:lnTo>
                    <a:pt x="3418460" y="15449"/>
                  </a:lnTo>
                  <a:lnTo>
                    <a:pt x="3443996" y="51094"/>
                  </a:lnTo>
                  <a:lnTo>
                    <a:pt x="3447840" y="70414"/>
                  </a:lnTo>
                  <a:lnTo>
                    <a:pt x="3447840" y="1060025"/>
                  </a:lnTo>
                  <a:lnTo>
                    <a:pt x="3432389" y="1101060"/>
                  </a:lnTo>
                  <a:lnTo>
                    <a:pt x="3396745" y="1126596"/>
                  </a:lnTo>
                  <a:lnTo>
                    <a:pt x="3382326" y="1129956"/>
                  </a:lnTo>
                  <a:lnTo>
                    <a:pt x="3377426" y="113043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2901" y="1620571"/>
              <a:ext cx="69850" cy="1130300"/>
            </a:xfrm>
            <a:custGeom>
              <a:avLst/>
              <a:gdLst/>
              <a:ahLst/>
              <a:cxnLst/>
              <a:rect l="l" t="t" r="r" b="b"/>
              <a:pathLst>
                <a:path w="69850" h="1130300">
                  <a:moveTo>
                    <a:pt x="69675" y="1129890"/>
                  </a:moveTo>
                  <a:lnTo>
                    <a:pt x="33485" y="1117475"/>
                  </a:lnTo>
                  <a:lnTo>
                    <a:pt x="5736" y="1083641"/>
                  </a:lnTo>
                  <a:lnTo>
                    <a:pt x="0" y="1054802"/>
                  </a:lnTo>
                  <a:lnTo>
                    <a:pt x="0" y="75087"/>
                  </a:lnTo>
                  <a:lnTo>
                    <a:pt x="12688" y="33210"/>
                  </a:lnTo>
                  <a:lnTo>
                    <a:pt x="46522" y="5461"/>
                  </a:lnTo>
                  <a:lnTo>
                    <a:pt x="69675" y="0"/>
                  </a:lnTo>
                  <a:lnTo>
                    <a:pt x="65559" y="1637"/>
                  </a:lnTo>
                  <a:lnTo>
                    <a:pt x="56326" y="9286"/>
                  </a:lnTo>
                  <a:lnTo>
                    <a:pt x="40549" y="46247"/>
                  </a:lnTo>
                  <a:lnTo>
                    <a:pt x="37681" y="75087"/>
                  </a:lnTo>
                  <a:lnTo>
                    <a:pt x="37681" y="1054802"/>
                  </a:lnTo>
                  <a:lnTo>
                    <a:pt x="44025" y="1096678"/>
                  </a:lnTo>
                  <a:lnTo>
                    <a:pt x="65559" y="1128252"/>
                  </a:lnTo>
                  <a:lnTo>
                    <a:pt x="69675" y="1129890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1741" y="2901461"/>
              <a:ext cx="3448050" cy="942340"/>
            </a:xfrm>
            <a:custGeom>
              <a:avLst/>
              <a:gdLst/>
              <a:ahLst/>
              <a:cxnLst/>
              <a:rect l="l" t="t" r="r" b="b"/>
              <a:pathLst>
                <a:path w="3448050" h="942339">
                  <a:moveTo>
                    <a:pt x="3377426" y="942032"/>
                  </a:moveTo>
                  <a:lnTo>
                    <a:pt x="52810" y="942032"/>
                  </a:lnTo>
                  <a:lnTo>
                    <a:pt x="49135" y="941549"/>
                  </a:lnTo>
                  <a:lnTo>
                    <a:pt x="13930" y="916460"/>
                  </a:lnTo>
                  <a:lnTo>
                    <a:pt x="362" y="876518"/>
                  </a:lnTo>
                  <a:lnTo>
                    <a:pt x="0" y="871618"/>
                  </a:lnTo>
                  <a:lnTo>
                    <a:pt x="0" y="866670"/>
                  </a:lnTo>
                  <a:lnTo>
                    <a:pt x="0" y="70413"/>
                  </a:lnTo>
                  <a:lnTo>
                    <a:pt x="11587" y="29378"/>
                  </a:lnTo>
                  <a:lnTo>
                    <a:pt x="41855" y="2412"/>
                  </a:lnTo>
                  <a:lnTo>
                    <a:pt x="52810" y="0"/>
                  </a:lnTo>
                  <a:lnTo>
                    <a:pt x="3377426" y="0"/>
                  </a:lnTo>
                  <a:lnTo>
                    <a:pt x="3418460" y="15449"/>
                  </a:lnTo>
                  <a:lnTo>
                    <a:pt x="3443996" y="51093"/>
                  </a:lnTo>
                  <a:lnTo>
                    <a:pt x="3447840" y="70413"/>
                  </a:lnTo>
                  <a:lnTo>
                    <a:pt x="3447840" y="871618"/>
                  </a:lnTo>
                  <a:lnTo>
                    <a:pt x="3432389" y="912653"/>
                  </a:lnTo>
                  <a:lnTo>
                    <a:pt x="3396745" y="938189"/>
                  </a:lnTo>
                  <a:lnTo>
                    <a:pt x="3382326" y="941549"/>
                  </a:lnTo>
                  <a:lnTo>
                    <a:pt x="3377426" y="942032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2901" y="2901735"/>
              <a:ext cx="69850" cy="941705"/>
            </a:xfrm>
            <a:custGeom>
              <a:avLst/>
              <a:gdLst/>
              <a:ahLst/>
              <a:cxnLst/>
              <a:rect l="l" t="t" r="r" b="b"/>
              <a:pathLst>
                <a:path w="69850" h="941704">
                  <a:moveTo>
                    <a:pt x="69675" y="941483"/>
                  </a:moveTo>
                  <a:lnTo>
                    <a:pt x="33485" y="929068"/>
                  </a:lnTo>
                  <a:lnTo>
                    <a:pt x="5736" y="895235"/>
                  </a:lnTo>
                  <a:lnTo>
                    <a:pt x="0" y="866395"/>
                  </a:lnTo>
                  <a:lnTo>
                    <a:pt x="0" y="75087"/>
                  </a:lnTo>
                  <a:lnTo>
                    <a:pt x="12688" y="33210"/>
                  </a:lnTo>
                  <a:lnTo>
                    <a:pt x="46522" y="5461"/>
                  </a:lnTo>
                  <a:lnTo>
                    <a:pt x="69675" y="0"/>
                  </a:lnTo>
                  <a:lnTo>
                    <a:pt x="65559" y="1637"/>
                  </a:lnTo>
                  <a:lnTo>
                    <a:pt x="56326" y="9286"/>
                  </a:lnTo>
                  <a:lnTo>
                    <a:pt x="40549" y="46247"/>
                  </a:lnTo>
                  <a:lnTo>
                    <a:pt x="37681" y="75087"/>
                  </a:lnTo>
                  <a:lnTo>
                    <a:pt x="37681" y="866395"/>
                  </a:lnTo>
                  <a:lnTo>
                    <a:pt x="44025" y="908271"/>
                  </a:lnTo>
                  <a:lnTo>
                    <a:pt x="65559" y="939845"/>
                  </a:lnTo>
                  <a:lnTo>
                    <a:pt x="69675" y="941483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1741" y="3994219"/>
              <a:ext cx="3448050" cy="942340"/>
            </a:xfrm>
            <a:custGeom>
              <a:avLst/>
              <a:gdLst/>
              <a:ahLst/>
              <a:cxnLst/>
              <a:rect l="l" t="t" r="r" b="b"/>
              <a:pathLst>
                <a:path w="3448050" h="942339">
                  <a:moveTo>
                    <a:pt x="3377426" y="942032"/>
                  </a:moveTo>
                  <a:lnTo>
                    <a:pt x="52810" y="942032"/>
                  </a:lnTo>
                  <a:lnTo>
                    <a:pt x="49135" y="941549"/>
                  </a:lnTo>
                  <a:lnTo>
                    <a:pt x="13930" y="916460"/>
                  </a:lnTo>
                  <a:lnTo>
                    <a:pt x="362" y="876519"/>
                  </a:lnTo>
                  <a:lnTo>
                    <a:pt x="0" y="871618"/>
                  </a:lnTo>
                  <a:lnTo>
                    <a:pt x="0" y="866670"/>
                  </a:lnTo>
                  <a:lnTo>
                    <a:pt x="0" y="70413"/>
                  </a:lnTo>
                  <a:lnTo>
                    <a:pt x="11587" y="29378"/>
                  </a:lnTo>
                  <a:lnTo>
                    <a:pt x="41855" y="2413"/>
                  </a:lnTo>
                  <a:lnTo>
                    <a:pt x="52810" y="0"/>
                  </a:lnTo>
                  <a:lnTo>
                    <a:pt x="3377426" y="0"/>
                  </a:lnTo>
                  <a:lnTo>
                    <a:pt x="3418460" y="15449"/>
                  </a:lnTo>
                  <a:lnTo>
                    <a:pt x="3443996" y="51093"/>
                  </a:lnTo>
                  <a:lnTo>
                    <a:pt x="3447840" y="70413"/>
                  </a:lnTo>
                  <a:lnTo>
                    <a:pt x="3447840" y="871618"/>
                  </a:lnTo>
                  <a:lnTo>
                    <a:pt x="3432389" y="912653"/>
                  </a:lnTo>
                  <a:lnTo>
                    <a:pt x="3396745" y="938189"/>
                  </a:lnTo>
                  <a:lnTo>
                    <a:pt x="3382326" y="941549"/>
                  </a:lnTo>
                  <a:lnTo>
                    <a:pt x="3377426" y="942032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2901" y="3994493"/>
              <a:ext cx="69850" cy="941705"/>
            </a:xfrm>
            <a:custGeom>
              <a:avLst/>
              <a:gdLst/>
              <a:ahLst/>
              <a:cxnLst/>
              <a:rect l="l" t="t" r="r" b="b"/>
              <a:pathLst>
                <a:path w="69850" h="941704">
                  <a:moveTo>
                    <a:pt x="69675" y="941483"/>
                  </a:moveTo>
                  <a:lnTo>
                    <a:pt x="33485" y="929068"/>
                  </a:lnTo>
                  <a:lnTo>
                    <a:pt x="5736" y="895235"/>
                  </a:lnTo>
                  <a:lnTo>
                    <a:pt x="0" y="866395"/>
                  </a:lnTo>
                  <a:lnTo>
                    <a:pt x="0" y="75087"/>
                  </a:lnTo>
                  <a:lnTo>
                    <a:pt x="12688" y="33210"/>
                  </a:lnTo>
                  <a:lnTo>
                    <a:pt x="46522" y="5461"/>
                  </a:lnTo>
                  <a:lnTo>
                    <a:pt x="69675" y="0"/>
                  </a:lnTo>
                  <a:lnTo>
                    <a:pt x="65559" y="1637"/>
                  </a:lnTo>
                  <a:lnTo>
                    <a:pt x="56326" y="9285"/>
                  </a:lnTo>
                  <a:lnTo>
                    <a:pt x="40549" y="46247"/>
                  </a:lnTo>
                  <a:lnTo>
                    <a:pt x="37681" y="75087"/>
                  </a:lnTo>
                  <a:lnTo>
                    <a:pt x="37681" y="866395"/>
                  </a:lnTo>
                  <a:lnTo>
                    <a:pt x="44025" y="908271"/>
                  </a:lnTo>
                  <a:lnTo>
                    <a:pt x="65559" y="939845"/>
                  </a:lnTo>
                  <a:lnTo>
                    <a:pt x="69675" y="941483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901" y="1205802"/>
              <a:ext cx="197826" cy="22608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91307" y="1771021"/>
              <a:ext cx="264160" cy="377190"/>
            </a:xfrm>
            <a:custGeom>
              <a:avLst/>
              <a:gdLst/>
              <a:ahLst/>
              <a:cxnLst/>
              <a:rect l="l" t="t" r="r" b="b"/>
              <a:pathLst>
                <a:path w="264159" h="377189">
                  <a:moveTo>
                    <a:pt x="131884" y="376813"/>
                  </a:moveTo>
                  <a:lnTo>
                    <a:pt x="93599" y="371135"/>
                  </a:lnTo>
                  <a:lnTo>
                    <a:pt x="58613" y="354586"/>
                  </a:lnTo>
                  <a:lnTo>
                    <a:pt x="29935" y="328596"/>
                  </a:lnTo>
                  <a:lnTo>
                    <a:pt x="10039" y="295398"/>
                  </a:lnTo>
                  <a:lnTo>
                    <a:pt x="633" y="257855"/>
                  </a:lnTo>
                  <a:lnTo>
                    <a:pt x="0" y="244928"/>
                  </a:lnTo>
                  <a:lnTo>
                    <a:pt x="0" y="131884"/>
                  </a:lnTo>
                  <a:lnTo>
                    <a:pt x="5677" y="93599"/>
                  </a:lnTo>
                  <a:lnTo>
                    <a:pt x="22226" y="58613"/>
                  </a:lnTo>
                  <a:lnTo>
                    <a:pt x="48216" y="29935"/>
                  </a:lnTo>
                  <a:lnTo>
                    <a:pt x="81414" y="10038"/>
                  </a:lnTo>
                  <a:lnTo>
                    <a:pt x="118957" y="633"/>
                  </a:lnTo>
                  <a:lnTo>
                    <a:pt x="131884" y="0"/>
                  </a:lnTo>
                  <a:lnTo>
                    <a:pt x="138363" y="158"/>
                  </a:lnTo>
                  <a:lnTo>
                    <a:pt x="176308" y="7705"/>
                  </a:lnTo>
                  <a:lnTo>
                    <a:pt x="210454" y="25957"/>
                  </a:lnTo>
                  <a:lnTo>
                    <a:pt x="237811" y="53313"/>
                  </a:lnTo>
                  <a:lnTo>
                    <a:pt x="256063" y="87460"/>
                  </a:lnTo>
                  <a:lnTo>
                    <a:pt x="263610" y="125405"/>
                  </a:lnTo>
                  <a:lnTo>
                    <a:pt x="263769" y="131884"/>
                  </a:lnTo>
                  <a:lnTo>
                    <a:pt x="263769" y="244928"/>
                  </a:lnTo>
                  <a:lnTo>
                    <a:pt x="258091" y="283212"/>
                  </a:lnTo>
                  <a:lnTo>
                    <a:pt x="241542" y="318199"/>
                  </a:lnTo>
                  <a:lnTo>
                    <a:pt x="215552" y="346877"/>
                  </a:lnTo>
                  <a:lnTo>
                    <a:pt x="182354" y="366773"/>
                  </a:lnTo>
                  <a:lnTo>
                    <a:pt x="144811" y="376179"/>
                  </a:lnTo>
                  <a:lnTo>
                    <a:pt x="131884" y="376813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670" y="1874645"/>
              <a:ext cx="113043" cy="15072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55420" y="1843104"/>
            <a:ext cx="154051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120" dirty="0">
                <a:solidFill>
                  <a:srgbClr val="FFFFFF"/>
                </a:solidFill>
                <a:latin typeface="Trebuchet MS"/>
                <a:cs typeface="Trebuchet MS"/>
              </a:rPr>
              <a:t>Pull</a:t>
            </a:r>
            <a:r>
              <a:rPr sz="115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90" dirty="0">
                <a:solidFill>
                  <a:srgbClr val="FFFFFF"/>
                </a:solidFill>
                <a:latin typeface="Trebuchet MS"/>
                <a:cs typeface="Trebuchet MS"/>
              </a:rPr>
              <a:t>Down</a:t>
            </a:r>
            <a:r>
              <a:rPr sz="115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20" dirty="0">
                <a:solidFill>
                  <a:srgbClr val="FFFFFF"/>
                </a:solidFill>
                <a:latin typeface="Trebuchet MS"/>
                <a:cs typeface="Trebuchet MS"/>
              </a:rPr>
              <a:t>Testing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8607" y="2189772"/>
            <a:ext cx="3137535" cy="402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3600"/>
              </a:lnSpc>
              <a:spcBef>
                <a:spcPts val="90"/>
              </a:spcBef>
            </a:pPr>
            <a:r>
              <a:rPr sz="1000" spc="95" dirty="0">
                <a:solidFill>
                  <a:srgbClr val="D0D5DA"/>
                </a:solidFill>
                <a:latin typeface="Trebuchet MS"/>
                <a:cs typeface="Trebuchet MS"/>
              </a:rPr>
              <a:t>Assists</a:t>
            </a:r>
            <a:r>
              <a:rPr sz="100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with</a:t>
            </a:r>
            <a:r>
              <a:rPr sz="100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100" dirty="0">
                <a:solidFill>
                  <a:srgbClr val="D0D5DA"/>
                </a:solidFill>
                <a:latin typeface="Trebuchet MS"/>
                <a:cs typeface="Trebuchet MS"/>
              </a:rPr>
              <a:t>measuring</a:t>
            </a:r>
            <a:r>
              <a:rPr sz="100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95" dirty="0">
                <a:solidFill>
                  <a:srgbClr val="D0D5DA"/>
                </a:solidFill>
                <a:latin typeface="Trebuchet MS"/>
                <a:cs typeface="Trebuchet MS"/>
              </a:rPr>
              <a:t>speed</a:t>
            </a:r>
            <a:r>
              <a:rPr sz="1000" spc="85" dirty="0">
                <a:solidFill>
                  <a:srgbClr val="D0D5DA"/>
                </a:solidFill>
                <a:latin typeface="Trebuchet MS"/>
                <a:cs typeface="Trebuchet MS"/>
              </a:rPr>
              <a:t> during</a:t>
            </a:r>
            <a:r>
              <a:rPr sz="100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pull-</a:t>
            </a:r>
            <a:r>
              <a:rPr sz="1000" spc="55" dirty="0">
                <a:solidFill>
                  <a:srgbClr val="D0D5DA"/>
                </a:solidFill>
                <a:latin typeface="Trebuchet MS"/>
                <a:cs typeface="Trebuchet MS"/>
              </a:rPr>
              <a:t>down </a:t>
            </a:r>
            <a:r>
              <a:rPr sz="1000" spc="60" dirty="0">
                <a:solidFill>
                  <a:srgbClr val="D0D5DA"/>
                </a:solidFill>
                <a:latin typeface="Trebuchet MS"/>
                <a:cs typeface="Trebuchet MS"/>
              </a:rPr>
              <a:t>exercises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91307" y="1205802"/>
            <a:ext cx="3787140" cy="3315970"/>
            <a:chOff x="791307" y="1205802"/>
            <a:chExt cx="3787140" cy="3315970"/>
          </a:xfrm>
        </p:grpSpPr>
        <p:sp>
          <p:nvSpPr>
            <p:cNvPr id="19" name="object 19"/>
            <p:cNvSpPr/>
            <p:nvPr/>
          </p:nvSpPr>
          <p:spPr>
            <a:xfrm>
              <a:off x="791307" y="3052186"/>
              <a:ext cx="301625" cy="377190"/>
            </a:xfrm>
            <a:custGeom>
              <a:avLst/>
              <a:gdLst/>
              <a:ahLst/>
              <a:cxnLst/>
              <a:rect l="l" t="t" r="r" b="b"/>
              <a:pathLst>
                <a:path w="301625" h="377189">
                  <a:moveTo>
                    <a:pt x="150725" y="376813"/>
                  </a:moveTo>
                  <a:lnTo>
                    <a:pt x="106971" y="370324"/>
                  </a:lnTo>
                  <a:lnTo>
                    <a:pt x="66986" y="351410"/>
                  </a:lnTo>
                  <a:lnTo>
                    <a:pt x="34211" y="321707"/>
                  </a:lnTo>
                  <a:lnTo>
                    <a:pt x="11473" y="283767"/>
                  </a:lnTo>
                  <a:lnTo>
                    <a:pt x="723" y="240861"/>
                  </a:lnTo>
                  <a:lnTo>
                    <a:pt x="0" y="226087"/>
                  </a:lnTo>
                  <a:lnTo>
                    <a:pt x="0" y="150725"/>
                  </a:lnTo>
                  <a:lnTo>
                    <a:pt x="6488" y="106971"/>
                  </a:lnTo>
                  <a:lnTo>
                    <a:pt x="25401" y="66986"/>
                  </a:lnTo>
                  <a:lnTo>
                    <a:pt x="55105" y="34211"/>
                  </a:lnTo>
                  <a:lnTo>
                    <a:pt x="93045" y="11473"/>
                  </a:lnTo>
                  <a:lnTo>
                    <a:pt x="135951" y="724"/>
                  </a:lnTo>
                  <a:lnTo>
                    <a:pt x="150725" y="0"/>
                  </a:lnTo>
                  <a:lnTo>
                    <a:pt x="158130" y="181"/>
                  </a:lnTo>
                  <a:lnTo>
                    <a:pt x="201494" y="8806"/>
                  </a:lnTo>
                  <a:lnTo>
                    <a:pt x="240519" y="29665"/>
                  </a:lnTo>
                  <a:lnTo>
                    <a:pt x="271784" y="60930"/>
                  </a:lnTo>
                  <a:lnTo>
                    <a:pt x="292643" y="99955"/>
                  </a:lnTo>
                  <a:lnTo>
                    <a:pt x="301269" y="143320"/>
                  </a:lnTo>
                  <a:lnTo>
                    <a:pt x="301450" y="150725"/>
                  </a:lnTo>
                  <a:lnTo>
                    <a:pt x="301450" y="226087"/>
                  </a:lnTo>
                  <a:lnTo>
                    <a:pt x="294961" y="269840"/>
                  </a:lnTo>
                  <a:lnTo>
                    <a:pt x="276048" y="309825"/>
                  </a:lnTo>
                  <a:lnTo>
                    <a:pt x="246345" y="342601"/>
                  </a:lnTo>
                  <a:lnTo>
                    <a:pt x="208405" y="365339"/>
                  </a:lnTo>
                  <a:lnTo>
                    <a:pt x="165499" y="376088"/>
                  </a:lnTo>
                  <a:lnTo>
                    <a:pt x="150725" y="376813"/>
                  </a:lnTo>
                  <a:close/>
                </a:path>
              </a:pathLst>
            </a:custGeom>
            <a:solidFill>
              <a:srgbClr val="13532D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6670" y="3155810"/>
              <a:ext cx="150725" cy="1507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91307" y="4144945"/>
              <a:ext cx="301625" cy="377190"/>
            </a:xfrm>
            <a:custGeom>
              <a:avLst/>
              <a:gdLst/>
              <a:ahLst/>
              <a:cxnLst/>
              <a:rect l="l" t="t" r="r" b="b"/>
              <a:pathLst>
                <a:path w="301625" h="377189">
                  <a:moveTo>
                    <a:pt x="150725" y="376813"/>
                  </a:moveTo>
                  <a:lnTo>
                    <a:pt x="106971" y="370324"/>
                  </a:lnTo>
                  <a:lnTo>
                    <a:pt x="66986" y="351410"/>
                  </a:lnTo>
                  <a:lnTo>
                    <a:pt x="34211" y="321707"/>
                  </a:lnTo>
                  <a:lnTo>
                    <a:pt x="11473" y="283767"/>
                  </a:lnTo>
                  <a:lnTo>
                    <a:pt x="723" y="240861"/>
                  </a:lnTo>
                  <a:lnTo>
                    <a:pt x="0" y="226087"/>
                  </a:lnTo>
                  <a:lnTo>
                    <a:pt x="0" y="150725"/>
                  </a:lnTo>
                  <a:lnTo>
                    <a:pt x="6488" y="106971"/>
                  </a:lnTo>
                  <a:lnTo>
                    <a:pt x="25401" y="66986"/>
                  </a:lnTo>
                  <a:lnTo>
                    <a:pt x="55105" y="34211"/>
                  </a:lnTo>
                  <a:lnTo>
                    <a:pt x="93045" y="11473"/>
                  </a:lnTo>
                  <a:lnTo>
                    <a:pt x="135951" y="724"/>
                  </a:lnTo>
                  <a:lnTo>
                    <a:pt x="150725" y="0"/>
                  </a:lnTo>
                  <a:lnTo>
                    <a:pt x="158130" y="181"/>
                  </a:lnTo>
                  <a:lnTo>
                    <a:pt x="201494" y="8806"/>
                  </a:lnTo>
                  <a:lnTo>
                    <a:pt x="240519" y="29665"/>
                  </a:lnTo>
                  <a:lnTo>
                    <a:pt x="271784" y="60929"/>
                  </a:lnTo>
                  <a:lnTo>
                    <a:pt x="292643" y="99954"/>
                  </a:lnTo>
                  <a:lnTo>
                    <a:pt x="301269" y="143320"/>
                  </a:lnTo>
                  <a:lnTo>
                    <a:pt x="301450" y="150725"/>
                  </a:lnTo>
                  <a:lnTo>
                    <a:pt x="301450" y="226087"/>
                  </a:lnTo>
                  <a:lnTo>
                    <a:pt x="294961" y="269840"/>
                  </a:lnTo>
                  <a:lnTo>
                    <a:pt x="276048" y="309826"/>
                  </a:lnTo>
                  <a:lnTo>
                    <a:pt x="246345" y="342601"/>
                  </a:lnTo>
                  <a:lnTo>
                    <a:pt x="208405" y="365339"/>
                  </a:lnTo>
                  <a:lnTo>
                    <a:pt x="165499" y="376088"/>
                  </a:lnTo>
                  <a:lnTo>
                    <a:pt x="150725" y="376813"/>
                  </a:lnTo>
                  <a:close/>
                </a:path>
              </a:pathLst>
            </a:custGeom>
            <a:solidFill>
              <a:srgbClr val="581B8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6670" y="4248568"/>
              <a:ext cx="150725" cy="1507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5670" y="1205802"/>
              <a:ext cx="282609" cy="22608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193102" y="3124269"/>
            <a:ext cx="139001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125" dirty="0">
                <a:solidFill>
                  <a:srgbClr val="FFFFFF"/>
                </a:solidFill>
                <a:latin typeface="Trebuchet MS"/>
                <a:cs typeface="Trebuchet MS"/>
              </a:rPr>
              <a:t>Bull</a:t>
            </a:r>
            <a:r>
              <a:rPr sz="115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65" dirty="0">
                <a:solidFill>
                  <a:srgbClr val="FFFFFF"/>
                </a:solidFill>
                <a:latin typeface="Trebuchet MS"/>
                <a:cs typeface="Trebuchet MS"/>
              </a:rPr>
              <a:t>Pen</a:t>
            </a:r>
            <a:r>
              <a:rPr sz="115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20" dirty="0">
                <a:solidFill>
                  <a:srgbClr val="FFFFFF"/>
                </a:solidFill>
                <a:latin typeface="Trebuchet MS"/>
                <a:cs typeface="Trebuchet MS"/>
              </a:rPr>
              <a:t>Testing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8607" y="3501082"/>
            <a:ext cx="2668270" cy="17120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85" dirty="0">
                <a:solidFill>
                  <a:srgbClr val="D0D5DA"/>
                </a:solidFill>
                <a:latin typeface="Trebuchet MS"/>
                <a:cs typeface="Trebuchet MS"/>
              </a:rPr>
              <a:t>Evaluates</a:t>
            </a:r>
            <a:r>
              <a:rPr sz="1000" spc="35" dirty="0">
                <a:solidFill>
                  <a:srgbClr val="D0D5DA"/>
                </a:solidFill>
                <a:latin typeface="PMingLiU"/>
                <a:cs typeface="PMingLiU"/>
              </a:rPr>
              <a:t> </a:t>
            </a:r>
            <a:r>
              <a:rPr sz="1000" spc="75" dirty="0">
                <a:solidFill>
                  <a:srgbClr val="D0D5DA"/>
                </a:solidFill>
                <a:latin typeface="Trebuchet MS"/>
                <a:cs typeface="Trebuchet MS"/>
              </a:rPr>
              <a:t>performance</a:t>
            </a:r>
            <a:r>
              <a:rPr sz="1000" spc="7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10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0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velocity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93102" y="4217027"/>
            <a:ext cx="105600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140" dirty="0">
                <a:solidFill>
                  <a:srgbClr val="FFFFFF"/>
                </a:solidFill>
                <a:latin typeface="Trebuchet MS"/>
                <a:cs typeface="Trebuchet MS"/>
              </a:rPr>
              <a:t>Plyo</a:t>
            </a:r>
            <a:r>
              <a:rPr sz="115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20" dirty="0">
                <a:solidFill>
                  <a:srgbClr val="FFFFFF"/>
                </a:solidFill>
                <a:latin typeface="Trebuchet MS"/>
                <a:cs typeface="Trebuchet MS"/>
              </a:rPr>
              <a:t>Testing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8607" y="4593840"/>
            <a:ext cx="2621280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Tests</a:t>
            </a:r>
            <a:r>
              <a:rPr sz="10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80" dirty="0">
                <a:solidFill>
                  <a:srgbClr val="D0D5DA"/>
                </a:solidFill>
                <a:latin typeface="Trebuchet MS"/>
                <a:cs typeface="Trebuchet MS"/>
              </a:rPr>
              <a:t>explosive</a:t>
            </a:r>
            <a:r>
              <a:rPr sz="10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105" dirty="0">
                <a:solidFill>
                  <a:srgbClr val="D0D5DA"/>
                </a:solidFill>
                <a:latin typeface="Trebuchet MS"/>
                <a:cs typeface="Trebuchet MS"/>
              </a:rPr>
              <a:t>movement</a:t>
            </a:r>
            <a:r>
              <a:rPr sz="10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10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000" spc="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velocity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1071" y="1155420"/>
            <a:ext cx="586740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789679" algn="l"/>
              </a:tabLst>
            </a:pPr>
            <a:r>
              <a:rPr sz="1750" b="1" spc="245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750" b="1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220" dirty="0">
                <a:solidFill>
                  <a:srgbClr val="FFFFFF"/>
                </a:solidFill>
                <a:latin typeface="Trebuchet MS"/>
                <a:cs typeface="Trebuchet MS"/>
              </a:rPr>
              <a:t>Sources</a:t>
            </a:r>
            <a:r>
              <a:rPr sz="175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750" b="1" spc="229" dirty="0">
                <a:solidFill>
                  <a:srgbClr val="FFFFFF"/>
                </a:solidFill>
                <a:latin typeface="Trebuchet MS"/>
                <a:cs typeface="Trebuchet MS"/>
              </a:rPr>
              <a:t>Processing</a:t>
            </a:r>
            <a:r>
              <a:rPr sz="1750" b="1" spc="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175" dirty="0">
                <a:solidFill>
                  <a:srgbClr val="FFFFFF"/>
                </a:solidFill>
                <a:latin typeface="Trebuchet MS"/>
                <a:cs typeface="Trebuchet MS"/>
              </a:rPr>
              <a:t>Flow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988438" y="1205802"/>
            <a:ext cx="3467100" cy="5530215"/>
            <a:chOff x="7988438" y="1205802"/>
            <a:chExt cx="3467100" cy="5530215"/>
          </a:xfrm>
        </p:grpSpPr>
        <p:sp>
          <p:nvSpPr>
            <p:cNvPr id="30" name="object 30"/>
            <p:cNvSpPr/>
            <p:nvPr/>
          </p:nvSpPr>
          <p:spPr>
            <a:xfrm>
              <a:off x="7988438" y="1620296"/>
              <a:ext cx="3467100" cy="2590800"/>
            </a:xfrm>
            <a:custGeom>
              <a:avLst/>
              <a:gdLst/>
              <a:ahLst/>
              <a:cxnLst/>
              <a:rect l="l" t="t" r="r" b="b"/>
              <a:pathLst>
                <a:path w="3467100" h="2590800">
                  <a:moveTo>
                    <a:pt x="3396267" y="2590590"/>
                  </a:moveTo>
                  <a:lnTo>
                    <a:pt x="70414" y="2590590"/>
                  </a:lnTo>
                  <a:lnTo>
                    <a:pt x="65513" y="2590107"/>
                  </a:lnTo>
                  <a:lnTo>
                    <a:pt x="29377" y="2575140"/>
                  </a:lnTo>
                  <a:lnTo>
                    <a:pt x="3842" y="2539496"/>
                  </a:lnTo>
                  <a:lnTo>
                    <a:pt x="0" y="2520176"/>
                  </a:lnTo>
                  <a:lnTo>
                    <a:pt x="0" y="2515227"/>
                  </a:lnTo>
                  <a:lnTo>
                    <a:pt x="0" y="70414"/>
                  </a:lnTo>
                  <a:lnTo>
                    <a:pt x="15448" y="29378"/>
                  </a:lnTo>
                  <a:lnTo>
                    <a:pt x="51093" y="3842"/>
                  </a:lnTo>
                  <a:lnTo>
                    <a:pt x="70414" y="0"/>
                  </a:lnTo>
                  <a:lnTo>
                    <a:pt x="3396267" y="0"/>
                  </a:lnTo>
                  <a:lnTo>
                    <a:pt x="3437300" y="15449"/>
                  </a:lnTo>
                  <a:lnTo>
                    <a:pt x="3462836" y="51094"/>
                  </a:lnTo>
                  <a:lnTo>
                    <a:pt x="3466680" y="70414"/>
                  </a:lnTo>
                  <a:lnTo>
                    <a:pt x="3466680" y="2520176"/>
                  </a:lnTo>
                  <a:lnTo>
                    <a:pt x="3451230" y="2561211"/>
                  </a:lnTo>
                  <a:lnTo>
                    <a:pt x="3415586" y="2586747"/>
                  </a:lnTo>
                  <a:lnTo>
                    <a:pt x="3401167" y="2590107"/>
                  </a:lnTo>
                  <a:lnTo>
                    <a:pt x="3396267" y="2590590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39163" y="2336253"/>
              <a:ext cx="3165475" cy="339725"/>
            </a:xfrm>
            <a:custGeom>
              <a:avLst/>
              <a:gdLst/>
              <a:ahLst/>
              <a:cxnLst/>
              <a:rect l="l" t="t" r="r" b="b"/>
              <a:pathLst>
                <a:path w="3165475" h="339725">
                  <a:moveTo>
                    <a:pt x="3165221" y="75361"/>
                  </a:moveTo>
                  <a:lnTo>
                    <a:pt x="3152533" y="33477"/>
                  </a:lnTo>
                  <a:lnTo>
                    <a:pt x="3118701" y="5727"/>
                  </a:lnTo>
                  <a:lnTo>
                    <a:pt x="3089859" y="0"/>
                  </a:lnTo>
                  <a:lnTo>
                    <a:pt x="1912327" y="0"/>
                  </a:lnTo>
                  <a:lnTo>
                    <a:pt x="75361" y="0"/>
                  </a:lnTo>
                  <a:lnTo>
                    <a:pt x="33477" y="12687"/>
                  </a:lnTo>
                  <a:lnTo>
                    <a:pt x="5727" y="46520"/>
                  </a:lnTo>
                  <a:lnTo>
                    <a:pt x="0" y="75361"/>
                  </a:lnTo>
                  <a:lnTo>
                    <a:pt x="0" y="339128"/>
                  </a:lnTo>
                  <a:lnTo>
                    <a:pt x="1912327" y="339128"/>
                  </a:lnTo>
                  <a:lnTo>
                    <a:pt x="3165221" y="339128"/>
                  </a:lnTo>
                  <a:lnTo>
                    <a:pt x="3165221" y="75361"/>
                  </a:lnTo>
                  <a:close/>
                </a:path>
              </a:pathLst>
            </a:custGeom>
            <a:solidFill>
              <a:srgbClr val="374050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39163" y="3014509"/>
              <a:ext cx="3165475" cy="706755"/>
            </a:xfrm>
            <a:custGeom>
              <a:avLst/>
              <a:gdLst/>
              <a:ahLst/>
              <a:cxnLst/>
              <a:rect l="l" t="t" r="r" b="b"/>
              <a:pathLst>
                <a:path w="3165475" h="706754">
                  <a:moveTo>
                    <a:pt x="3165221" y="697103"/>
                  </a:moveTo>
                  <a:lnTo>
                    <a:pt x="1912327" y="697103"/>
                  </a:lnTo>
                  <a:lnTo>
                    <a:pt x="0" y="697103"/>
                  </a:lnTo>
                  <a:lnTo>
                    <a:pt x="0" y="706526"/>
                  </a:lnTo>
                  <a:lnTo>
                    <a:pt x="1912327" y="706526"/>
                  </a:lnTo>
                  <a:lnTo>
                    <a:pt x="3165221" y="706526"/>
                  </a:lnTo>
                  <a:lnTo>
                    <a:pt x="3165221" y="697103"/>
                  </a:lnTo>
                  <a:close/>
                </a:path>
                <a:path w="3165475" h="706754">
                  <a:moveTo>
                    <a:pt x="3165221" y="348551"/>
                  </a:moveTo>
                  <a:lnTo>
                    <a:pt x="1912327" y="348551"/>
                  </a:lnTo>
                  <a:lnTo>
                    <a:pt x="0" y="348551"/>
                  </a:lnTo>
                  <a:lnTo>
                    <a:pt x="0" y="357974"/>
                  </a:lnTo>
                  <a:lnTo>
                    <a:pt x="1912327" y="357974"/>
                  </a:lnTo>
                  <a:lnTo>
                    <a:pt x="3165221" y="357974"/>
                  </a:lnTo>
                  <a:lnTo>
                    <a:pt x="3165221" y="348551"/>
                  </a:lnTo>
                  <a:close/>
                </a:path>
                <a:path w="3165475" h="706754">
                  <a:moveTo>
                    <a:pt x="3165221" y="0"/>
                  </a:moveTo>
                  <a:lnTo>
                    <a:pt x="1912327" y="0"/>
                  </a:lnTo>
                  <a:lnTo>
                    <a:pt x="0" y="0"/>
                  </a:lnTo>
                  <a:lnTo>
                    <a:pt x="0" y="9423"/>
                  </a:lnTo>
                  <a:lnTo>
                    <a:pt x="1912327" y="9423"/>
                  </a:lnTo>
                  <a:lnTo>
                    <a:pt x="3165221" y="9423"/>
                  </a:lnTo>
                  <a:lnTo>
                    <a:pt x="3165221" y="0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988438" y="4361612"/>
              <a:ext cx="3467100" cy="2374265"/>
            </a:xfrm>
            <a:custGeom>
              <a:avLst/>
              <a:gdLst/>
              <a:ahLst/>
              <a:cxnLst/>
              <a:rect l="l" t="t" r="r" b="b"/>
              <a:pathLst>
                <a:path w="3467100" h="2374265">
                  <a:moveTo>
                    <a:pt x="3396267" y="2373922"/>
                  </a:moveTo>
                  <a:lnTo>
                    <a:pt x="70414" y="2373922"/>
                  </a:lnTo>
                  <a:lnTo>
                    <a:pt x="65513" y="2373439"/>
                  </a:lnTo>
                  <a:lnTo>
                    <a:pt x="29377" y="2358472"/>
                  </a:lnTo>
                  <a:lnTo>
                    <a:pt x="3842" y="2322827"/>
                  </a:lnTo>
                  <a:lnTo>
                    <a:pt x="0" y="2303508"/>
                  </a:lnTo>
                  <a:lnTo>
                    <a:pt x="0" y="2298560"/>
                  </a:lnTo>
                  <a:lnTo>
                    <a:pt x="0" y="70413"/>
                  </a:lnTo>
                  <a:lnTo>
                    <a:pt x="15448" y="29378"/>
                  </a:lnTo>
                  <a:lnTo>
                    <a:pt x="51093" y="3842"/>
                  </a:lnTo>
                  <a:lnTo>
                    <a:pt x="70414" y="0"/>
                  </a:lnTo>
                  <a:lnTo>
                    <a:pt x="3396267" y="0"/>
                  </a:lnTo>
                  <a:lnTo>
                    <a:pt x="3437300" y="15449"/>
                  </a:lnTo>
                  <a:lnTo>
                    <a:pt x="3462836" y="51093"/>
                  </a:lnTo>
                  <a:lnTo>
                    <a:pt x="3466680" y="70413"/>
                  </a:lnTo>
                  <a:lnTo>
                    <a:pt x="3466680" y="2303508"/>
                  </a:lnTo>
                  <a:lnTo>
                    <a:pt x="3451230" y="2344542"/>
                  </a:lnTo>
                  <a:lnTo>
                    <a:pt x="3415586" y="2370078"/>
                  </a:lnTo>
                  <a:lnTo>
                    <a:pt x="3401167" y="2373439"/>
                  </a:lnTo>
                  <a:lnTo>
                    <a:pt x="3396267" y="2373922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88439" y="1205802"/>
              <a:ext cx="226087" cy="22608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39164" y="1921747"/>
              <a:ext cx="150725" cy="150725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8314870" y="1155420"/>
            <a:ext cx="298513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b="1" spc="220" dirty="0">
                <a:solidFill>
                  <a:srgbClr val="FFFFFF"/>
                </a:solidFill>
                <a:latin typeface="Trebuchet MS"/>
                <a:cs typeface="Trebuchet MS"/>
              </a:rPr>
              <a:t>Results</a:t>
            </a:r>
            <a:r>
              <a:rPr sz="1750" b="1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305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750" b="1" spc="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229" dirty="0">
                <a:solidFill>
                  <a:srgbClr val="FFFFFF"/>
                </a:solidFill>
                <a:latin typeface="Trebuchet MS"/>
                <a:cs typeface="Trebuchet MS"/>
              </a:rPr>
              <a:t>Methodology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39508" y="1722524"/>
            <a:ext cx="2675890" cy="2254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5730" marR="407034">
              <a:lnSpc>
                <a:spcPct val="129000"/>
              </a:lnSpc>
              <a:spcBef>
                <a:spcPts val="90"/>
              </a:spcBef>
            </a:pPr>
            <a:r>
              <a:rPr sz="1150" b="1" spc="110" dirty="0">
                <a:solidFill>
                  <a:srgbClr val="FFFFFF"/>
                </a:solidFill>
                <a:latin typeface="Trebuchet MS"/>
                <a:cs typeface="Trebuchet MS"/>
              </a:rPr>
              <a:t>player_velocity_summary </a:t>
            </a:r>
            <a:r>
              <a:rPr sz="1150" b="1" spc="130" dirty="0">
                <a:solidFill>
                  <a:srgbClr val="FFFFFF"/>
                </a:solidFill>
                <a:latin typeface="Trebuchet MS"/>
                <a:cs typeface="Trebuchet MS"/>
              </a:rPr>
              <a:t>Structure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921510" algn="l"/>
              </a:tabLst>
            </a:pPr>
            <a:r>
              <a:rPr sz="1000" b="1" spc="135" dirty="0">
                <a:solidFill>
                  <a:srgbClr val="FFFFFF"/>
                </a:solidFill>
                <a:latin typeface="Trebuchet MS"/>
                <a:cs typeface="Trebuchet MS"/>
              </a:rPr>
              <a:t>Column</a:t>
            </a:r>
            <a:r>
              <a:rPr sz="100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000" b="1" spc="155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00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b="1" spc="75" dirty="0">
                <a:solidFill>
                  <a:srgbClr val="FFFFFF"/>
                </a:solidFill>
                <a:latin typeface="Trebuchet MS"/>
                <a:cs typeface="Trebuchet MS"/>
              </a:rPr>
              <a:t>Type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921510" algn="l"/>
              </a:tabLst>
            </a:pPr>
            <a:r>
              <a:rPr sz="1000" spc="45" dirty="0">
                <a:solidFill>
                  <a:srgbClr val="D0D5DA"/>
                </a:solidFill>
                <a:latin typeface="Trebuchet MS"/>
                <a:cs typeface="Trebuchet MS"/>
              </a:rPr>
              <a:t>player_id</a:t>
            </a: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	</a:t>
            </a:r>
            <a:r>
              <a:rPr sz="1000" spc="95" dirty="0">
                <a:solidFill>
                  <a:srgbClr val="D0D5DA"/>
                </a:solidFill>
                <a:latin typeface="Trebuchet MS"/>
                <a:cs typeface="Trebuchet MS"/>
              </a:rPr>
              <a:t>VARCHAR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921510" algn="l"/>
              </a:tabLst>
            </a:pPr>
            <a:r>
              <a:rPr sz="1000" spc="45" dirty="0">
                <a:solidFill>
                  <a:srgbClr val="D0D5DA"/>
                </a:solidFill>
                <a:latin typeface="Trebuchet MS"/>
                <a:cs typeface="Trebuchet MS"/>
              </a:rPr>
              <a:t>pull_down_velocity</a:t>
            </a: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	</a:t>
            </a:r>
            <a:r>
              <a:rPr sz="1000" spc="40" dirty="0">
                <a:solidFill>
                  <a:srgbClr val="D0D5DA"/>
                </a:solidFill>
                <a:latin typeface="Trebuchet MS"/>
                <a:cs typeface="Trebuchet MS"/>
              </a:rPr>
              <a:t>FLOAT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921510" algn="l"/>
              </a:tabLst>
            </a:pPr>
            <a:r>
              <a:rPr sz="1000" spc="45" dirty="0">
                <a:solidFill>
                  <a:srgbClr val="D0D5DA"/>
                </a:solidFill>
                <a:latin typeface="Trebuchet MS"/>
                <a:cs typeface="Trebuchet MS"/>
              </a:rPr>
              <a:t>bull_pen_velocity</a:t>
            </a: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	</a:t>
            </a:r>
            <a:r>
              <a:rPr sz="1000" spc="40" dirty="0">
                <a:solidFill>
                  <a:srgbClr val="D0D5DA"/>
                </a:solidFill>
                <a:latin typeface="Trebuchet MS"/>
                <a:cs typeface="Trebuchet MS"/>
              </a:rPr>
              <a:t>FLOAT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921510" algn="l"/>
              </a:tabLst>
            </a:pPr>
            <a:r>
              <a:rPr sz="1000" spc="45" dirty="0">
                <a:solidFill>
                  <a:srgbClr val="D0D5DA"/>
                </a:solidFill>
                <a:latin typeface="Trebuchet MS"/>
                <a:cs typeface="Trebuchet MS"/>
              </a:rPr>
              <a:t>plyo_velocity</a:t>
            </a: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	</a:t>
            </a:r>
            <a:r>
              <a:rPr sz="1000" spc="40" dirty="0">
                <a:solidFill>
                  <a:srgbClr val="D0D5DA"/>
                </a:solidFill>
                <a:latin typeface="Trebuchet MS"/>
                <a:cs typeface="Trebuchet MS"/>
              </a:rPr>
              <a:t>FLOAT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295669" y="1620296"/>
            <a:ext cx="3975735" cy="4757420"/>
            <a:chOff x="4295669" y="1620296"/>
            <a:chExt cx="3975735" cy="4757420"/>
          </a:xfrm>
        </p:grpSpPr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39164" y="4550018"/>
              <a:ext cx="113043" cy="15072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39164" y="4889150"/>
              <a:ext cx="131884" cy="13188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39164" y="5341326"/>
              <a:ext cx="131884" cy="13188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39164" y="5793502"/>
              <a:ext cx="131884" cy="13188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39164" y="6245678"/>
              <a:ext cx="131884" cy="13188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295669" y="1620296"/>
              <a:ext cx="3467100" cy="3014980"/>
            </a:xfrm>
            <a:custGeom>
              <a:avLst/>
              <a:gdLst/>
              <a:ahLst/>
              <a:cxnLst/>
              <a:rect l="l" t="t" r="r" b="b"/>
              <a:pathLst>
                <a:path w="3467100" h="3014979">
                  <a:moveTo>
                    <a:pt x="3396266" y="3014505"/>
                  </a:moveTo>
                  <a:lnTo>
                    <a:pt x="70414" y="3014505"/>
                  </a:lnTo>
                  <a:lnTo>
                    <a:pt x="65513" y="3014022"/>
                  </a:lnTo>
                  <a:lnTo>
                    <a:pt x="29378" y="2999054"/>
                  </a:lnTo>
                  <a:lnTo>
                    <a:pt x="3842" y="2963410"/>
                  </a:lnTo>
                  <a:lnTo>
                    <a:pt x="0" y="2944091"/>
                  </a:lnTo>
                  <a:lnTo>
                    <a:pt x="0" y="2939142"/>
                  </a:lnTo>
                  <a:lnTo>
                    <a:pt x="0" y="70414"/>
                  </a:lnTo>
                  <a:lnTo>
                    <a:pt x="15450" y="29378"/>
                  </a:lnTo>
                  <a:lnTo>
                    <a:pt x="51094" y="3842"/>
                  </a:lnTo>
                  <a:lnTo>
                    <a:pt x="70414" y="0"/>
                  </a:lnTo>
                  <a:lnTo>
                    <a:pt x="3396266" y="0"/>
                  </a:lnTo>
                  <a:lnTo>
                    <a:pt x="3437302" y="15449"/>
                  </a:lnTo>
                  <a:lnTo>
                    <a:pt x="3462837" y="51094"/>
                  </a:lnTo>
                  <a:lnTo>
                    <a:pt x="3466680" y="70414"/>
                  </a:lnTo>
                  <a:lnTo>
                    <a:pt x="3466680" y="2944091"/>
                  </a:lnTo>
                  <a:lnTo>
                    <a:pt x="3451230" y="2985125"/>
                  </a:lnTo>
                  <a:lnTo>
                    <a:pt x="3415586" y="3010662"/>
                  </a:lnTo>
                  <a:lnTo>
                    <a:pt x="3401167" y="3014022"/>
                  </a:lnTo>
                  <a:lnTo>
                    <a:pt x="3396266" y="3014505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34807" y="2449285"/>
              <a:ext cx="188406" cy="26376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34807" y="3391318"/>
              <a:ext cx="188406" cy="26376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34807" y="4333351"/>
              <a:ext cx="188406" cy="26376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502917" y="1808703"/>
              <a:ext cx="3071495" cy="603250"/>
            </a:xfrm>
            <a:custGeom>
              <a:avLst/>
              <a:gdLst/>
              <a:ahLst/>
              <a:cxnLst/>
              <a:rect l="l" t="t" r="r" b="b"/>
              <a:pathLst>
                <a:path w="3071495" h="603250">
                  <a:moveTo>
                    <a:pt x="3000613" y="602900"/>
                  </a:moveTo>
                  <a:lnTo>
                    <a:pt x="52811" y="602900"/>
                  </a:lnTo>
                  <a:lnTo>
                    <a:pt x="49135" y="602418"/>
                  </a:lnTo>
                  <a:lnTo>
                    <a:pt x="13930" y="577328"/>
                  </a:lnTo>
                  <a:lnTo>
                    <a:pt x="361" y="537387"/>
                  </a:lnTo>
                  <a:lnTo>
                    <a:pt x="0" y="532486"/>
                  </a:lnTo>
                  <a:lnTo>
                    <a:pt x="0" y="527538"/>
                  </a:lnTo>
                  <a:lnTo>
                    <a:pt x="0" y="70414"/>
                  </a:lnTo>
                  <a:lnTo>
                    <a:pt x="11587" y="29378"/>
                  </a:lnTo>
                  <a:lnTo>
                    <a:pt x="41855" y="2413"/>
                  </a:lnTo>
                  <a:lnTo>
                    <a:pt x="52811" y="0"/>
                  </a:lnTo>
                  <a:lnTo>
                    <a:pt x="3000613" y="0"/>
                  </a:lnTo>
                  <a:lnTo>
                    <a:pt x="3041647" y="15449"/>
                  </a:lnTo>
                  <a:lnTo>
                    <a:pt x="3067184" y="51094"/>
                  </a:lnTo>
                  <a:lnTo>
                    <a:pt x="3071027" y="70414"/>
                  </a:lnTo>
                  <a:lnTo>
                    <a:pt x="3071027" y="532486"/>
                  </a:lnTo>
                  <a:lnTo>
                    <a:pt x="3055577" y="573521"/>
                  </a:lnTo>
                  <a:lnTo>
                    <a:pt x="3019933" y="599057"/>
                  </a:lnTo>
                  <a:lnTo>
                    <a:pt x="3005514" y="602418"/>
                  </a:lnTo>
                  <a:lnTo>
                    <a:pt x="3000613" y="602900"/>
                  </a:lnTo>
                  <a:close/>
                </a:path>
              </a:pathLst>
            </a:custGeom>
            <a:solidFill>
              <a:srgbClr val="37405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84076" y="1808977"/>
              <a:ext cx="69850" cy="602615"/>
            </a:xfrm>
            <a:custGeom>
              <a:avLst/>
              <a:gdLst/>
              <a:ahLst/>
              <a:cxnLst/>
              <a:rect l="l" t="t" r="r" b="b"/>
              <a:pathLst>
                <a:path w="69850" h="602614">
                  <a:moveTo>
                    <a:pt x="69675" y="602351"/>
                  </a:moveTo>
                  <a:lnTo>
                    <a:pt x="33485" y="589937"/>
                  </a:lnTo>
                  <a:lnTo>
                    <a:pt x="5735" y="556103"/>
                  </a:lnTo>
                  <a:lnTo>
                    <a:pt x="0" y="527263"/>
                  </a:lnTo>
                  <a:lnTo>
                    <a:pt x="0" y="75087"/>
                  </a:lnTo>
                  <a:lnTo>
                    <a:pt x="12688" y="33210"/>
                  </a:lnTo>
                  <a:lnTo>
                    <a:pt x="46522" y="5461"/>
                  </a:lnTo>
                  <a:lnTo>
                    <a:pt x="69674" y="0"/>
                  </a:lnTo>
                  <a:lnTo>
                    <a:pt x="65558" y="1637"/>
                  </a:lnTo>
                  <a:lnTo>
                    <a:pt x="56325" y="9286"/>
                  </a:lnTo>
                  <a:lnTo>
                    <a:pt x="40549" y="46247"/>
                  </a:lnTo>
                  <a:lnTo>
                    <a:pt x="37681" y="75087"/>
                  </a:lnTo>
                  <a:lnTo>
                    <a:pt x="37681" y="527263"/>
                  </a:lnTo>
                  <a:lnTo>
                    <a:pt x="44024" y="569140"/>
                  </a:lnTo>
                  <a:lnTo>
                    <a:pt x="65558" y="600713"/>
                  </a:lnTo>
                  <a:lnTo>
                    <a:pt x="69675" y="602351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34802" y="1921747"/>
              <a:ext cx="301625" cy="377190"/>
            </a:xfrm>
            <a:custGeom>
              <a:avLst/>
              <a:gdLst/>
              <a:ahLst/>
              <a:cxnLst/>
              <a:rect l="l" t="t" r="r" b="b"/>
              <a:pathLst>
                <a:path w="301625" h="377189">
                  <a:moveTo>
                    <a:pt x="150725" y="376813"/>
                  </a:moveTo>
                  <a:lnTo>
                    <a:pt x="106971" y="370324"/>
                  </a:lnTo>
                  <a:lnTo>
                    <a:pt x="66986" y="351411"/>
                  </a:lnTo>
                  <a:lnTo>
                    <a:pt x="34211" y="321707"/>
                  </a:lnTo>
                  <a:lnTo>
                    <a:pt x="11472" y="283767"/>
                  </a:lnTo>
                  <a:lnTo>
                    <a:pt x="723" y="240861"/>
                  </a:lnTo>
                  <a:lnTo>
                    <a:pt x="0" y="226087"/>
                  </a:lnTo>
                  <a:lnTo>
                    <a:pt x="0" y="150725"/>
                  </a:lnTo>
                  <a:lnTo>
                    <a:pt x="6487" y="106971"/>
                  </a:lnTo>
                  <a:lnTo>
                    <a:pt x="25401" y="66986"/>
                  </a:lnTo>
                  <a:lnTo>
                    <a:pt x="55104" y="34211"/>
                  </a:lnTo>
                  <a:lnTo>
                    <a:pt x="93044" y="11473"/>
                  </a:lnTo>
                  <a:lnTo>
                    <a:pt x="135951" y="724"/>
                  </a:lnTo>
                  <a:lnTo>
                    <a:pt x="150725" y="0"/>
                  </a:lnTo>
                  <a:lnTo>
                    <a:pt x="158129" y="181"/>
                  </a:lnTo>
                  <a:lnTo>
                    <a:pt x="201494" y="8806"/>
                  </a:lnTo>
                  <a:lnTo>
                    <a:pt x="240519" y="29666"/>
                  </a:lnTo>
                  <a:lnTo>
                    <a:pt x="271783" y="60930"/>
                  </a:lnTo>
                  <a:lnTo>
                    <a:pt x="292642" y="99955"/>
                  </a:lnTo>
                  <a:lnTo>
                    <a:pt x="301269" y="143320"/>
                  </a:lnTo>
                  <a:lnTo>
                    <a:pt x="301450" y="150725"/>
                  </a:lnTo>
                  <a:lnTo>
                    <a:pt x="301450" y="226087"/>
                  </a:lnTo>
                  <a:lnTo>
                    <a:pt x="294961" y="269841"/>
                  </a:lnTo>
                  <a:lnTo>
                    <a:pt x="276048" y="309826"/>
                  </a:lnTo>
                  <a:lnTo>
                    <a:pt x="246344" y="342601"/>
                  </a:lnTo>
                  <a:lnTo>
                    <a:pt x="208404" y="365339"/>
                  </a:lnTo>
                  <a:lnTo>
                    <a:pt x="165498" y="376089"/>
                  </a:lnTo>
                  <a:lnTo>
                    <a:pt x="150725" y="376813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10164" y="2025370"/>
              <a:ext cx="150725" cy="150725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8314870" y="4509058"/>
            <a:ext cx="204660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155" dirty="0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sz="115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70" dirty="0">
                <a:solidFill>
                  <a:srgbClr val="FFFFFF"/>
                </a:solidFill>
                <a:latin typeface="Trebuchet MS"/>
                <a:cs typeface="Trebuchet MS"/>
              </a:rPr>
              <a:t>Methodology</a:t>
            </a:r>
            <a:r>
              <a:rPr sz="115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55" dirty="0">
                <a:solidFill>
                  <a:srgbClr val="FFFFFF"/>
                </a:solidFill>
                <a:latin typeface="Trebuchet MS"/>
                <a:cs typeface="Trebuchet MS"/>
              </a:rPr>
              <a:t>Notes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333711" y="4818045"/>
            <a:ext cx="2964180" cy="1758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3600"/>
              </a:lnSpc>
              <a:spcBef>
                <a:spcPts val="90"/>
              </a:spcBef>
            </a:pPr>
            <a:r>
              <a:rPr sz="1000" spc="90" dirty="0">
                <a:solidFill>
                  <a:srgbClr val="FFFFFF"/>
                </a:solidFill>
                <a:latin typeface="Trebuchet MS"/>
                <a:cs typeface="Trebuchet MS"/>
              </a:rPr>
              <a:t>Matched</a:t>
            </a:r>
            <a:r>
              <a:rPr sz="10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FFFFFF"/>
                </a:solidFill>
                <a:latin typeface="Trebuchet MS"/>
                <a:cs typeface="Trebuchet MS"/>
              </a:rPr>
              <a:t>pull-</a:t>
            </a:r>
            <a:r>
              <a:rPr sz="1000" spc="75" dirty="0">
                <a:solidFill>
                  <a:srgbClr val="FFFFFF"/>
                </a:solidFill>
                <a:latin typeface="Trebuchet MS"/>
                <a:cs typeface="Trebuchet MS"/>
              </a:rPr>
              <a:t>down</a:t>
            </a:r>
            <a:r>
              <a:rPr sz="10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1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0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FFFFFF"/>
                </a:solidFill>
                <a:latin typeface="Trebuchet MS"/>
                <a:cs typeface="Trebuchet MS"/>
              </a:rPr>
              <a:t>bull</a:t>
            </a:r>
            <a:r>
              <a:rPr sz="10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90" dirty="0">
                <a:solidFill>
                  <a:srgbClr val="FFFFFF"/>
                </a:solidFill>
                <a:latin typeface="Trebuchet MS"/>
                <a:cs typeface="Trebuchet MS"/>
              </a:rPr>
              <a:t>pen</a:t>
            </a:r>
            <a:r>
              <a:rPr sz="10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105" dirty="0">
                <a:solidFill>
                  <a:srgbClr val="FFFFFF"/>
                </a:solidFill>
                <a:latin typeface="Trebuchet MS"/>
                <a:cs typeface="Trebuchet MS"/>
              </a:rPr>
              <a:t>sessions</a:t>
            </a:r>
            <a:r>
              <a:rPr sz="10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Trebuchet MS"/>
                <a:cs typeface="Trebuchet MS"/>
              </a:rPr>
              <a:t>for </a:t>
            </a:r>
            <a:r>
              <a:rPr sz="1000" dirty="0">
                <a:solidFill>
                  <a:srgbClr val="FFFFFF"/>
                </a:solidFill>
                <a:latin typeface="Trebuchet MS"/>
                <a:cs typeface="Trebuchet MS"/>
              </a:rPr>
              <a:t>direct</a:t>
            </a:r>
            <a:r>
              <a:rPr sz="1000" spc="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60" dirty="0">
                <a:solidFill>
                  <a:srgbClr val="FFFFFF"/>
                </a:solidFill>
                <a:latin typeface="Trebuchet MS"/>
                <a:cs typeface="Trebuchet MS"/>
              </a:rPr>
              <a:t>velocity</a:t>
            </a:r>
            <a:r>
              <a:rPr sz="1000" spc="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80" dirty="0">
                <a:solidFill>
                  <a:srgbClr val="FFFFFF"/>
                </a:solidFill>
                <a:latin typeface="Trebuchet MS"/>
                <a:cs typeface="Trebuchet MS"/>
              </a:rPr>
              <a:t>comparison</a:t>
            </a:r>
            <a:endParaRPr sz="1000">
              <a:latin typeface="Trebuchet MS"/>
              <a:cs typeface="Trebuchet MS"/>
            </a:endParaRPr>
          </a:p>
          <a:p>
            <a:pPr marL="12700" marR="80010">
              <a:lnSpc>
                <a:spcPct val="123600"/>
              </a:lnSpc>
              <a:spcBef>
                <a:spcPts val="595"/>
              </a:spcBef>
            </a:pPr>
            <a:r>
              <a:rPr sz="1000" spc="95" dirty="0">
                <a:solidFill>
                  <a:srgbClr val="FFFFFF"/>
                </a:solidFill>
                <a:latin typeface="Trebuchet MS"/>
                <a:cs typeface="Trebuchet MS"/>
              </a:rPr>
              <a:t>Computed</a:t>
            </a:r>
            <a:r>
              <a:rPr sz="10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100" dirty="0">
                <a:solidFill>
                  <a:srgbClr val="FFFFFF"/>
                </a:solidFill>
                <a:latin typeface="Trebuchet MS"/>
                <a:cs typeface="Trebuchet MS"/>
              </a:rPr>
              <a:t>average</a:t>
            </a:r>
            <a:r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75" dirty="0">
                <a:solidFill>
                  <a:srgbClr val="FFFFFF"/>
                </a:solidFill>
                <a:latin typeface="Trebuchet MS"/>
                <a:cs typeface="Trebuchet MS"/>
              </a:rPr>
              <a:t>plyo</a:t>
            </a:r>
            <a:r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60" dirty="0">
                <a:solidFill>
                  <a:srgbClr val="FFFFFF"/>
                </a:solidFill>
                <a:latin typeface="Trebuchet MS"/>
                <a:cs typeface="Trebuchet MS"/>
              </a:rPr>
              <a:t>velocity</a:t>
            </a:r>
            <a:r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75" dirty="0">
                <a:solidFill>
                  <a:srgbClr val="FFFFFF"/>
                </a:solidFill>
                <a:latin typeface="Trebuchet MS"/>
                <a:cs typeface="Trebuchet MS"/>
              </a:rPr>
              <a:t>per</a:t>
            </a:r>
            <a:r>
              <a:rPr sz="10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FFFFFF"/>
                </a:solidFill>
                <a:latin typeface="Trebuchet MS"/>
                <a:cs typeface="Trebuchet MS"/>
              </a:rPr>
              <a:t>player </a:t>
            </a:r>
            <a:r>
              <a:rPr sz="1000" spc="90" dirty="0">
                <a:solidFill>
                  <a:srgbClr val="FFFFFF"/>
                </a:solidFill>
                <a:latin typeface="Trebuchet MS"/>
                <a:cs typeface="Trebuchet MS"/>
              </a:rPr>
              <a:t>due</a:t>
            </a:r>
            <a:r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70" dirty="0">
                <a:solidFill>
                  <a:srgbClr val="FFFFFF"/>
                </a:solidFill>
                <a:latin typeface="Trebuchet MS"/>
                <a:cs typeface="Trebuchet MS"/>
              </a:rPr>
              <a:t>inconsistent</a:t>
            </a:r>
            <a:r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70" dirty="0">
                <a:solidFill>
                  <a:srgbClr val="FFFFFF"/>
                </a:solidFill>
                <a:latin typeface="Trebuchet MS"/>
                <a:cs typeface="Trebuchet MS"/>
              </a:rPr>
              <a:t>testing</a:t>
            </a:r>
            <a:r>
              <a:rPr sz="10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75" dirty="0">
                <a:solidFill>
                  <a:srgbClr val="FFFFFF"/>
                </a:solidFill>
                <a:latin typeface="Trebuchet MS"/>
                <a:cs typeface="Trebuchet MS"/>
              </a:rPr>
              <a:t>dates</a:t>
            </a:r>
            <a:endParaRPr sz="1000">
              <a:latin typeface="Trebuchet MS"/>
              <a:cs typeface="Trebuchet MS"/>
            </a:endParaRPr>
          </a:p>
          <a:p>
            <a:pPr marL="12700" marR="444500">
              <a:lnSpc>
                <a:spcPct val="123600"/>
              </a:lnSpc>
              <a:spcBef>
                <a:spcPts val="595"/>
              </a:spcBef>
            </a:pPr>
            <a:r>
              <a:rPr sz="1000" spc="100" dirty="0">
                <a:solidFill>
                  <a:srgbClr val="FFFFFF"/>
                </a:solidFill>
                <a:latin typeface="Trebuchet MS"/>
                <a:cs typeface="Trebuchet MS"/>
              </a:rPr>
              <a:t>Merged</a:t>
            </a:r>
            <a:r>
              <a:rPr sz="10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sz="10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60" dirty="0">
                <a:solidFill>
                  <a:srgbClr val="FFFFFF"/>
                </a:solidFill>
                <a:latin typeface="Trebuchet MS"/>
                <a:cs typeface="Trebuchet MS"/>
              </a:rPr>
              <a:t>velocity</a:t>
            </a:r>
            <a:r>
              <a:rPr sz="10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8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0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FFFFFF"/>
                </a:solidFill>
                <a:latin typeface="Trebuchet MS"/>
                <a:cs typeface="Trebuchet MS"/>
              </a:rPr>
              <a:t>into </a:t>
            </a:r>
            <a:r>
              <a:rPr sz="1000" spc="1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40" dirty="0">
                <a:solidFill>
                  <a:srgbClr val="FFFFFF"/>
                </a:solidFill>
                <a:latin typeface="Trebuchet MS"/>
                <a:cs typeface="Trebuchet MS"/>
              </a:rPr>
              <a:t>unified </a:t>
            </a:r>
            <a:r>
              <a:rPr sz="1000" spc="125" dirty="0">
                <a:solidFill>
                  <a:srgbClr val="FFFFFF"/>
                </a:solidFill>
                <a:latin typeface="Trebuchet MS"/>
                <a:cs typeface="Trebuchet MS"/>
              </a:rPr>
              <a:t>summary</a:t>
            </a:r>
            <a:r>
              <a:rPr sz="10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45" dirty="0">
                <a:solidFill>
                  <a:srgbClr val="FFFFFF"/>
                </a:solidFill>
                <a:latin typeface="Trebuchet MS"/>
                <a:cs typeface="Trebuchet MS"/>
              </a:rPr>
              <a:t>table</a:t>
            </a:r>
            <a:endParaRPr sz="1000">
              <a:latin typeface="Trebuchet MS"/>
              <a:cs typeface="Trebuchet MS"/>
            </a:endParaRPr>
          </a:p>
          <a:p>
            <a:pPr marL="12700" marR="328295">
              <a:lnSpc>
                <a:spcPct val="123600"/>
              </a:lnSpc>
              <a:spcBef>
                <a:spcPts val="590"/>
              </a:spcBef>
            </a:pPr>
            <a:r>
              <a:rPr sz="1000" spc="85" dirty="0">
                <a:solidFill>
                  <a:srgbClr val="FFFFFF"/>
                </a:solidFill>
                <a:latin typeface="Trebuchet MS"/>
                <a:cs typeface="Trebuchet MS"/>
              </a:rPr>
              <a:t>Uploaded</a:t>
            </a:r>
            <a:r>
              <a:rPr sz="10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FFFFFF"/>
                </a:solidFill>
                <a:latin typeface="Trebuchet MS"/>
                <a:cs typeface="Trebuchet MS"/>
              </a:rPr>
              <a:t>processed</a:t>
            </a:r>
            <a:r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8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45" dirty="0">
                <a:solidFill>
                  <a:srgbClr val="FFFFFF"/>
                </a:solidFill>
                <a:latin typeface="Trebuchet MS"/>
                <a:cs typeface="Trebuchet MS"/>
              </a:rPr>
              <a:t>central </a:t>
            </a:r>
            <a:r>
              <a:rPr sz="1000" spc="80" dirty="0">
                <a:solidFill>
                  <a:srgbClr val="FFFFFF"/>
                </a:solidFill>
                <a:latin typeface="Trebuchet MS"/>
                <a:cs typeface="Trebuchet MS"/>
              </a:rPr>
              <a:t>database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560616" y="6459066"/>
            <a:ext cx="32194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t>6/11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036596" y="1870737"/>
            <a:ext cx="1049655" cy="4254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150" b="1" spc="18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150" b="1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35" dirty="0">
                <a:solidFill>
                  <a:srgbClr val="FFFFFF"/>
                </a:solidFill>
                <a:latin typeface="Trebuchet MS"/>
                <a:cs typeface="Trebuchet MS"/>
              </a:rPr>
              <a:t>Import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900" spc="85" dirty="0">
                <a:solidFill>
                  <a:srgbClr val="9CA2AF"/>
                </a:solidFill>
                <a:latin typeface="Trebuchet MS"/>
                <a:cs typeface="Trebuchet MS"/>
              </a:rPr>
              <a:t>SQL</a:t>
            </a:r>
            <a:r>
              <a:rPr sz="900" spc="1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9CA2AF"/>
                </a:solidFill>
                <a:latin typeface="Trebuchet MS"/>
                <a:cs typeface="Trebuchet MS"/>
              </a:rPr>
              <a:t>Workbench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484076" y="2750736"/>
            <a:ext cx="3089910" cy="603250"/>
            <a:chOff x="4484076" y="2750736"/>
            <a:chExt cx="3089910" cy="603250"/>
          </a:xfrm>
        </p:grpSpPr>
        <p:sp>
          <p:nvSpPr>
            <p:cNvPr id="57" name="object 57"/>
            <p:cNvSpPr/>
            <p:nvPr/>
          </p:nvSpPr>
          <p:spPr>
            <a:xfrm>
              <a:off x="4502917" y="2750736"/>
              <a:ext cx="3071495" cy="603250"/>
            </a:xfrm>
            <a:custGeom>
              <a:avLst/>
              <a:gdLst/>
              <a:ahLst/>
              <a:cxnLst/>
              <a:rect l="l" t="t" r="r" b="b"/>
              <a:pathLst>
                <a:path w="3071495" h="603250">
                  <a:moveTo>
                    <a:pt x="3000613" y="602901"/>
                  </a:moveTo>
                  <a:lnTo>
                    <a:pt x="52811" y="602901"/>
                  </a:lnTo>
                  <a:lnTo>
                    <a:pt x="49135" y="602418"/>
                  </a:lnTo>
                  <a:lnTo>
                    <a:pt x="13930" y="577328"/>
                  </a:lnTo>
                  <a:lnTo>
                    <a:pt x="361" y="537387"/>
                  </a:lnTo>
                  <a:lnTo>
                    <a:pt x="0" y="532486"/>
                  </a:lnTo>
                  <a:lnTo>
                    <a:pt x="0" y="527538"/>
                  </a:lnTo>
                  <a:lnTo>
                    <a:pt x="0" y="70414"/>
                  </a:lnTo>
                  <a:lnTo>
                    <a:pt x="11587" y="29378"/>
                  </a:lnTo>
                  <a:lnTo>
                    <a:pt x="41855" y="2413"/>
                  </a:lnTo>
                  <a:lnTo>
                    <a:pt x="52811" y="0"/>
                  </a:lnTo>
                  <a:lnTo>
                    <a:pt x="3000613" y="0"/>
                  </a:lnTo>
                  <a:lnTo>
                    <a:pt x="3041647" y="15449"/>
                  </a:lnTo>
                  <a:lnTo>
                    <a:pt x="3067184" y="51093"/>
                  </a:lnTo>
                  <a:lnTo>
                    <a:pt x="3071027" y="70414"/>
                  </a:lnTo>
                  <a:lnTo>
                    <a:pt x="3071027" y="532486"/>
                  </a:lnTo>
                  <a:lnTo>
                    <a:pt x="3055577" y="573521"/>
                  </a:lnTo>
                  <a:lnTo>
                    <a:pt x="3019933" y="599057"/>
                  </a:lnTo>
                  <a:lnTo>
                    <a:pt x="3005514" y="602418"/>
                  </a:lnTo>
                  <a:lnTo>
                    <a:pt x="3000613" y="602901"/>
                  </a:lnTo>
                  <a:close/>
                </a:path>
              </a:pathLst>
            </a:custGeom>
            <a:solidFill>
              <a:srgbClr val="37405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84076" y="2751010"/>
              <a:ext cx="69850" cy="602615"/>
            </a:xfrm>
            <a:custGeom>
              <a:avLst/>
              <a:gdLst/>
              <a:ahLst/>
              <a:cxnLst/>
              <a:rect l="l" t="t" r="r" b="b"/>
              <a:pathLst>
                <a:path w="69850" h="602614">
                  <a:moveTo>
                    <a:pt x="69675" y="602351"/>
                  </a:moveTo>
                  <a:lnTo>
                    <a:pt x="33485" y="589936"/>
                  </a:lnTo>
                  <a:lnTo>
                    <a:pt x="5735" y="556103"/>
                  </a:lnTo>
                  <a:lnTo>
                    <a:pt x="0" y="527263"/>
                  </a:lnTo>
                  <a:lnTo>
                    <a:pt x="0" y="75087"/>
                  </a:lnTo>
                  <a:lnTo>
                    <a:pt x="12688" y="33210"/>
                  </a:lnTo>
                  <a:lnTo>
                    <a:pt x="46522" y="5461"/>
                  </a:lnTo>
                  <a:lnTo>
                    <a:pt x="69674" y="0"/>
                  </a:lnTo>
                  <a:lnTo>
                    <a:pt x="65558" y="1637"/>
                  </a:lnTo>
                  <a:lnTo>
                    <a:pt x="56325" y="9286"/>
                  </a:lnTo>
                  <a:lnTo>
                    <a:pt x="40549" y="46247"/>
                  </a:lnTo>
                  <a:lnTo>
                    <a:pt x="37681" y="75087"/>
                  </a:lnTo>
                  <a:lnTo>
                    <a:pt x="37681" y="527263"/>
                  </a:lnTo>
                  <a:lnTo>
                    <a:pt x="44024" y="569140"/>
                  </a:lnTo>
                  <a:lnTo>
                    <a:pt x="65558" y="600713"/>
                  </a:lnTo>
                  <a:lnTo>
                    <a:pt x="69675" y="602351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634802" y="2863780"/>
              <a:ext cx="339725" cy="377190"/>
            </a:xfrm>
            <a:custGeom>
              <a:avLst/>
              <a:gdLst/>
              <a:ahLst/>
              <a:cxnLst/>
              <a:rect l="l" t="t" r="r" b="b"/>
              <a:pathLst>
                <a:path w="339725" h="377189">
                  <a:moveTo>
                    <a:pt x="169565" y="376813"/>
                  </a:moveTo>
                  <a:lnTo>
                    <a:pt x="128354" y="371729"/>
                  </a:lnTo>
                  <a:lnTo>
                    <a:pt x="89631" y="356792"/>
                  </a:lnTo>
                  <a:lnTo>
                    <a:pt x="55699" y="332894"/>
                  </a:lnTo>
                  <a:lnTo>
                    <a:pt x="28576" y="301452"/>
                  </a:lnTo>
                  <a:lnTo>
                    <a:pt x="9907" y="264362"/>
                  </a:lnTo>
                  <a:lnTo>
                    <a:pt x="814" y="223867"/>
                  </a:lnTo>
                  <a:lnTo>
                    <a:pt x="0" y="207247"/>
                  </a:lnTo>
                  <a:lnTo>
                    <a:pt x="0" y="169565"/>
                  </a:lnTo>
                  <a:lnTo>
                    <a:pt x="5082" y="128354"/>
                  </a:lnTo>
                  <a:lnTo>
                    <a:pt x="20019" y="89631"/>
                  </a:lnTo>
                  <a:lnTo>
                    <a:pt x="43918" y="55698"/>
                  </a:lnTo>
                  <a:lnTo>
                    <a:pt x="75360" y="28576"/>
                  </a:lnTo>
                  <a:lnTo>
                    <a:pt x="112449" y="9907"/>
                  </a:lnTo>
                  <a:lnTo>
                    <a:pt x="152945" y="814"/>
                  </a:lnTo>
                  <a:lnTo>
                    <a:pt x="169565" y="0"/>
                  </a:lnTo>
                  <a:lnTo>
                    <a:pt x="177896" y="203"/>
                  </a:lnTo>
                  <a:lnTo>
                    <a:pt x="218788" y="7299"/>
                  </a:lnTo>
                  <a:lnTo>
                    <a:pt x="256731" y="24118"/>
                  </a:lnTo>
                  <a:lnTo>
                    <a:pt x="289467" y="49664"/>
                  </a:lnTo>
                  <a:lnTo>
                    <a:pt x="315012" y="82399"/>
                  </a:lnTo>
                  <a:lnTo>
                    <a:pt x="331831" y="120342"/>
                  </a:lnTo>
                  <a:lnTo>
                    <a:pt x="338928" y="161235"/>
                  </a:lnTo>
                  <a:lnTo>
                    <a:pt x="339131" y="169565"/>
                  </a:lnTo>
                  <a:lnTo>
                    <a:pt x="339131" y="207247"/>
                  </a:lnTo>
                  <a:lnTo>
                    <a:pt x="334048" y="248458"/>
                  </a:lnTo>
                  <a:lnTo>
                    <a:pt x="319110" y="287180"/>
                  </a:lnTo>
                  <a:lnTo>
                    <a:pt x="295213" y="321113"/>
                  </a:lnTo>
                  <a:lnTo>
                    <a:pt x="263770" y="348235"/>
                  </a:lnTo>
                  <a:lnTo>
                    <a:pt x="226681" y="366905"/>
                  </a:lnTo>
                  <a:lnTo>
                    <a:pt x="186186" y="375998"/>
                  </a:lnTo>
                  <a:lnTo>
                    <a:pt x="169565" y="376813"/>
                  </a:lnTo>
                  <a:close/>
                </a:path>
              </a:pathLst>
            </a:custGeom>
            <a:solidFill>
              <a:srgbClr val="13532D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10164" y="2967403"/>
              <a:ext cx="188406" cy="150725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5074276" y="2812771"/>
            <a:ext cx="1804509" cy="41934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150" b="1" spc="18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150" b="1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60" dirty="0">
                <a:solidFill>
                  <a:srgbClr val="FFFFFF"/>
                </a:solidFill>
                <a:latin typeface="Trebuchet MS"/>
                <a:cs typeface="Trebuchet MS"/>
              </a:rPr>
              <a:t>Matching</a:t>
            </a:r>
            <a:endParaRPr sz="11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900" dirty="0">
                <a:solidFill>
                  <a:srgbClr val="9CA2AF"/>
                </a:solidFill>
                <a:latin typeface="Trebuchet MS"/>
                <a:cs typeface="Trebuchet MS"/>
              </a:rPr>
              <a:t>Pull-down</a:t>
            </a:r>
            <a:r>
              <a:rPr sz="900" spc="15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9CA2AF"/>
                </a:solidFill>
                <a:latin typeface="Trebuchet MS"/>
                <a:cs typeface="Trebuchet MS"/>
              </a:rPr>
              <a:t>&amp;</a:t>
            </a:r>
            <a:r>
              <a:rPr sz="900" spc="15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9CA2AF"/>
                </a:solidFill>
                <a:latin typeface="Trebuchet MS"/>
                <a:cs typeface="Trebuchet MS"/>
              </a:rPr>
              <a:t>Bull</a:t>
            </a:r>
            <a:r>
              <a:rPr sz="900" spc="15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900" spc="35" dirty="0">
                <a:solidFill>
                  <a:srgbClr val="9CA2AF"/>
                </a:solidFill>
                <a:latin typeface="Trebuchet MS"/>
                <a:cs typeface="Trebuchet MS"/>
              </a:rPr>
              <a:t>pen</a:t>
            </a:r>
            <a:r>
              <a:rPr lang="en-US" altLang="ko-KR" sz="900" spc="35" dirty="0">
                <a:solidFill>
                  <a:srgbClr val="9CA2AF"/>
                </a:solidFill>
                <a:latin typeface="Trebuchet MS"/>
                <a:cs typeface="Trebuchet MS"/>
              </a:rPr>
              <a:t>&amp;</a:t>
            </a:r>
            <a:r>
              <a:rPr lang="ko-KR" altLang="en-US" sz="900" spc="3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lang="en-US" altLang="ko-KR" sz="900" spc="35" dirty="0">
                <a:solidFill>
                  <a:srgbClr val="9CA2AF"/>
                </a:solidFill>
                <a:latin typeface="Trebuchet MS"/>
                <a:cs typeface="Trebuchet MS"/>
              </a:rPr>
              <a:t>Plyo ball</a:t>
            </a:r>
            <a:endParaRPr sz="900" dirty="0">
              <a:latin typeface="Trebuchet MS"/>
              <a:cs typeface="Trebuchet MS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484076" y="3692769"/>
            <a:ext cx="3089910" cy="603250"/>
            <a:chOff x="4484076" y="3692769"/>
            <a:chExt cx="3089910" cy="603250"/>
          </a:xfrm>
        </p:grpSpPr>
        <p:sp>
          <p:nvSpPr>
            <p:cNvPr id="63" name="object 63"/>
            <p:cNvSpPr/>
            <p:nvPr/>
          </p:nvSpPr>
          <p:spPr>
            <a:xfrm>
              <a:off x="4502917" y="3692769"/>
              <a:ext cx="3071495" cy="603250"/>
            </a:xfrm>
            <a:custGeom>
              <a:avLst/>
              <a:gdLst/>
              <a:ahLst/>
              <a:cxnLst/>
              <a:rect l="l" t="t" r="r" b="b"/>
              <a:pathLst>
                <a:path w="3071495" h="603250">
                  <a:moveTo>
                    <a:pt x="3000613" y="602900"/>
                  </a:moveTo>
                  <a:lnTo>
                    <a:pt x="52811" y="602900"/>
                  </a:lnTo>
                  <a:lnTo>
                    <a:pt x="49135" y="602418"/>
                  </a:lnTo>
                  <a:lnTo>
                    <a:pt x="13930" y="577328"/>
                  </a:lnTo>
                  <a:lnTo>
                    <a:pt x="361" y="537387"/>
                  </a:lnTo>
                  <a:lnTo>
                    <a:pt x="0" y="532486"/>
                  </a:lnTo>
                  <a:lnTo>
                    <a:pt x="0" y="527538"/>
                  </a:lnTo>
                  <a:lnTo>
                    <a:pt x="0" y="70414"/>
                  </a:lnTo>
                  <a:lnTo>
                    <a:pt x="11587" y="29378"/>
                  </a:lnTo>
                  <a:lnTo>
                    <a:pt x="41855" y="2413"/>
                  </a:lnTo>
                  <a:lnTo>
                    <a:pt x="52811" y="0"/>
                  </a:lnTo>
                  <a:lnTo>
                    <a:pt x="3000613" y="0"/>
                  </a:lnTo>
                  <a:lnTo>
                    <a:pt x="3041647" y="15449"/>
                  </a:lnTo>
                  <a:lnTo>
                    <a:pt x="3067184" y="51093"/>
                  </a:lnTo>
                  <a:lnTo>
                    <a:pt x="3071027" y="70414"/>
                  </a:lnTo>
                  <a:lnTo>
                    <a:pt x="3071027" y="532486"/>
                  </a:lnTo>
                  <a:lnTo>
                    <a:pt x="3055577" y="573521"/>
                  </a:lnTo>
                  <a:lnTo>
                    <a:pt x="3019933" y="599057"/>
                  </a:lnTo>
                  <a:lnTo>
                    <a:pt x="3005514" y="602418"/>
                  </a:lnTo>
                  <a:lnTo>
                    <a:pt x="3000613" y="602900"/>
                  </a:lnTo>
                  <a:close/>
                </a:path>
              </a:pathLst>
            </a:custGeom>
            <a:solidFill>
              <a:srgbClr val="37405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484076" y="3693043"/>
              <a:ext cx="69850" cy="602615"/>
            </a:xfrm>
            <a:custGeom>
              <a:avLst/>
              <a:gdLst/>
              <a:ahLst/>
              <a:cxnLst/>
              <a:rect l="l" t="t" r="r" b="b"/>
              <a:pathLst>
                <a:path w="69850" h="602614">
                  <a:moveTo>
                    <a:pt x="69675" y="602351"/>
                  </a:moveTo>
                  <a:lnTo>
                    <a:pt x="33485" y="589936"/>
                  </a:lnTo>
                  <a:lnTo>
                    <a:pt x="5735" y="556103"/>
                  </a:lnTo>
                  <a:lnTo>
                    <a:pt x="0" y="527263"/>
                  </a:lnTo>
                  <a:lnTo>
                    <a:pt x="0" y="75087"/>
                  </a:lnTo>
                  <a:lnTo>
                    <a:pt x="12688" y="33210"/>
                  </a:lnTo>
                  <a:lnTo>
                    <a:pt x="46522" y="5461"/>
                  </a:lnTo>
                  <a:lnTo>
                    <a:pt x="69674" y="0"/>
                  </a:lnTo>
                  <a:lnTo>
                    <a:pt x="65558" y="1637"/>
                  </a:lnTo>
                  <a:lnTo>
                    <a:pt x="56325" y="9286"/>
                  </a:lnTo>
                  <a:lnTo>
                    <a:pt x="40549" y="46247"/>
                  </a:lnTo>
                  <a:lnTo>
                    <a:pt x="37681" y="75087"/>
                  </a:lnTo>
                  <a:lnTo>
                    <a:pt x="37681" y="527263"/>
                  </a:lnTo>
                  <a:lnTo>
                    <a:pt x="44024" y="569140"/>
                  </a:lnTo>
                  <a:lnTo>
                    <a:pt x="65558" y="600713"/>
                  </a:lnTo>
                  <a:lnTo>
                    <a:pt x="69675" y="602351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34802" y="3805813"/>
              <a:ext cx="264160" cy="377190"/>
            </a:xfrm>
            <a:custGeom>
              <a:avLst/>
              <a:gdLst/>
              <a:ahLst/>
              <a:cxnLst/>
              <a:rect l="l" t="t" r="r" b="b"/>
              <a:pathLst>
                <a:path w="264160" h="377189">
                  <a:moveTo>
                    <a:pt x="131884" y="376813"/>
                  </a:moveTo>
                  <a:lnTo>
                    <a:pt x="93599" y="371135"/>
                  </a:lnTo>
                  <a:lnTo>
                    <a:pt x="58613" y="354585"/>
                  </a:lnTo>
                  <a:lnTo>
                    <a:pt x="29934" y="328595"/>
                  </a:lnTo>
                  <a:lnTo>
                    <a:pt x="10038" y="295398"/>
                  </a:lnTo>
                  <a:lnTo>
                    <a:pt x="633" y="257855"/>
                  </a:lnTo>
                  <a:lnTo>
                    <a:pt x="0" y="244928"/>
                  </a:lnTo>
                  <a:lnTo>
                    <a:pt x="0" y="131884"/>
                  </a:lnTo>
                  <a:lnTo>
                    <a:pt x="5676" y="93599"/>
                  </a:lnTo>
                  <a:lnTo>
                    <a:pt x="22226" y="58612"/>
                  </a:lnTo>
                  <a:lnTo>
                    <a:pt x="48216" y="29935"/>
                  </a:lnTo>
                  <a:lnTo>
                    <a:pt x="81414" y="10038"/>
                  </a:lnTo>
                  <a:lnTo>
                    <a:pt x="118957" y="633"/>
                  </a:lnTo>
                  <a:lnTo>
                    <a:pt x="131884" y="0"/>
                  </a:lnTo>
                  <a:lnTo>
                    <a:pt x="138363" y="158"/>
                  </a:lnTo>
                  <a:lnTo>
                    <a:pt x="176307" y="7705"/>
                  </a:lnTo>
                  <a:lnTo>
                    <a:pt x="210454" y="25957"/>
                  </a:lnTo>
                  <a:lnTo>
                    <a:pt x="237811" y="53313"/>
                  </a:lnTo>
                  <a:lnTo>
                    <a:pt x="256062" y="87460"/>
                  </a:lnTo>
                  <a:lnTo>
                    <a:pt x="263610" y="125405"/>
                  </a:lnTo>
                  <a:lnTo>
                    <a:pt x="263769" y="131884"/>
                  </a:lnTo>
                  <a:lnTo>
                    <a:pt x="263769" y="244928"/>
                  </a:lnTo>
                  <a:lnTo>
                    <a:pt x="258091" y="283212"/>
                  </a:lnTo>
                  <a:lnTo>
                    <a:pt x="241541" y="318198"/>
                  </a:lnTo>
                  <a:lnTo>
                    <a:pt x="215552" y="346877"/>
                  </a:lnTo>
                  <a:lnTo>
                    <a:pt x="182354" y="366773"/>
                  </a:lnTo>
                  <a:lnTo>
                    <a:pt x="144811" y="376179"/>
                  </a:lnTo>
                  <a:lnTo>
                    <a:pt x="131884" y="376813"/>
                  </a:lnTo>
                  <a:close/>
                </a:path>
              </a:pathLst>
            </a:custGeom>
            <a:solidFill>
              <a:srgbClr val="7C2D1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10164" y="3909436"/>
              <a:ext cx="113043" cy="150725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4998915" y="3754803"/>
            <a:ext cx="1850389" cy="4254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150" b="1" spc="120" dirty="0">
                <a:solidFill>
                  <a:srgbClr val="FFFFFF"/>
                </a:solidFill>
                <a:latin typeface="Trebuchet MS"/>
                <a:cs typeface="Trebuchet MS"/>
              </a:rPr>
              <a:t>Velocity</a:t>
            </a:r>
            <a:r>
              <a:rPr sz="115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45" dirty="0">
                <a:solidFill>
                  <a:srgbClr val="FFFFFF"/>
                </a:solidFill>
                <a:latin typeface="Trebuchet MS"/>
                <a:cs typeface="Trebuchet MS"/>
              </a:rPr>
              <a:t>Computation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900" spc="60" dirty="0">
                <a:solidFill>
                  <a:srgbClr val="9CA2AF"/>
                </a:solidFill>
                <a:latin typeface="Trebuchet MS"/>
                <a:cs typeface="Trebuchet MS"/>
              </a:rPr>
              <a:t>Average</a:t>
            </a:r>
            <a:r>
              <a:rPr sz="900" spc="1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9CA2AF"/>
                </a:solidFill>
                <a:latin typeface="Trebuchet MS"/>
                <a:cs typeface="Trebuchet MS"/>
              </a:rPr>
              <a:t>calculation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484076" y="4634801"/>
            <a:ext cx="3089910" cy="603250"/>
            <a:chOff x="4484076" y="4634801"/>
            <a:chExt cx="3089910" cy="603250"/>
          </a:xfrm>
        </p:grpSpPr>
        <p:sp>
          <p:nvSpPr>
            <p:cNvPr id="69" name="object 69"/>
            <p:cNvSpPr/>
            <p:nvPr/>
          </p:nvSpPr>
          <p:spPr>
            <a:xfrm>
              <a:off x="4502917" y="4634801"/>
              <a:ext cx="3071495" cy="603250"/>
            </a:xfrm>
            <a:custGeom>
              <a:avLst/>
              <a:gdLst/>
              <a:ahLst/>
              <a:cxnLst/>
              <a:rect l="l" t="t" r="r" b="b"/>
              <a:pathLst>
                <a:path w="3071495" h="603250">
                  <a:moveTo>
                    <a:pt x="3000613" y="602901"/>
                  </a:moveTo>
                  <a:lnTo>
                    <a:pt x="52811" y="602901"/>
                  </a:lnTo>
                  <a:lnTo>
                    <a:pt x="49135" y="602418"/>
                  </a:lnTo>
                  <a:lnTo>
                    <a:pt x="13930" y="577328"/>
                  </a:lnTo>
                  <a:lnTo>
                    <a:pt x="361" y="537387"/>
                  </a:lnTo>
                  <a:lnTo>
                    <a:pt x="0" y="532486"/>
                  </a:lnTo>
                  <a:lnTo>
                    <a:pt x="0" y="527538"/>
                  </a:lnTo>
                  <a:lnTo>
                    <a:pt x="0" y="70414"/>
                  </a:lnTo>
                  <a:lnTo>
                    <a:pt x="11587" y="29378"/>
                  </a:lnTo>
                  <a:lnTo>
                    <a:pt x="41855" y="2413"/>
                  </a:lnTo>
                  <a:lnTo>
                    <a:pt x="52811" y="0"/>
                  </a:lnTo>
                  <a:lnTo>
                    <a:pt x="3000613" y="0"/>
                  </a:lnTo>
                  <a:lnTo>
                    <a:pt x="3041647" y="15449"/>
                  </a:lnTo>
                  <a:lnTo>
                    <a:pt x="3067184" y="51093"/>
                  </a:lnTo>
                  <a:lnTo>
                    <a:pt x="3071027" y="70414"/>
                  </a:lnTo>
                  <a:lnTo>
                    <a:pt x="3071027" y="532486"/>
                  </a:lnTo>
                  <a:lnTo>
                    <a:pt x="3055577" y="573521"/>
                  </a:lnTo>
                  <a:lnTo>
                    <a:pt x="3019933" y="599057"/>
                  </a:lnTo>
                  <a:lnTo>
                    <a:pt x="3005514" y="602418"/>
                  </a:lnTo>
                  <a:lnTo>
                    <a:pt x="3000613" y="602901"/>
                  </a:lnTo>
                  <a:close/>
                </a:path>
              </a:pathLst>
            </a:custGeom>
            <a:solidFill>
              <a:srgbClr val="15803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484076" y="4635076"/>
              <a:ext cx="69850" cy="602615"/>
            </a:xfrm>
            <a:custGeom>
              <a:avLst/>
              <a:gdLst/>
              <a:ahLst/>
              <a:cxnLst/>
              <a:rect l="l" t="t" r="r" b="b"/>
              <a:pathLst>
                <a:path w="69850" h="602614">
                  <a:moveTo>
                    <a:pt x="69675" y="602351"/>
                  </a:moveTo>
                  <a:lnTo>
                    <a:pt x="33485" y="589936"/>
                  </a:lnTo>
                  <a:lnTo>
                    <a:pt x="5736" y="556103"/>
                  </a:lnTo>
                  <a:lnTo>
                    <a:pt x="0" y="527263"/>
                  </a:lnTo>
                  <a:lnTo>
                    <a:pt x="0" y="75087"/>
                  </a:lnTo>
                  <a:lnTo>
                    <a:pt x="12688" y="33210"/>
                  </a:lnTo>
                  <a:lnTo>
                    <a:pt x="46522" y="5461"/>
                  </a:lnTo>
                  <a:lnTo>
                    <a:pt x="69674" y="0"/>
                  </a:lnTo>
                  <a:lnTo>
                    <a:pt x="65558" y="1637"/>
                  </a:lnTo>
                  <a:lnTo>
                    <a:pt x="56325" y="9286"/>
                  </a:lnTo>
                  <a:lnTo>
                    <a:pt x="40549" y="46247"/>
                  </a:lnTo>
                  <a:lnTo>
                    <a:pt x="37681" y="75087"/>
                  </a:lnTo>
                  <a:lnTo>
                    <a:pt x="37681" y="527263"/>
                  </a:lnTo>
                  <a:lnTo>
                    <a:pt x="44024" y="569140"/>
                  </a:lnTo>
                  <a:lnTo>
                    <a:pt x="65558" y="600713"/>
                  </a:lnTo>
                  <a:lnTo>
                    <a:pt x="69675" y="602351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634802" y="4747845"/>
              <a:ext cx="301625" cy="377190"/>
            </a:xfrm>
            <a:custGeom>
              <a:avLst/>
              <a:gdLst/>
              <a:ahLst/>
              <a:cxnLst/>
              <a:rect l="l" t="t" r="r" b="b"/>
              <a:pathLst>
                <a:path w="301625" h="377189">
                  <a:moveTo>
                    <a:pt x="150725" y="376813"/>
                  </a:moveTo>
                  <a:lnTo>
                    <a:pt x="106971" y="370323"/>
                  </a:lnTo>
                  <a:lnTo>
                    <a:pt x="66986" y="351410"/>
                  </a:lnTo>
                  <a:lnTo>
                    <a:pt x="34211" y="321707"/>
                  </a:lnTo>
                  <a:lnTo>
                    <a:pt x="11472" y="283767"/>
                  </a:lnTo>
                  <a:lnTo>
                    <a:pt x="723" y="240861"/>
                  </a:lnTo>
                  <a:lnTo>
                    <a:pt x="0" y="226087"/>
                  </a:lnTo>
                  <a:lnTo>
                    <a:pt x="0" y="150725"/>
                  </a:lnTo>
                  <a:lnTo>
                    <a:pt x="6487" y="106971"/>
                  </a:lnTo>
                  <a:lnTo>
                    <a:pt x="25401" y="66986"/>
                  </a:lnTo>
                  <a:lnTo>
                    <a:pt x="55104" y="34211"/>
                  </a:lnTo>
                  <a:lnTo>
                    <a:pt x="93044" y="11473"/>
                  </a:lnTo>
                  <a:lnTo>
                    <a:pt x="135951" y="724"/>
                  </a:lnTo>
                  <a:lnTo>
                    <a:pt x="150725" y="0"/>
                  </a:lnTo>
                  <a:lnTo>
                    <a:pt x="158129" y="181"/>
                  </a:lnTo>
                  <a:lnTo>
                    <a:pt x="201494" y="8806"/>
                  </a:lnTo>
                  <a:lnTo>
                    <a:pt x="240519" y="29665"/>
                  </a:lnTo>
                  <a:lnTo>
                    <a:pt x="271783" y="60929"/>
                  </a:lnTo>
                  <a:lnTo>
                    <a:pt x="292642" y="99955"/>
                  </a:lnTo>
                  <a:lnTo>
                    <a:pt x="301269" y="143320"/>
                  </a:lnTo>
                  <a:lnTo>
                    <a:pt x="301450" y="150725"/>
                  </a:lnTo>
                  <a:lnTo>
                    <a:pt x="301450" y="226087"/>
                  </a:lnTo>
                  <a:lnTo>
                    <a:pt x="294961" y="269840"/>
                  </a:lnTo>
                  <a:lnTo>
                    <a:pt x="276048" y="309826"/>
                  </a:lnTo>
                  <a:lnTo>
                    <a:pt x="246344" y="342600"/>
                  </a:lnTo>
                  <a:lnTo>
                    <a:pt x="208404" y="365339"/>
                  </a:lnTo>
                  <a:lnTo>
                    <a:pt x="165498" y="376088"/>
                  </a:lnTo>
                  <a:lnTo>
                    <a:pt x="150725" y="376813"/>
                  </a:lnTo>
                  <a:close/>
                </a:path>
              </a:pathLst>
            </a:custGeom>
            <a:solidFill>
              <a:srgbClr val="13532D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10164" y="4851469"/>
              <a:ext cx="150725" cy="150725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5036596" y="4696836"/>
            <a:ext cx="2160270" cy="4254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150" b="1" spc="110" dirty="0">
                <a:solidFill>
                  <a:srgbClr val="FFFFFF"/>
                </a:solidFill>
                <a:latin typeface="Trebuchet MS"/>
                <a:cs typeface="Trebuchet MS"/>
              </a:rPr>
              <a:t>player_velocity_summary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900" dirty="0">
                <a:solidFill>
                  <a:srgbClr val="9CA2AF"/>
                </a:solidFill>
                <a:latin typeface="Trebuchet MS"/>
                <a:cs typeface="Trebuchet MS"/>
              </a:rPr>
              <a:t>Central</a:t>
            </a:r>
            <a:r>
              <a:rPr sz="900" spc="15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9CA2AF"/>
                </a:solidFill>
                <a:latin typeface="Trebuchet MS"/>
                <a:cs typeface="Trebuchet MS"/>
              </a:rPr>
              <a:t>summary</a:t>
            </a:r>
            <a:r>
              <a:rPr sz="900" spc="15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9CA2AF"/>
                </a:solidFill>
                <a:latin typeface="Trebuchet MS"/>
                <a:cs typeface="Trebuchet MS"/>
              </a:rPr>
              <a:t>table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Preliminary</a:t>
            </a:r>
            <a:r>
              <a:rPr spc="130" dirty="0"/>
              <a:t> </a:t>
            </a:r>
            <a:r>
              <a:rPr spc="320" dirty="0"/>
              <a:t>Results</a:t>
            </a:r>
            <a:r>
              <a:rPr spc="135" dirty="0"/>
              <a:t> </a:t>
            </a:r>
            <a:r>
              <a:rPr spc="434" dirty="0"/>
              <a:t>&amp;</a:t>
            </a:r>
            <a:r>
              <a:rPr spc="135" dirty="0"/>
              <a:t> </a:t>
            </a:r>
            <a:r>
              <a:rPr spc="260" dirty="0"/>
              <a:t>Visualizations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9599" y="1181099"/>
            <a:ext cx="10972800" cy="3086100"/>
            <a:chOff x="609599" y="1181099"/>
            <a:chExt cx="10972800" cy="3086100"/>
          </a:xfrm>
        </p:grpSpPr>
        <p:sp>
          <p:nvSpPr>
            <p:cNvPr id="4" name="object 4"/>
            <p:cNvSpPr/>
            <p:nvPr/>
          </p:nvSpPr>
          <p:spPr>
            <a:xfrm>
              <a:off x="609599" y="798090"/>
              <a:ext cx="10972800" cy="3086100"/>
            </a:xfrm>
            <a:custGeom>
              <a:avLst/>
              <a:gdLst/>
              <a:ahLst/>
              <a:cxnLst/>
              <a:rect l="l" t="t" r="r" b="b"/>
              <a:pathLst>
                <a:path w="10972800" h="3086100">
                  <a:moveTo>
                    <a:pt x="10901602" y="3086099"/>
                  </a:moveTo>
                  <a:lnTo>
                    <a:pt x="71196" y="3086099"/>
                  </a:lnTo>
                  <a:lnTo>
                    <a:pt x="66241" y="3085611"/>
                  </a:lnTo>
                  <a:lnTo>
                    <a:pt x="29705" y="3070477"/>
                  </a:lnTo>
                  <a:lnTo>
                    <a:pt x="3885" y="3034436"/>
                  </a:lnTo>
                  <a:lnTo>
                    <a:pt x="0" y="3014902"/>
                  </a:lnTo>
                  <a:lnTo>
                    <a:pt x="0" y="3009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0901602" y="0"/>
                  </a:lnTo>
                  <a:lnTo>
                    <a:pt x="10943091" y="15621"/>
                  </a:lnTo>
                  <a:lnTo>
                    <a:pt x="10968911" y="51661"/>
                  </a:lnTo>
                  <a:lnTo>
                    <a:pt x="10972798" y="71196"/>
                  </a:lnTo>
                  <a:lnTo>
                    <a:pt x="10972798" y="3014902"/>
                  </a:lnTo>
                  <a:lnTo>
                    <a:pt x="10957175" y="3056393"/>
                  </a:lnTo>
                  <a:lnTo>
                    <a:pt x="10921136" y="3082213"/>
                  </a:lnTo>
                  <a:lnTo>
                    <a:pt x="10906556" y="3085611"/>
                  </a:lnTo>
                  <a:lnTo>
                    <a:pt x="10901602" y="30860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988590"/>
              <a:ext cx="190499" cy="1904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16000" y="947316"/>
            <a:ext cx="36156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20" dirty="0">
                <a:solidFill>
                  <a:srgbClr val="FFFFFF"/>
                </a:solidFill>
                <a:latin typeface="Trebuchet MS"/>
                <a:cs typeface="Trebuchet MS"/>
              </a:rPr>
              <a:t>Velocity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80" dirty="0">
                <a:solidFill>
                  <a:srgbClr val="FFFFFF"/>
                </a:solidFill>
                <a:latin typeface="Trebuchet MS"/>
                <a:cs typeface="Trebuchet MS"/>
              </a:rPr>
              <a:t>Comparison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8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sz="15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00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90" dirty="0">
                <a:solidFill>
                  <a:srgbClr val="FFFFFF"/>
                </a:solidFill>
                <a:latin typeface="Trebuchet MS"/>
                <a:cs typeface="Trebuchet MS"/>
              </a:rPr>
              <a:t>Type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9599" y="1409699"/>
            <a:ext cx="10820400" cy="4610100"/>
            <a:chOff x="609599" y="1409699"/>
            <a:chExt cx="10820400" cy="46101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82074" y="1026690"/>
              <a:ext cx="114299" cy="1142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53623" y="1026690"/>
              <a:ext cx="114299" cy="114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29924" y="1026690"/>
              <a:ext cx="114298" cy="114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999" y="1293390"/>
              <a:ext cx="10667999" cy="24383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9599" y="4036590"/>
              <a:ext cx="5410200" cy="1600200"/>
            </a:xfrm>
            <a:custGeom>
              <a:avLst/>
              <a:gdLst/>
              <a:ahLst/>
              <a:cxnLst/>
              <a:rect l="l" t="t" r="r" b="b"/>
              <a:pathLst>
                <a:path w="5410200" h="1600200">
                  <a:moveTo>
                    <a:pt x="5339002" y="1600199"/>
                  </a:moveTo>
                  <a:lnTo>
                    <a:pt x="71196" y="1600199"/>
                  </a:lnTo>
                  <a:lnTo>
                    <a:pt x="66241" y="1599711"/>
                  </a:lnTo>
                  <a:lnTo>
                    <a:pt x="29705" y="1584576"/>
                  </a:lnTo>
                  <a:lnTo>
                    <a:pt x="3885" y="1548536"/>
                  </a:lnTo>
                  <a:lnTo>
                    <a:pt x="0" y="1529003"/>
                  </a:lnTo>
                  <a:lnTo>
                    <a:pt x="0" y="1523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339002" y="0"/>
                  </a:lnTo>
                  <a:lnTo>
                    <a:pt x="5380493" y="15621"/>
                  </a:lnTo>
                  <a:lnTo>
                    <a:pt x="5406313" y="51661"/>
                  </a:lnTo>
                  <a:lnTo>
                    <a:pt x="5410199" y="71196"/>
                  </a:lnTo>
                  <a:lnTo>
                    <a:pt x="5410199" y="1529003"/>
                  </a:lnTo>
                  <a:lnTo>
                    <a:pt x="5394576" y="1570493"/>
                  </a:lnTo>
                  <a:lnTo>
                    <a:pt x="5358536" y="1596313"/>
                  </a:lnTo>
                  <a:lnTo>
                    <a:pt x="5343957" y="1599711"/>
                  </a:lnTo>
                  <a:lnTo>
                    <a:pt x="5339002" y="16001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1999" y="4236615"/>
              <a:ext cx="171449" cy="1714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1999" y="4608090"/>
              <a:ext cx="152399" cy="152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1999" y="5065290"/>
              <a:ext cx="152399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1999" y="5331990"/>
              <a:ext cx="152399" cy="1523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144992" y="985416"/>
            <a:ext cx="6705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Pull-</a:t>
            </a:r>
            <a:r>
              <a:rPr sz="1050" spc="30" dirty="0">
                <a:solidFill>
                  <a:srgbClr val="FFFFFF"/>
                </a:solidFill>
                <a:latin typeface="Trebuchet MS"/>
                <a:cs typeface="Trebuchet MS"/>
              </a:rPr>
              <a:t>down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13564" y="985416"/>
            <a:ext cx="5753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Bull-</a:t>
            </a:r>
            <a:r>
              <a:rPr sz="1050" spc="30" dirty="0">
                <a:solidFill>
                  <a:srgbClr val="FFFFFF"/>
                </a:solidFill>
                <a:latin typeface="Trebuchet MS"/>
                <a:cs typeface="Trebuchet MS"/>
              </a:rPr>
              <a:t>pen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86888" y="985416"/>
            <a:ext cx="3035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FFFFFF"/>
                </a:solidFill>
                <a:latin typeface="Trebuchet MS"/>
                <a:cs typeface="Trebuchet MS"/>
              </a:rPr>
              <a:t>Plyo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7900" y="4195341"/>
            <a:ext cx="4525010" cy="1280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z="1350" b="1" spc="105" dirty="0">
                <a:solidFill>
                  <a:srgbClr val="FFFFFF"/>
                </a:solidFill>
                <a:latin typeface="Trebuchet MS"/>
                <a:cs typeface="Trebuchet MS"/>
              </a:rPr>
              <a:t>Initial</a:t>
            </a:r>
            <a:r>
              <a:rPr sz="135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50" b="1" spc="175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35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50" b="1" spc="145" dirty="0">
                <a:solidFill>
                  <a:srgbClr val="FFFFFF"/>
                </a:solidFill>
                <a:latin typeface="Trebuchet MS"/>
                <a:cs typeface="Trebuchet MS"/>
              </a:rPr>
              <a:t>Findings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19000"/>
              </a:lnSpc>
              <a:spcBef>
                <a:spcPts val="1065"/>
              </a:spcBef>
            </a:pPr>
            <a:r>
              <a:rPr sz="1050" spc="80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05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successfully</a:t>
            </a:r>
            <a:r>
              <a:rPr sz="105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D0D5DA"/>
                </a:solidFill>
                <a:latin typeface="Trebuchet MS"/>
                <a:cs typeface="Trebuchet MS"/>
              </a:rPr>
              <a:t>aggregated</a:t>
            </a:r>
            <a:r>
              <a:rPr sz="1050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from</a:t>
            </a:r>
            <a:r>
              <a:rPr sz="105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three</a:t>
            </a:r>
            <a:r>
              <a:rPr sz="105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test</a:t>
            </a:r>
            <a:r>
              <a:rPr sz="1050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D0D5DA"/>
                </a:solidFill>
                <a:latin typeface="Trebuchet MS"/>
                <a:cs typeface="Trebuchet MS"/>
              </a:rPr>
              <a:t>scenarios</a:t>
            </a:r>
            <a:r>
              <a:rPr sz="105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into</a:t>
            </a:r>
            <a:r>
              <a:rPr sz="105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D0D5DA"/>
                </a:solidFill>
                <a:latin typeface="Trebuchet MS"/>
                <a:cs typeface="Trebuchet MS"/>
              </a:rPr>
              <a:t>unified table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050" spc="75" dirty="0">
                <a:solidFill>
                  <a:srgbClr val="D0D5DA"/>
                </a:solidFill>
                <a:latin typeface="Trebuchet MS"/>
                <a:cs typeface="Trebuchet MS"/>
              </a:rPr>
              <a:t>Average</a:t>
            </a:r>
            <a:r>
              <a:rPr sz="1050" spc="80" dirty="0">
                <a:solidFill>
                  <a:srgbClr val="D0D5DA"/>
                </a:solidFill>
                <a:latin typeface="Trebuchet MS"/>
                <a:cs typeface="Trebuchet MS"/>
              </a:rPr>
              <a:t> speed </a:t>
            </a: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calculations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verified</a:t>
            </a:r>
            <a:r>
              <a:rPr sz="105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D0D5DA"/>
                </a:solidFill>
                <a:latin typeface="Trebuchet MS"/>
                <a:cs typeface="Trebuchet MS"/>
              </a:rPr>
              <a:t>usability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Plyo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 testing </a:t>
            </a:r>
            <a:r>
              <a:rPr sz="1050" spc="90" dirty="0">
                <a:solidFill>
                  <a:srgbClr val="D0D5DA"/>
                </a:solidFill>
                <a:latin typeface="Trebuchet MS"/>
                <a:cs typeface="Trebuchet MS"/>
              </a:rPr>
              <a:t>shows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consistently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higher </a:t>
            </a:r>
            <a:r>
              <a:rPr sz="1050" spc="90" dirty="0">
                <a:solidFill>
                  <a:srgbClr val="D0D5DA"/>
                </a:solidFill>
                <a:latin typeface="Trebuchet MS"/>
                <a:cs typeface="Trebuchet MS"/>
              </a:rPr>
              <a:t>speeds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D0D5DA"/>
                </a:solidFill>
                <a:latin typeface="Trebuchet MS"/>
                <a:cs typeface="Trebuchet MS"/>
              </a:rPr>
              <a:t>across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all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players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72199" y="4419599"/>
            <a:ext cx="5410200" cy="1600200"/>
            <a:chOff x="6172199" y="4419599"/>
            <a:chExt cx="5410200" cy="1600200"/>
          </a:xfrm>
        </p:grpSpPr>
        <p:sp>
          <p:nvSpPr>
            <p:cNvPr id="22" name="object 22"/>
            <p:cNvSpPr/>
            <p:nvPr/>
          </p:nvSpPr>
          <p:spPr>
            <a:xfrm>
              <a:off x="6172199" y="4036590"/>
              <a:ext cx="5410200" cy="1600200"/>
            </a:xfrm>
            <a:custGeom>
              <a:avLst/>
              <a:gdLst/>
              <a:ahLst/>
              <a:cxnLst/>
              <a:rect l="l" t="t" r="r" b="b"/>
              <a:pathLst>
                <a:path w="5410200" h="1600200">
                  <a:moveTo>
                    <a:pt x="5339002" y="1600199"/>
                  </a:moveTo>
                  <a:lnTo>
                    <a:pt x="71196" y="1600199"/>
                  </a:lnTo>
                  <a:lnTo>
                    <a:pt x="66241" y="1599711"/>
                  </a:lnTo>
                  <a:lnTo>
                    <a:pt x="29705" y="1584576"/>
                  </a:lnTo>
                  <a:lnTo>
                    <a:pt x="3885" y="1548536"/>
                  </a:lnTo>
                  <a:lnTo>
                    <a:pt x="0" y="1529003"/>
                  </a:lnTo>
                  <a:lnTo>
                    <a:pt x="0" y="1523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339002" y="0"/>
                  </a:lnTo>
                  <a:lnTo>
                    <a:pt x="5380492" y="15621"/>
                  </a:lnTo>
                  <a:lnTo>
                    <a:pt x="5406311" y="51661"/>
                  </a:lnTo>
                  <a:lnTo>
                    <a:pt x="5410198" y="71196"/>
                  </a:lnTo>
                  <a:lnTo>
                    <a:pt x="5410198" y="1529003"/>
                  </a:lnTo>
                  <a:lnTo>
                    <a:pt x="5394576" y="1570493"/>
                  </a:lnTo>
                  <a:lnTo>
                    <a:pt x="5358536" y="1596313"/>
                  </a:lnTo>
                  <a:lnTo>
                    <a:pt x="5343957" y="1599711"/>
                  </a:lnTo>
                  <a:lnTo>
                    <a:pt x="5339002" y="16001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24599" y="4236615"/>
              <a:ext cx="133349" cy="1714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324599" y="506529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42874" y="380999"/>
                  </a:moveTo>
                  <a:lnTo>
                    <a:pt x="101399" y="374848"/>
                  </a:lnTo>
                  <a:lnTo>
                    <a:pt x="63497" y="356920"/>
                  </a:lnTo>
                  <a:lnTo>
                    <a:pt x="32429" y="328764"/>
                  </a:lnTo>
                  <a:lnTo>
                    <a:pt x="10874" y="292799"/>
                  </a:lnTo>
                  <a:lnTo>
                    <a:pt x="686" y="252128"/>
                  </a:lnTo>
                  <a:lnTo>
                    <a:pt x="0" y="238124"/>
                  </a:lnTo>
                  <a:lnTo>
                    <a:pt x="0" y="142874"/>
                  </a:lnTo>
                  <a:lnTo>
                    <a:pt x="6149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4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0999" y="8347"/>
                  </a:lnTo>
                  <a:lnTo>
                    <a:pt x="227991" y="28120"/>
                  </a:lnTo>
                  <a:lnTo>
                    <a:pt x="257627" y="57756"/>
                  </a:lnTo>
                  <a:lnTo>
                    <a:pt x="277400" y="94748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749" y="238124"/>
                  </a:lnTo>
                  <a:lnTo>
                    <a:pt x="279598" y="279598"/>
                  </a:lnTo>
                  <a:lnTo>
                    <a:pt x="261669" y="317500"/>
                  </a:lnTo>
                  <a:lnTo>
                    <a:pt x="233513" y="348569"/>
                  </a:lnTo>
                  <a:lnTo>
                    <a:pt x="197550" y="370123"/>
                  </a:lnTo>
                  <a:lnTo>
                    <a:pt x="156879" y="380313"/>
                  </a:lnTo>
                  <a:lnTo>
                    <a:pt x="142874" y="3809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0799" y="5189115"/>
              <a:ext cx="133349" cy="1142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311899" y="4195341"/>
            <a:ext cx="5116830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100"/>
              </a:spcBef>
            </a:pPr>
            <a:r>
              <a:rPr sz="1350" b="1" spc="125" dirty="0">
                <a:solidFill>
                  <a:srgbClr val="FFFFFF"/>
                </a:solidFill>
                <a:latin typeface="Trebuchet MS"/>
                <a:cs typeface="Trebuchet MS"/>
              </a:rPr>
              <a:t>Visualization</a:t>
            </a:r>
            <a:r>
              <a:rPr sz="135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50" b="1" spc="155" dirty="0">
                <a:solidFill>
                  <a:srgbClr val="FFFFFF"/>
                </a:solidFill>
                <a:latin typeface="Trebuchet MS"/>
                <a:cs typeface="Trebuchet MS"/>
              </a:rPr>
              <a:t>Insights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19000"/>
              </a:lnSpc>
              <a:spcBef>
                <a:spcPts val="1065"/>
              </a:spcBef>
            </a:pP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Python-generated </a:t>
            </a:r>
            <a:r>
              <a:rPr sz="1050" spc="70" dirty="0">
                <a:solidFill>
                  <a:srgbClr val="D0D5DA"/>
                </a:solidFill>
                <a:latin typeface="Trebuchet MS"/>
                <a:cs typeface="Trebuchet MS"/>
              </a:rPr>
              <a:t>grouped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 bar</a:t>
            </a:r>
            <a:r>
              <a:rPr sz="105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D0D5DA"/>
                </a:solidFill>
                <a:latin typeface="Trebuchet MS"/>
                <a:cs typeface="Trebuchet MS"/>
              </a:rPr>
              <a:t>charts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validated</a:t>
            </a:r>
            <a:r>
              <a:rPr sz="105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data </a:t>
            </a:r>
            <a:r>
              <a:rPr sz="1050" spc="20" dirty="0">
                <a:solidFill>
                  <a:srgbClr val="D0D5DA"/>
                </a:solidFill>
                <a:latin typeface="Trebuchet MS"/>
                <a:cs typeface="Trebuchet MS"/>
              </a:rPr>
              <a:t>structure</a:t>
            </a:r>
            <a:r>
              <a:rPr sz="105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45" dirty="0">
                <a:solidFill>
                  <a:srgbClr val="D0D5DA"/>
                </a:solidFill>
                <a:latin typeface="Trebuchet MS"/>
                <a:cs typeface="Trebuchet MS"/>
              </a:rPr>
              <a:t>provided </a:t>
            </a:r>
            <a:r>
              <a:rPr sz="1050" spc="65" dirty="0">
                <a:solidFill>
                  <a:srgbClr val="D0D5DA"/>
                </a:solidFill>
                <a:latin typeface="Trebuchet MS"/>
                <a:cs typeface="Trebuchet MS"/>
              </a:rPr>
              <a:t>insights</a:t>
            </a:r>
            <a:r>
              <a:rPr sz="1050" spc="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05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Looker</a:t>
            </a:r>
            <a:r>
              <a:rPr sz="105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Studio</a:t>
            </a:r>
            <a:r>
              <a:rPr sz="105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D0D5DA"/>
                </a:solidFill>
                <a:latin typeface="Trebuchet MS"/>
                <a:cs typeface="Trebuchet MS"/>
              </a:rPr>
              <a:t>dashboard</a:t>
            </a:r>
            <a:r>
              <a:rPr sz="105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design.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050">
              <a:latin typeface="Trebuchet MS"/>
              <a:cs typeface="Trebuchet MS"/>
            </a:endParaRPr>
          </a:p>
          <a:p>
            <a:pPr marL="412115">
              <a:lnSpc>
                <a:spcPct val="100000"/>
              </a:lnSpc>
            </a:pPr>
            <a:r>
              <a:rPr sz="1050" spc="20" dirty="0">
                <a:solidFill>
                  <a:srgbClr val="D0D5DA"/>
                </a:solidFill>
                <a:latin typeface="Trebuchet MS"/>
                <a:cs typeface="Trebuchet MS"/>
              </a:rPr>
              <a:t>Next: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Implement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D0D5DA"/>
                </a:solidFill>
                <a:latin typeface="Trebuchet MS"/>
                <a:cs typeface="Trebuchet MS"/>
              </a:rPr>
              <a:t>in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D0D5DA"/>
                </a:solidFill>
                <a:latin typeface="Trebuchet MS"/>
                <a:cs typeface="Trebuchet MS"/>
              </a:rPr>
              <a:t>Looker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D0D5DA"/>
                </a:solidFill>
                <a:latin typeface="Trebuchet MS"/>
                <a:cs typeface="Trebuchet MS"/>
              </a:rPr>
              <a:t>Studio</a:t>
            </a:r>
            <a:r>
              <a:rPr sz="105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D0D5DA"/>
                </a:solidFill>
                <a:latin typeface="Trebuchet MS"/>
                <a:cs typeface="Trebuchet MS"/>
              </a:rPr>
              <a:t>with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D0D5DA"/>
                </a:solidFill>
                <a:latin typeface="Trebuchet MS"/>
                <a:cs typeface="Trebuchet MS"/>
              </a:rPr>
              <a:t>interactive</a:t>
            </a:r>
            <a:r>
              <a:rPr sz="105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D0D5DA"/>
                </a:solidFill>
                <a:latin typeface="Trebuchet MS"/>
                <a:cs typeface="Trebuchet MS"/>
              </a:rPr>
              <a:t>filtering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09599" y="5941590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304799" y="38099"/>
                </a:moveTo>
                <a:lnTo>
                  <a:pt x="0" y="38099"/>
                </a:lnTo>
                <a:lnTo>
                  <a:pt x="0" y="0"/>
                </a:lnTo>
                <a:lnTo>
                  <a:pt x="304799" y="0"/>
                </a:lnTo>
                <a:lnTo>
                  <a:pt x="304799" y="38099"/>
                </a:lnTo>
                <a:close/>
              </a:path>
            </a:pathLst>
          </a:custGeom>
          <a:solidFill>
            <a:srgbClr val="21C4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77900" y="5862215"/>
            <a:ext cx="43916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65" dirty="0">
                <a:solidFill>
                  <a:srgbClr val="9CA2AF"/>
                </a:solidFill>
                <a:latin typeface="Trebuchet MS"/>
                <a:cs typeface="Trebuchet MS"/>
              </a:rPr>
              <a:t>Automated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10" dirty="0">
                <a:solidFill>
                  <a:srgbClr val="9CA2AF"/>
                </a:solidFill>
                <a:latin typeface="Trebuchet MS"/>
                <a:cs typeface="Trebuchet MS"/>
              </a:rPr>
              <a:t>Player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10" dirty="0">
                <a:solidFill>
                  <a:srgbClr val="9CA2AF"/>
                </a:solidFill>
                <a:latin typeface="Trebuchet MS"/>
                <a:cs typeface="Trebuchet MS"/>
              </a:rPr>
              <a:t>Tracking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9CA2AF"/>
                </a:solidFill>
                <a:latin typeface="Trebuchet MS"/>
                <a:cs typeface="Trebuchet MS"/>
              </a:rPr>
              <a:t>&amp;</a:t>
            </a:r>
            <a:r>
              <a:rPr sz="105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9CA2AF"/>
                </a:solidFill>
                <a:latin typeface="Trebuchet MS"/>
                <a:cs typeface="Trebuchet MS"/>
              </a:rPr>
              <a:t>Reporting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95" dirty="0">
                <a:solidFill>
                  <a:srgbClr val="9CA2AF"/>
                </a:solidFill>
                <a:latin typeface="Trebuchet MS"/>
                <a:cs typeface="Trebuchet MS"/>
              </a:rPr>
              <a:t>System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9CA2AF"/>
                </a:solidFill>
                <a:latin typeface="Trebuchet MS"/>
                <a:cs typeface="Trebuchet MS"/>
              </a:rPr>
              <a:t>via</a:t>
            </a:r>
            <a:r>
              <a:rPr sz="105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Looker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Studio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689208" y="6081290"/>
            <a:ext cx="3251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FFFFFF"/>
                </a:solidFill>
                <a:latin typeface="Trebuchet MS"/>
                <a:cs typeface="Trebuchet MS"/>
              </a:rPr>
              <a:t>7/11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511915" cy="6853555"/>
            <a:chOff x="0" y="0"/>
            <a:chExt cx="11511915" cy="6853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511539" cy="68529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5576" y="593563"/>
              <a:ext cx="431800" cy="36195"/>
            </a:xfrm>
            <a:custGeom>
              <a:avLst/>
              <a:gdLst/>
              <a:ahLst/>
              <a:cxnLst/>
              <a:rect l="l" t="t" r="r" b="b"/>
              <a:pathLst>
                <a:path w="431800" h="36195">
                  <a:moveTo>
                    <a:pt x="431682" y="35973"/>
                  </a:moveTo>
                  <a:lnTo>
                    <a:pt x="0" y="35973"/>
                  </a:lnTo>
                  <a:lnTo>
                    <a:pt x="0" y="0"/>
                  </a:lnTo>
                  <a:lnTo>
                    <a:pt x="431682" y="0"/>
                  </a:lnTo>
                  <a:lnTo>
                    <a:pt x="431682" y="35973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290" dirty="0"/>
              <a:t>Automation</a:t>
            </a:r>
            <a:r>
              <a:rPr sz="2550" spc="120" dirty="0"/>
              <a:t> </a:t>
            </a:r>
            <a:r>
              <a:rPr sz="2550" spc="245" dirty="0"/>
              <a:t>Workflow</a:t>
            </a:r>
            <a:endParaRPr sz="2550"/>
          </a:p>
        </p:txBody>
      </p:sp>
      <p:grpSp>
        <p:nvGrpSpPr>
          <p:cNvPr id="10" name="object 10"/>
          <p:cNvGrpSpPr/>
          <p:nvPr/>
        </p:nvGrpSpPr>
        <p:grpSpPr>
          <a:xfrm>
            <a:off x="575576" y="1834651"/>
            <a:ext cx="2590165" cy="1654810"/>
            <a:chOff x="575576" y="1834651"/>
            <a:chExt cx="2590165" cy="1654810"/>
          </a:xfrm>
        </p:grpSpPr>
        <p:sp>
          <p:nvSpPr>
            <p:cNvPr id="11" name="object 11"/>
            <p:cNvSpPr/>
            <p:nvPr/>
          </p:nvSpPr>
          <p:spPr>
            <a:xfrm>
              <a:off x="575576" y="1834651"/>
              <a:ext cx="2590165" cy="1654810"/>
            </a:xfrm>
            <a:custGeom>
              <a:avLst/>
              <a:gdLst/>
              <a:ahLst/>
              <a:cxnLst/>
              <a:rect l="l" t="t" r="r" b="b"/>
              <a:pathLst>
                <a:path w="2590165" h="1654810">
                  <a:moveTo>
                    <a:pt x="2522873" y="1654783"/>
                  </a:moveTo>
                  <a:lnTo>
                    <a:pt x="67223" y="1654783"/>
                  </a:lnTo>
                  <a:lnTo>
                    <a:pt x="62544" y="1654322"/>
                  </a:lnTo>
                  <a:lnTo>
                    <a:pt x="24413" y="1637051"/>
                  </a:lnTo>
                  <a:lnTo>
                    <a:pt x="2304" y="1601506"/>
                  </a:lnTo>
                  <a:lnTo>
                    <a:pt x="0" y="1587560"/>
                  </a:lnTo>
                  <a:lnTo>
                    <a:pt x="0" y="1582836"/>
                  </a:lnTo>
                  <a:lnTo>
                    <a:pt x="0" y="67222"/>
                  </a:lnTo>
                  <a:lnTo>
                    <a:pt x="14749" y="28047"/>
                  </a:lnTo>
                  <a:lnTo>
                    <a:pt x="48778" y="3668"/>
                  </a:lnTo>
                  <a:lnTo>
                    <a:pt x="67223" y="0"/>
                  </a:lnTo>
                  <a:lnTo>
                    <a:pt x="2522873" y="0"/>
                  </a:lnTo>
                  <a:lnTo>
                    <a:pt x="2562048" y="14749"/>
                  </a:lnTo>
                  <a:lnTo>
                    <a:pt x="2586427" y="48778"/>
                  </a:lnTo>
                  <a:lnTo>
                    <a:pt x="2590096" y="67222"/>
                  </a:lnTo>
                  <a:lnTo>
                    <a:pt x="2590096" y="1587560"/>
                  </a:lnTo>
                  <a:lnTo>
                    <a:pt x="2575346" y="1626736"/>
                  </a:lnTo>
                  <a:lnTo>
                    <a:pt x="2541317" y="1651114"/>
                  </a:lnTo>
                  <a:lnTo>
                    <a:pt x="2527551" y="1654322"/>
                  </a:lnTo>
                  <a:lnTo>
                    <a:pt x="2522873" y="1654783"/>
                  </a:lnTo>
                  <a:close/>
                </a:path>
              </a:pathLst>
            </a:custGeom>
            <a:solidFill>
              <a:srgbClr val="1F2937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5444" y="2014519"/>
              <a:ext cx="405130" cy="504190"/>
            </a:xfrm>
            <a:custGeom>
              <a:avLst/>
              <a:gdLst/>
              <a:ahLst/>
              <a:cxnLst/>
              <a:rect l="l" t="t" r="r" b="b"/>
              <a:pathLst>
                <a:path w="405130" h="504189">
                  <a:moveTo>
                    <a:pt x="208978" y="503629"/>
                  </a:moveTo>
                  <a:lnTo>
                    <a:pt x="195724" y="503629"/>
                  </a:lnTo>
                  <a:lnTo>
                    <a:pt x="189112" y="503305"/>
                  </a:lnTo>
                  <a:lnTo>
                    <a:pt x="149953" y="496840"/>
                  </a:lnTo>
                  <a:lnTo>
                    <a:pt x="112808" y="482860"/>
                  </a:lnTo>
                  <a:lnTo>
                    <a:pt x="79103" y="461901"/>
                  </a:lnTo>
                  <a:lnTo>
                    <a:pt x="50135" y="434771"/>
                  </a:lnTo>
                  <a:lnTo>
                    <a:pt x="27017" y="402510"/>
                  </a:lnTo>
                  <a:lnTo>
                    <a:pt x="10636" y="366359"/>
                  </a:lnTo>
                  <a:lnTo>
                    <a:pt x="1623" y="327707"/>
                  </a:lnTo>
                  <a:lnTo>
                    <a:pt x="0" y="301278"/>
                  </a:lnTo>
                  <a:lnTo>
                    <a:pt x="0" y="195723"/>
                  </a:lnTo>
                  <a:lnTo>
                    <a:pt x="5180" y="156374"/>
                  </a:lnTo>
                  <a:lnTo>
                    <a:pt x="17939" y="118791"/>
                  </a:lnTo>
                  <a:lnTo>
                    <a:pt x="37784" y="84420"/>
                  </a:lnTo>
                  <a:lnTo>
                    <a:pt x="63953" y="54580"/>
                  </a:lnTo>
                  <a:lnTo>
                    <a:pt x="95441" y="30420"/>
                  </a:lnTo>
                  <a:lnTo>
                    <a:pt x="131037" y="12866"/>
                  </a:lnTo>
                  <a:lnTo>
                    <a:pt x="169374" y="2595"/>
                  </a:lnTo>
                  <a:lnTo>
                    <a:pt x="195724" y="0"/>
                  </a:lnTo>
                  <a:lnTo>
                    <a:pt x="208978" y="0"/>
                  </a:lnTo>
                  <a:lnTo>
                    <a:pt x="248327" y="5181"/>
                  </a:lnTo>
                  <a:lnTo>
                    <a:pt x="285910" y="17939"/>
                  </a:lnTo>
                  <a:lnTo>
                    <a:pt x="320281" y="37783"/>
                  </a:lnTo>
                  <a:lnTo>
                    <a:pt x="350121" y="63953"/>
                  </a:lnTo>
                  <a:lnTo>
                    <a:pt x="374281" y="95440"/>
                  </a:lnTo>
                  <a:lnTo>
                    <a:pt x="391835" y="131037"/>
                  </a:lnTo>
                  <a:lnTo>
                    <a:pt x="402107" y="169374"/>
                  </a:lnTo>
                  <a:lnTo>
                    <a:pt x="404702" y="195723"/>
                  </a:lnTo>
                  <a:lnTo>
                    <a:pt x="404702" y="307905"/>
                  </a:lnTo>
                  <a:lnTo>
                    <a:pt x="399521" y="347254"/>
                  </a:lnTo>
                  <a:lnTo>
                    <a:pt x="386763" y="384837"/>
                  </a:lnTo>
                  <a:lnTo>
                    <a:pt x="366918" y="419208"/>
                  </a:lnTo>
                  <a:lnTo>
                    <a:pt x="340748" y="449048"/>
                  </a:lnTo>
                  <a:lnTo>
                    <a:pt x="309261" y="473208"/>
                  </a:lnTo>
                  <a:lnTo>
                    <a:pt x="273664" y="490762"/>
                  </a:lnTo>
                  <a:lnTo>
                    <a:pt x="235328" y="501034"/>
                  </a:lnTo>
                  <a:lnTo>
                    <a:pt x="208978" y="50362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365" y="2122440"/>
              <a:ext cx="188861" cy="28778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42744" y="2631357"/>
            <a:ext cx="2224405" cy="6711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19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25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50" b="1" spc="155" dirty="0">
                <a:solidFill>
                  <a:srgbClr val="FFFFFF"/>
                </a:solidFill>
                <a:latin typeface="Trebuchet MS"/>
                <a:cs typeface="Trebuchet MS"/>
              </a:rPr>
              <a:t>Source</a:t>
            </a:r>
            <a:r>
              <a:rPr sz="125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50" b="1" spc="135" dirty="0">
                <a:solidFill>
                  <a:srgbClr val="FFFFFF"/>
                </a:solidFill>
                <a:latin typeface="Trebuchet MS"/>
                <a:cs typeface="Trebuchet MS"/>
              </a:rPr>
              <a:t>Integration</a:t>
            </a:r>
            <a:endParaRPr sz="1250">
              <a:latin typeface="Trebuchet MS"/>
              <a:cs typeface="Trebuchet MS"/>
            </a:endParaRPr>
          </a:p>
          <a:p>
            <a:pPr marL="12700" marR="205104">
              <a:lnSpc>
                <a:spcPct val="118000"/>
              </a:lnSpc>
              <a:spcBef>
                <a:spcPts val="725"/>
              </a:spcBef>
            </a:pPr>
            <a:r>
              <a:rPr sz="1000" spc="55" dirty="0">
                <a:solidFill>
                  <a:srgbClr val="D0D5DA"/>
                </a:solidFill>
                <a:latin typeface="Trebuchet MS"/>
                <a:cs typeface="Trebuchet MS"/>
              </a:rPr>
              <a:t>Connect</a:t>
            </a:r>
            <a:r>
              <a:rPr sz="1000" spc="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to</a:t>
            </a:r>
            <a:r>
              <a:rPr sz="10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95" dirty="0">
                <a:solidFill>
                  <a:srgbClr val="D0D5DA"/>
                </a:solidFill>
                <a:latin typeface="Trebuchet MS"/>
                <a:cs typeface="Trebuchet MS"/>
              </a:rPr>
              <a:t>SQL</a:t>
            </a:r>
            <a:r>
              <a:rPr sz="10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5" dirty="0">
                <a:solidFill>
                  <a:srgbClr val="D0D5DA"/>
                </a:solidFill>
                <a:latin typeface="Trebuchet MS"/>
                <a:cs typeface="Trebuchet MS"/>
              </a:rPr>
              <a:t>Workbench</a:t>
            </a:r>
            <a:r>
              <a:rPr sz="1000" spc="4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45" dirty="0">
                <a:solidFill>
                  <a:srgbClr val="D0D5DA"/>
                </a:solidFill>
                <a:latin typeface="Trebuchet MS"/>
                <a:cs typeface="Trebuchet MS"/>
              </a:rPr>
              <a:t>and </a:t>
            </a:r>
            <a:r>
              <a:rPr sz="1000" spc="10" dirty="0">
                <a:solidFill>
                  <a:srgbClr val="D0D5DA"/>
                </a:solidFill>
                <a:latin typeface="Trebuchet MS"/>
                <a:cs typeface="Trebuchet MS"/>
              </a:rPr>
              <a:t>import</a:t>
            </a:r>
            <a:r>
              <a:rPr sz="1000" spc="16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000" spc="1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10" dirty="0">
                <a:solidFill>
                  <a:srgbClr val="D0D5DA"/>
                </a:solidFill>
                <a:latin typeface="Trebuchet MS"/>
                <a:cs typeface="Trebuchet MS"/>
              </a:rPr>
              <a:t>from</a:t>
            </a:r>
            <a:r>
              <a:rPr sz="1000" spc="16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10" dirty="0">
                <a:solidFill>
                  <a:srgbClr val="D0D5DA"/>
                </a:solidFill>
                <a:latin typeface="Trebuchet MS"/>
                <a:cs typeface="Trebuchet MS"/>
              </a:rPr>
              <a:t>testing</a:t>
            </a:r>
            <a:r>
              <a:rPr sz="1000" spc="1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D0D5DA"/>
                </a:solidFill>
                <a:latin typeface="Trebuchet MS"/>
                <a:cs typeface="Trebuchet MS"/>
              </a:rPr>
              <a:t>tables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65673" y="1834651"/>
            <a:ext cx="2590165" cy="1654810"/>
            <a:chOff x="3165673" y="1834651"/>
            <a:chExt cx="2590165" cy="1654810"/>
          </a:xfrm>
        </p:grpSpPr>
        <p:sp>
          <p:nvSpPr>
            <p:cNvPr id="16" name="object 16"/>
            <p:cNvSpPr/>
            <p:nvPr/>
          </p:nvSpPr>
          <p:spPr>
            <a:xfrm>
              <a:off x="3165673" y="1834651"/>
              <a:ext cx="2590165" cy="1654810"/>
            </a:xfrm>
            <a:custGeom>
              <a:avLst/>
              <a:gdLst/>
              <a:ahLst/>
              <a:cxnLst/>
              <a:rect l="l" t="t" r="r" b="b"/>
              <a:pathLst>
                <a:path w="2590165" h="1654810">
                  <a:moveTo>
                    <a:pt x="2522873" y="1654783"/>
                  </a:moveTo>
                  <a:lnTo>
                    <a:pt x="67223" y="1654783"/>
                  </a:lnTo>
                  <a:lnTo>
                    <a:pt x="62544" y="1654322"/>
                  </a:lnTo>
                  <a:lnTo>
                    <a:pt x="24413" y="1637051"/>
                  </a:lnTo>
                  <a:lnTo>
                    <a:pt x="2304" y="1601506"/>
                  </a:lnTo>
                  <a:lnTo>
                    <a:pt x="0" y="1587560"/>
                  </a:lnTo>
                  <a:lnTo>
                    <a:pt x="0" y="1582836"/>
                  </a:lnTo>
                  <a:lnTo>
                    <a:pt x="0" y="67222"/>
                  </a:lnTo>
                  <a:lnTo>
                    <a:pt x="14749" y="28047"/>
                  </a:lnTo>
                  <a:lnTo>
                    <a:pt x="48778" y="3668"/>
                  </a:lnTo>
                  <a:lnTo>
                    <a:pt x="67223" y="0"/>
                  </a:lnTo>
                  <a:lnTo>
                    <a:pt x="2522873" y="0"/>
                  </a:lnTo>
                  <a:lnTo>
                    <a:pt x="2562048" y="14749"/>
                  </a:lnTo>
                  <a:lnTo>
                    <a:pt x="2586427" y="48778"/>
                  </a:lnTo>
                  <a:lnTo>
                    <a:pt x="2590096" y="67222"/>
                  </a:lnTo>
                  <a:lnTo>
                    <a:pt x="2590096" y="1587560"/>
                  </a:lnTo>
                  <a:lnTo>
                    <a:pt x="2575346" y="1626736"/>
                  </a:lnTo>
                  <a:lnTo>
                    <a:pt x="2541317" y="1651114"/>
                  </a:lnTo>
                  <a:lnTo>
                    <a:pt x="2527552" y="1654322"/>
                  </a:lnTo>
                  <a:lnTo>
                    <a:pt x="2522873" y="1654783"/>
                  </a:lnTo>
                  <a:close/>
                </a:path>
              </a:pathLst>
            </a:custGeom>
            <a:solidFill>
              <a:srgbClr val="1F2937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45541" y="2014519"/>
              <a:ext cx="431800" cy="504190"/>
            </a:xfrm>
            <a:custGeom>
              <a:avLst/>
              <a:gdLst/>
              <a:ahLst/>
              <a:cxnLst/>
              <a:rect l="l" t="t" r="r" b="b"/>
              <a:pathLst>
                <a:path w="431800" h="504189">
                  <a:moveTo>
                    <a:pt x="222910" y="503629"/>
                  </a:moveTo>
                  <a:lnTo>
                    <a:pt x="208772" y="503629"/>
                  </a:lnTo>
                  <a:lnTo>
                    <a:pt x="201720" y="503283"/>
                  </a:lnTo>
                  <a:lnTo>
                    <a:pt x="159950" y="496387"/>
                  </a:lnTo>
                  <a:lnTo>
                    <a:pt x="120328" y="481475"/>
                  </a:lnTo>
                  <a:lnTo>
                    <a:pt x="84376" y="459120"/>
                  </a:lnTo>
                  <a:lnTo>
                    <a:pt x="53477" y="430181"/>
                  </a:lnTo>
                  <a:lnTo>
                    <a:pt x="28818" y="395769"/>
                  </a:lnTo>
                  <a:lnTo>
                    <a:pt x="11346" y="357208"/>
                  </a:lnTo>
                  <a:lnTo>
                    <a:pt x="1732" y="315979"/>
                  </a:lnTo>
                  <a:lnTo>
                    <a:pt x="0" y="287788"/>
                  </a:lnTo>
                  <a:lnTo>
                    <a:pt x="0" y="208772"/>
                  </a:lnTo>
                  <a:lnTo>
                    <a:pt x="5526" y="166799"/>
                  </a:lnTo>
                  <a:lnTo>
                    <a:pt x="19134" y="126711"/>
                  </a:lnTo>
                  <a:lnTo>
                    <a:pt x="40302" y="90048"/>
                  </a:lnTo>
                  <a:lnTo>
                    <a:pt x="68216" y="58219"/>
                  </a:lnTo>
                  <a:lnTo>
                    <a:pt x="101803" y="32448"/>
                  </a:lnTo>
                  <a:lnTo>
                    <a:pt x="139773" y="13724"/>
                  </a:lnTo>
                  <a:lnTo>
                    <a:pt x="180665" y="2768"/>
                  </a:lnTo>
                  <a:lnTo>
                    <a:pt x="208772" y="0"/>
                  </a:lnTo>
                  <a:lnTo>
                    <a:pt x="222910" y="0"/>
                  </a:lnTo>
                  <a:lnTo>
                    <a:pt x="264882" y="5526"/>
                  </a:lnTo>
                  <a:lnTo>
                    <a:pt x="304970" y="19134"/>
                  </a:lnTo>
                  <a:lnTo>
                    <a:pt x="341634" y="40303"/>
                  </a:lnTo>
                  <a:lnTo>
                    <a:pt x="373462" y="68216"/>
                  </a:lnTo>
                  <a:lnTo>
                    <a:pt x="399234" y="101803"/>
                  </a:lnTo>
                  <a:lnTo>
                    <a:pt x="417958" y="139773"/>
                  </a:lnTo>
                  <a:lnTo>
                    <a:pt x="428914" y="180665"/>
                  </a:lnTo>
                  <a:lnTo>
                    <a:pt x="431682" y="208772"/>
                  </a:lnTo>
                  <a:lnTo>
                    <a:pt x="431682" y="294857"/>
                  </a:lnTo>
                  <a:lnTo>
                    <a:pt x="426156" y="336830"/>
                  </a:lnTo>
                  <a:lnTo>
                    <a:pt x="412547" y="376918"/>
                  </a:lnTo>
                  <a:lnTo>
                    <a:pt x="391379" y="413581"/>
                  </a:lnTo>
                  <a:lnTo>
                    <a:pt x="363465" y="445409"/>
                  </a:lnTo>
                  <a:lnTo>
                    <a:pt x="329878" y="471180"/>
                  </a:lnTo>
                  <a:lnTo>
                    <a:pt x="291908" y="489904"/>
                  </a:lnTo>
                  <a:lnTo>
                    <a:pt x="251016" y="500861"/>
                  </a:lnTo>
                  <a:lnTo>
                    <a:pt x="222910" y="503629"/>
                  </a:lnTo>
                  <a:close/>
                </a:path>
              </a:pathLst>
            </a:custGeom>
            <a:solidFill>
              <a:srgbClr val="13532D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3461" y="2122440"/>
              <a:ext cx="215841" cy="28778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332841" y="2631357"/>
            <a:ext cx="2009775" cy="6711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19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250" b="1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50" b="1" spc="155" dirty="0">
                <a:solidFill>
                  <a:srgbClr val="FFFFFF"/>
                </a:solidFill>
                <a:latin typeface="Trebuchet MS"/>
                <a:cs typeface="Trebuchet MS"/>
              </a:rPr>
              <a:t>Processing</a:t>
            </a:r>
            <a:endParaRPr sz="1250">
              <a:latin typeface="Trebuchet MS"/>
              <a:cs typeface="Trebuchet MS"/>
            </a:endParaRPr>
          </a:p>
          <a:p>
            <a:pPr marL="12700" marR="5080">
              <a:lnSpc>
                <a:spcPct val="118000"/>
              </a:lnSpc>
              <a:spcBef>
                <a:spcPts val="725"/>
              </a:spcBef>
            </a:pPr>
            <a:r>
              <a:rPr sz="1000" spc="60" dirty="0">
                <a:solidFill>
                  <a:srgbClr val="D0D5DA"/>
                </a:solidFill>
                <a:latin typeface="Trebuchet MS"/>
                <a:cs typeface="Trebuchet MS"/>
              </a:rPr>
              <a:t>Match</a:t>
            </a:r>
            <a:r>
              <a:rPr sz="1000" spc="1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7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000" spc="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75" dirty="0">
                <a:solidFill>
                  <a:srgbClr val="D0D5DA"/>
                </a:solidFill>
                <a:latin typeface="Trebuchet MS"/>
                <a:cs typeface="Trebuchet MS"/>
              </a:rPr>
              <a:t>average</a:t>
            </a:r>
            <a:r>
              <a:rPr sz="1000" spc="1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000" spc="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5" dirty="0">
                <a:solidFill>
                  <a:srgbClr val="D0D5DA"/>
                </a:solidFill>
                <a:latin typeface="Trebuchet MS"/>
                <a:cs typeface="Trebuchet MS"/>
              </a:rPr>
              <a:t>across </a:t>
            </a:r>
            <a:r>
              <a:rPr sz="1000" spc="10" dirty="0">
                <a:solidFill>
                  <a:srgbClr val="D0D5DA"/>
                </a:solidFill>
                <a:latin typeface="Trebuchet MS"/>
                <a:cs typeface="Trebuchet MS"/>
              </a:rPr>
              <a:t>different</a:t>
            </a:r>
            <a:r>
              <a:rPr sz="1000" spc="17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10" dirty="0">
                <a:solidFill>
                  <a:srgbClr val="D0D5DA"/>
                </a:solidFill>
                <a:latin typeface="Trebuchet MS"/>
                <a:cs typeface="Trebuchet MS"/>
              </a:rPr>
              <a:t>testing</a:t>
            </a:r>
            <a:r>
              <a:rPr sz="1000" spc="17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45" dirty="0">
                <a:solidFill>
                  <a:srgbClr val="D0D5DA"/>
                </a:solidFill>
                <a:latin typeface="Trebuchet MS"/>
                <a:cs typeface="Trebuchet MS"/>
              </a:rPr>
              <a:t>scenarios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55769" y="1834651"/>
            <a:ext cx="2590165" cy="1654810"/>
            <a:chOff x="5755769" y="1834651"/>
            <a:chExt cx="2590165" cy="1654810"/>
          </a:xfrm>
        </p:grpSpPr>
        <p:sp>
          <p:nvSpPr>
            <p:cNvPr id="21" name="object 21"/>
            <p:cNvSpPr/>
            <p:nvPr/>
          </p:nvSpPr>
          <p:spPr>
            <a:xfrm>
              <a:off x="5755769" y="1834651"/>
              <a:ext cx="2590165" cy="1654810"/>
            </a:xfrm>
            <a:custGeom>
              <a:avLst/>
              <a:gdLst/>
              <a:ahLst/>
              <a:cxnLst/>
              <a:rect l="l" t="t" r="r" b="b"/>
              <a:pathLst>
                <a:path w="2590165" h="1654810">
                  <a:moveTo>
                    <a:pt x="2522873" y="1654783"/>
                  </a:moveTo>
                  <a:lnTo>
                    <a:pt x="67223" y="1654783"/>
                  </a:lnTo>
                  <a:lnTo>
                    <a:pt x="62544" y="1654322"/>
                  </a:lnTo>
                  <a:lnTo>
                    <a:pt x="24412" y="1637051"/>
                  </a:lnTo>
                  <a:lnTo>
                    <a:pt x="2303" y="1601506"/>
                  </a:lnTo>
                  <a:lnTo>
                    <a:pt x="0" y="1587560"/>
                  </a:lnTo>
                  <a:lnTo>
                    <a:pt x="0" y="1582836"/>
                  </a:lnTo>
                  <a:lnTo>
                    <a:pt x="0" y="67222"/>
                  </a:lnTo>
                  <a:lnTo>
                    <a:pt x="14749" y="28047"/>
                  </a:lnTo>
                  <a:lnTo>
                    <a:pt x="48778" y="3668"/>
                  </a:lnTo>
                  <a:lnTo>
                    <a:pt x="67223" y="0"/>
                  </a:lnTo>
                  <a:lnTo>
                    <a:pt x="2522873" y="0"/>
                  </a:lnTo>
                  <a:lnTo>
                    <a:pt x="2562049" y="14749"/>
                  </a:lnTo>
                  <a:lnTo>
                    <a:pt x="2586426" y="48778"/>
                  </a:lnTo>
                  <a:lnTo>
                    <a:pt x="2590096" y="67222"/>
                  </a:lnTo>
                  <a:lnTo>
                    <a:pt x="2590096" y="1587560"/>
                  </a:lnTo>
                  <a:lnTo>
                    <a:pt x="2575345" y="1626736"/>
                  </a:lnTo>
                  <a:lnTo>
                    <a:pt x="2541317" y="1651114"/>
                  </a:lnTo>
                  <a:lnTo>
                    <a:pt x="2527552" y="1654322"/>
                  </a:lnTo>
                  <a:lnTo>
                    <a:pt x="2522873" y="1654783"/>
                  </a:lnTo>
                  <a:close/>
                </a:path>
              </a:pathLst>
            </a:custGeom>
            <a:solidFill>
              <a:srgbClr val="1F2937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35637" y="2014519"/>
              <a:ext cx="431800" cy="504190"/>
            </a:xfrm>
            <a:custGeom>
              <a:avLst/>
              <a:gdLst/>
              <a:ahLst/>
              <a:cxnLst/>
              <a:rect l="l" t="t" r="r" b="b"/>
              <a:pathLst>
                <a:path w="431800" h="504189">
                  <a:moveTo>
                    <a:pt x="222910" y="503629"/>
                  </a:moveTo>
                  <a:lnTo>
                    <a:pt x="208771" y="503629"/>
                  </a:lnTo>
                  <a:lnTo>
                    <a:pt x="201720" y="503283"/>
                  </a:lnTo>
                  <a:lnTo>
                    <a:pt x="159949" y="496387"/>
                  </a:lnTo>
                  <a:lnTo>
                    <a:pt x="120328" y="481475"/>
                  </a:lnTo>
                  <a:lnTo>
                    <a:pt x="84377" y="459120"/>
                  </a:lnTo>
                  <a:lnTo>
                    <a:pt x="53477" y="430181"/>
                  </a:lnTo>
                  <a:lnTo>
                    <a:pt x="28817" y="395769"/>
                  </a:lnTo>
                  <a:lnTo>
                    <a:pt x="11345" y="357208"/>
                  </a:lnTo>
                  <a:lnTo>
                    <a:pt x="1732" y="315979"/>
                  </a:lnTo>
                  <a:lnTo>
                    <a:pt x="0" y="294857"/>
                  </a:lnTo>
                  <a:lnTo>
                    <a:pt x="0" y="287788"/>
                  </a:lnTo>
                  <a:lnTo>
                    <a:pt x="0" y="208772"/>
                  </a:lnTo>
                  <a:lnTo>
                    <a:pt x="5526" y="166799"/>
                  </a:lnTo>
                  <a:lnTo>
                    <a:pt x="19134" y="126711"/>
                  </a:lnTo>
                  <a:lnTo>
                    <a:pt x="40302" y="90048"/>
                  </a:lnTo>
                  <a:lnTo>
                    <a:pt x="68216" y="58219"/>
                  </a:lnTo>
                  <a:lnTo>
                    <a:pt x="101803" y="32448"/>
                  </a:lnTo>
                  <a:lnTo>
                    <a:pt x="139773" y="13724"/>
                  </a:lnTo>
                  <a:lnTo>
                    <a:pt x="180665" y="2768"/>
                  </a:lnTo>
                  <a:lnTo>
                    <a:pt x="208771" y="0"/>
                  </a:lnTo>
                  <a:lnTo>
                    <a:pt x="222910" y="0"/>
                  </a:lnTo>
                  <a:lnTo>
                    <a:pt x="264882" y="5526"/>
                  </a:lnTo>
                  <a:lnTo>
                    <a:pt x="304971" y="19134"/>
                  </a:lnTo>
                  <a:lnTo>
                    <a:pt x="341634" y="40303"/>
                  </a:lnTo>
                  <a:lnTo>
                    <a:pt x="373462" y="68216"/>
                  </a:lnTo>
                  <a:lnTo>
                    <a:pt x="399233" y="101803"/>
                  </a:lnTo>
                  <a:lnTo>
                    <a:pt x="417957" y="139773"/>
                  </a:lnTo>
                  <a:lnTo>
                    <a:pt x="428914" y="180665"/>
                  </a:lnTo>
                  <a:lnTo>
                    <a:pt x="431683" y="208772"/>
                  </a:lnTo>
                  <a:lnTo>
                    <a:pt x="431683" y="294857"/>
                  </a:lnTo>
                  <a:lnTo>
                    <a:pt x="426156" y="336830"/>
                  </a:lnTo>
                  <a:lnTo>
                    <a:pt x="412547" y="376918"/>
                  </a:lnTo>
                  <a:lnTo>
                    <a:pt x="391378" y="413581"/>
                  </a:lnTo>
                  <a:lnTo>
                    <a:pt x="363465" y="445409"/>
                  </a:lnTo>
                  <a:lnTo>
                    <a:pt x="329878" y="471180"/>
                  </a:lnTo>
                  <a:lnTo>
                    <a:pt x="291909" y="489904"/>
                  </a:lnTo>
                  <a:lnTo>
                    <a:pt x="251015" y="500861"/>
                  </a:lnTo>
                  <a:lnTo>
                    <a:pt x="229962" y="503283"/>
                  </a:lnTo>
                  <a:lnTo>
                    <a:pt x="222910" y="503629"/>
                  </a:lnTo>
                  <a:close/>
                </a:path>
              </a:pathLst>
            </a:custGeom>
            <a:solidFill>
              <a:srgbClr val="581B8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43558" y="2122440"/>
              <a:ext cx="215841" cy="28778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922937" y="2631357"/>
            <a:ext cx="2101215" cy="6711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180" dirty="0">
                <a:solidFill>
                  <a:srgbClr val="FFFFFF"/>
                </a:solidFill>
                <a:latin typeface="Trebuchet MS"/>
                <a:cs typeface="Trebuchet MS"/>
              </a:rPr>
              <a:t>Dashboard</a:t>
            </a:r>
            <a:r>
              <a:rPr sz="125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50" b="1" spc="125" dirty="0">
                <a:solidFill>
                  <a:srgbClr val="FFFFFF"/>
                </a:solidFill>
                <a:latin typeface="Trebuchet MS"/>
                <a:cs typeface="Trebuchet MS"/>
              </a:rPr>
              <a:t>Creation</a:t>
            </a:r>
            <a:endParaRPr sz="1250">
              <a:latin typeface="Trebuchet MS"/>
              <a:cs typeface="Trebuchet MS"/>
            </a:endParaRPr>
          </a:p>
          <a:p>
            <a:pPr marL="12700" marR="5080">
              <a:lnSpc>
                <a:spcPct val="118000"/>
              </a:lnSpc>
              <a:spcBef>
                <a:spcPts val="725"/>
              </a:spcBef>
            </a:pP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Create</a:t>
            </a:r>
            <a:r>
              <a:rPr sz="10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60" dirty="0">
                <a:solidFill>
                  <a:srgbClr val="D0D5DA"/>
                </a:solidFill>
                <a:latin typeface="Trebuchet MS"/>
                <a:cs typeface="Trebuchet MS"/>
              </a:rPr>
              <a:t>views</a:t>
            </a:r>
            <a:r>
              <a:rPr sz="10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7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10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70" dirty="0">
                <a:solidFill>
                  <a:srgbClr val="D0D5DA"/>
                </a:solidFill>
                <a:latin typeface="Trebuchet MS"/>
                <a:cs typeface="Trebuchet MS"/>
              </a:rPr>
              <a:t>dashboards</a:t>
            </a:r>
            <a:r>
              <a:rPr sz="10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D0D5DA"/>
                </a:solidFill>
                <a:latin typeface="Trebuchet MS"/>
                <a:cs typeface="Trebuchet MS"/>
              </a:rPr>
              <a:t>for </a:t>
            </a: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000" spc="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D0D5DA"/>
                </a:solidFill>
                <a:latin typeface="Trebuchet MS"/>
                <a:cs typeface="Trebuchet MS"/>
              </a:rPr>
              <a:t>visualization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345865" y="1834651"/>
            <a:ext cx="2590165" cy="1654810"/>
            <a:chOff x="8345865" y="1834651"/>
            <a:chExt cx="2590165" cy="1654810"/>
          </a:xfrm>
        </p:grpSpPr>
        <p:sp>
          <p:nvSpPr>
            <p:cNvPr id="26" name="object 26"/>
            <p:cNvSpPr/>
            <p:nvPr/>
          </p:nvSpPr>
          <p:spPr>
            <a:xfrm>
              <a:off x="8345865" y="1834651"/>
              <a:ext cx="2590165" cy="1654810"/>
            </a:xfrm>
            <a:custGeom>
              <a:avLst/>
              <a:gdLst/>
              <a:ahLst/>
              <a:cxnLst/>
              <a:rect l="l" t="t" r="r" b="b"/>
              <a:pathLst>
                <a:path w="2590165" h="1654810">
                  <a:moveTo>
                    <a:pt x="2522873" y="1654783"/>
                  </a:moveTo>
                  <a:lnTo>
                    <a:pt x="67223" y="1654783"/>
                  </a:lnTo>
                  <a:lnTo>
                    <a:pt x="62544" y="1654322"/>
                  </a:lnTo>
                  <a:lnTo>
                    <a:pt x="24412" y="1637051"/>
                  </a:lnTo>
                  <a:lnTo>
                    <a:pt x="2304" y="1601506"/>
                  </a:lnTo>
                  <a:lnTo>
                    <a:pt x="0" y="1587560"/>
                  </a:lnTo>
                  <a:lnTo>
                    <a:pt x="0" y="1582836"/>
                  </a:lnTo>
                  <a:lnTo>
                    <a:pt x="0" y="67222"/>
                  </a:lnTo>
                  <a:lnTo>
                    <a:pt x="14749" y="28047"/>
                  </a:lnTo>
                  <a:lnTo>
                    <a:pt x="48778" y="3668"/>
                  </a:lnTo>
                  <a:lnTo>
                    <a:pt x="67223" y="0"/>
                  </a:lnTo>
                  <a:lnTo>
                    <a:pt x="2522873" y="0"/>
                  </a:lnTo>
                  <a:lnTo>
                    <a:pt x="2562047" y="14749"/>
                  </a:lnTo>
                  <a:lnTo>
                    <a:pt x="2586425" y="48778"/>
                  </a:lnTo>
                  <a:lnTo>
                    <a:pt x="2590095" y="67222"/>
                  </a:lnTo>
                  <a:lnTo>
                    <a:pt x="2590095" y="1587560"/>
                  </a:lnTo>
                  <a:lnTo>
                    <a:pt x="2575345" y="1626736"/>
                  </a:lnTo>
                  <a:lnTo>
                    <a:pt x="2541317" y="1651114"/>
                  </a:lnTo>
                  <a:lnTo>
                    <a:pt x="2527551" y="1654322"/>
                  </a:lnTo>
                  <a:lnTo>
                    <a:pt x="2522873" y="1654783"/>
                  </a:lnTo>
                  <a:close/>
                </a:path>
              </a:pathLst>
            </a:custGeom>
            <a:solidFill>
              <a:srgbClr val="1F2937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525734" y="2014519"/>
              <a:ext cx="431800" cy="504190"/>
            </a:xfrm>
            <a:custGeom>
              <a:avLst/>
              <a:gdLst/>
              <a:ahLst/>
              <a:cxnLst/>
              <a:rect l="l" t="t" r="r" b="b"/>
              <a:pathLst>
                <a:path w="431800" h="504189">
                  <a:moveTo>
                    <a:pt x="222910" y="503629"/>
                  </a:moveTo>
                  <a:lnTo>
                    <a:pt x="208772" y="503629"/>
                  </a:lnTo>
                  <a:lnTo>
                    <a:pt x="201720" y="503283"/>
                  </a:lnTo>
                  <a:lnTo>
                    <a:pt x="159949" y="496387"/>
                  </a:lnTo>
                  <a:lnTo>
                    <a:pt x="120327" y="481475"/>
                  </a:lnTo>
                  <a:lnTo>
                    <a:pt x="84376" y="459120"/>
                  </a:lnTo>
                  <a:lnTo>
                    <a:pt x="53477" y="430181"/>
                  </a:lnTo>
                  <a:lnTo>
                    <a:pt x="28817" y="395769"/>
                  </a:lnTo>
                  <a:lnTo>
                    <a:pt x="11346" y="357208"/>
                  </a:lnTo>
                  <a:lnTo>
                    <a:pt x="1732" y="315979"/>
                  </a:lnTo>
                  <a:lnTo>
                    <a:pt x="0" y="294857"/>
                  </a:lnTo>
                  <a:lnTo>
                    <a:pt x="0" y="287788"/>
                  </a:lnTo>
                  <a:lnTo>
                    <a:pt x="0" y="208772"/>
                  </a:lnTo>
                  <a:lnTo>
                    <a:pt x="5525" y="166799"/>
                  </a:lnTo>
                  <a:lnTo>
                    <a:pt x="19133" y="126711"/>
                  </a:lnTo>
                  <a:lnTo>
                    <a:pt x="40302" y="90048"/>
                  </a:lnTo>
                  <a:lnTo>
                    <a:pt x="68216" y="58219"/>
                  </a:lnTo>
                  <a:lnTo>
                    <a:pt x="101803" y="32448"/>
                  </a:lnTo>
                  <a:lnTo>
                    <a:pt x="139772" y="13724"/>
                  </a:lnTo>
                  <a:lnTo>
                    <a:pt x="180664" y="2768"/>
                  </a:lnTo>
                  <a:lnTo>
                    <a:pt x="208772" y="0"/>
                  </a:lnTo>
                  <a:lnTo>
                    <a:pt x="222910" y="0"/>
                  </a:lnTo>
                  <a:lnTo>
                    <a:pt x="264882" y="5526"/>
                  </a:lnTo>
                  <a:lnTo>
                    <a:pt x="304970" y="19134"/>
                  </a:lnTo>
                  <a:lnTo>
                    <a:pt x="341633" y="40303"/>
                  </a:lnTo>
                  <a:lnTo>
                    <a:pt x="373462" y="68216"/>
                  </a:lnTo>
                  <a:lnTo>
                    <a:pt x="399233" y="101803"/>
                  </a:lnTo>
                  <a:lnTo>
                    <a:pt x="417957" y="139773"/>
                  </a:lnTo>
                  <a:lnTo>
                    <a:pt x="428914" y="180665"/>
                  </a:lnTo>
                  <a:lnTo>
                    <a:pt x="431682" y="208772"/>
                  </a:lnTo>
                  <a:lnTo>
                    <a:pt x="431682" y="294857"/>
                  </a:lnTo>
                  <a:lnTo>
                    <a:pt x="426155" y="336830"/>
                  </a:lnTo>
                  <a:lnTo>
                    <a:pt x="412546" y="376918"/>
                  </a:lnTo>
                  <a:lnTo>
                    <a:pt x="391379" y="413581"/>
                  </a:lnTo>
                  <a:lnTo>
                    <a:pt x="363464" y="445409"/>
                  </a:lnTo>
                  <a:lnTo>
                    <a:pt x="329877" y="471180"/>
                  </a:lnTo>
                  <a:lnTo>
                    <a:pt x="291908" y="489904"/>
                  </a:lnTo>
                  <a:lnTo>
                    <a:pt x="251015" y="500861"/>
                  </a:lnTo>
                  <a:lnTo>
                    <a:pt x="229962" y="503283"/>
                  </a:lnTo>
                  <a:lnTo>
                    <a:pt x="222910" y="503629"/>
                  </a:lnTo>
                  <a:close/>
                </a:path>
              </a:pathLst>
            </a:custGeom>
            <a:solidFill>
              <a:srgbClr val="7C2D1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33655" y="2122440"/>
              <a:ext cx="215841" cy="287788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513034" y="2631357"/>
            <a:ext cx="2190115" cy="6711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170" dirty="0">
                <a:solidFill>
                  <a:srgbClr val="FFFFFF"/>
                </a:solidFill>
                <a:latin typeface="Trebuchet MS"/>
                <a:cs typeface="Trebuchet MS"/>
              </a:rPr>
              <a:t>Automated</a:t>
            </a:r>
            <a:r>
              <a:rPr sz="125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50" b="1" spc="140" dirty="0">
                <a:solidFill>
                  <a:srgbClr val="FFFFFF"/>
                </a:solidFill>
                <a:latin typeface="Trebuchet MS"/>
                <a:cs typeface="Trebuchet MS"/>
              </a:rPr>
              <a:t>Refresh</a:t>
            </a:r>
            <a:endParaRPr sz="1250">
              <a:latin typeface="Trebuchet MS"/>
              <a:cs typeface="Trebuchet MS"/>
            </a:endParaRPr>
          </a:p>
          <a:p>
            <a:pPr marL="12700" marR="5080">
              <a:lnSpc>
                <a:spcPct val="118000"/>
              </a:lnSpc>
              <a:spcBef>
                <a:spcPts val="725"/>
              </a:spcBef>
            </a:pP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Implement</a:t>
            </a:r>
            <a:r>
              <a:rPr sz="1000" spc="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automatic</a:t>
            </a:r>
            <a:r>
              <a:rPr sz="1000" spc="2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000" spc="2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D0D5DA"/>
                </a:solidFill>
                <a:latin typeface="Trebuchet MS"/>
                <a:cs typeface="Trebuchet MS"/>
              </a:rPr>
              <a:t>refresh </a:t>
            </a:r>
            <a:r>
              <a:rPr sz="1000" spc="70" dirty="0">
                <a:solidFill>
                  <a:srgbClr val="D0D5DA"/>
                </a:solidFill>
                <a:latin typeface="Trebuchet MS"/>
                <a:cs typeface="Trebuchet MS"/>
              </a:rPr>
              <a:t>mechanisms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75576" y="4370787"/>
            <a:ext cx="10360660" cy="2086610"/>
            <a:chOff x="575576" y="4370787"/>
            <a:chExt cx="10360660" cy="2086610"/>
          </a:xfrm>
        </p:grpSpPr>
        <p:sp>
          <p:nvSpPr>
            <p:cNvPr id="31" name="object 31"/>
            <p:cNvSpPr/>
            <p:nvPr/>
          </p:nvSpPr>
          <p:spPr>
            <a:xfrm>
              <a:off x="575576" y="4370787"/>
              <a:ext cx="10360660" cy="2086610"/>
            </a:xfrm>
            <a:custGeom>
              <a:avLst/>
              <a:gdLst/>
              <a:ahLst/>
              <a:cxnLst/>
              <a:rect l="l" t="t" r="r" b="b"/>
              <a:pathLst>
                <a:path w="10360660" h="2086610">
                  <a:moveTo>
                    <a:pt x="10293162" y="2086466"/>
                  </a:moveTo>
                  <a:lnTo>
                    <a:pt x="67223" y="2086466"/>
                  </a:lnTo>
                  <a:lnTo>
                    <a:pt x="62544" y="2086005"/>
                  </a:lnTo>
                  <a:lnTo>
                    <a:pt x="24413" y="2068733"/>
                  </a:lnTo>
                  <a:lnTo>
                    <a:pt x="2304" y="2033188"/>
                  </a:lnTo>
                  <a:lnTo>
                    <a:pt x="0" y="2019243"/>
                  </a:lnTo>
                  <a:lnTo>
                    <a:pt x="0" y="2014519"/>
                  </a:lnTo>
                  <a:lnTo>
                    <a:pt x="0" y="67222"/>
                  </a:lnTo>
                  <a:lnTo>
                    <a:pt x="14749" y="28047"/>
                  </a:lnTo>
                  <a:lnTo>
                    <a:pt x="48778" y="3668"/>
                  </a:lnTo>
                  <a:lnTo>
                    <a:pt x="67223" y="0"/>
                  </a:lnTo>
                  <a:lnTo>
                    <a:pt x="10293162" y="0"/>
                  </a:lnTo>
                  <a:lnTo>
                    <a:pt x="10332336" y="14749"/>
                  </a:lnTo>
                  <a:lnTo>
                    <a:pt x="10356714" y="48778"/>
                  </a:lnTo>
                  <a:lnTo>
                    <a:pt x="10360384" y="67222"/>
                  </a:lnTo>
                  <a:lnTo>
                    <a:pt x="10360384" y="2019243"/>
                  </a:lnTo>
                  <a:lnTo>
                    <a:pt x="10345634" y="2058418"/>
                  </a:lnTo>
                  <a:lnTo>
                    <a:pt x="10311605" y="2082797"/>
                  </a:lnTo>
                  <a:lnTo>
                    <a:pt x="10297840" y="2086005"/>
                  </a:lnTo>
                  <a:lnTo>
                    <a:pt x="10293162" y="2086466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5444" y="4586629"/>
              <a:ext cx="224834" cy="17986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5444" y="4946364"/>
              <a:ext cx="107920" cy="14389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444" y="5234153"/>
              <a:ext cx="125907" cy="12590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444" y="5485968"/>
              <a:ext cx="125907" cy="12590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444" y="5737783"/>
              <a:ext cx="125907" cy="125907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922612" y="4546949"/>
            <a:ext cx="2856865" cy="13277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14"/>
              </a:spcBef>
            </a:pPr>
            <a:r>
              <a:rPr sz="1400" b="1" spc="160" dirty="0">
                <a:solidFill>
                  <a:srgbClr val="FFFFFF"/>
                </a:solidFill>
                <a:latin typeface="Trebuchet MS"/>
                <a:cs typeface="Trebuchet MS"/>
              </a:rPr>
              <a:t>Implementation</a:t>
            </a:r>
            <a:r>
              <a:rPr sz="1400" b="1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150" dirty="0">
                <a:solidFill>
                  <a:srgbClr val="FFFFFF"/>
                </a:solidFill>
                <a:latin typeface="Trebuchet MS"/>
                <a:cs typeface="Trebuchet MS"/>
              </a:rPr>
              <a:t>Details</a:t>
            </a:r>
            <a:endParaRPr sz="1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170"/>
              </a:spcBef>
            </a:pPr>
            <a:r>
              <a:rPr sz="1100" b="1" spc="150" dirty="0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sz="11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125" dirty="0">
                <a:solidFill>
                  <a:srgbClr val="FFFFFF"/>
                </a:solidFill>
                <a:latin typeface="Trebuchet MS"/>
                <a:cs typeface="Trebuchet MS"/>
              </a:rPr>
              <a:t>Workflow</a:t>
            </a:r>
            <a:r>
              <a:rPr sz="11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145" dirty="0">
                <a:solidFill>
                  <a:srgbClr val="FFFFFF"/>
                </a:solidFill>
                <a:latin typeface="Trebuchet MS"/>
                <a:cs typeface="Trebuchet MS"/>
              </a:rPr>
              <a:t>Components</a:t>
            </a:r>
            <a:endParaRPr sz="1100">
              <a:latin typeface="Trebuchet MS"/>
              <a:cs typeface="Trebuchet MS"/>
            </a:endParaRPr>
          </a:p>
          <a:p>
            <a:pPr marL="30480" marR="5080" algn="just">
              <a:lnSpc>
                <a:spcPct val="165200"/>
              </a:lnSpc>
              <a:spcBef>
                <a:spcPts val="120"/>
              </a:spcBef>
            </a:pPr>
            <a:r>
              <a:rPr sz="1000" spc="10" dirty="0">
                <a:solidFill>
                  <a:srgbClr val="D0D5DA"/>
                </a:solidFill>
                <a:latin typeface="Trebuchet MS"/>
                <a:cs typeface="Trebuchet MS"/>
              </a:rPr>
              <a:t>Created</a:t>
            </a:r>
            <a:r>
              <a:rPr sz="1000" spc="1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60" dirty="0">
                <a:solidFill>
                  <a:srgbClr val="D0D5DA"/>
                </a:solidFill>
                <a:latin typeface="Trebuchet MS"/>
                <a:cs typeface="Trebuchet MS"/>
              </a:rPr>
              <a:t>views</a:t>
            </a:r>
            <a:r>
              <a:rPr sz="1000" spc="1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1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000" spc="1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10" dirty="0">
                <a:solidFill>
                  <a:srgbClr val="D0D5DA"/>
                </a:solidFill>
                <a:latin typeface="Trebuchet MS"/>
                <a:cs typeface="Trebuchet MS"/>
              </a:rPr>
              <a:t>different</a:t>
            </a:r>
            <a:r>
              <a:rPr sz="1000" spc="1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10" dirty="0">
                <a:solidFill>
                  <a:srgbClr val="D0D5DA"/>
                </a:solidFill>
                <a:latin typeface="Trebuchet MS"/>
                <a:cs typeface="Trebuchet MS"/>
              </a:rPr>
              <a:t>testing</a:t>
            </a:r>
            <a:r>
              <a:rPr sz="1000" spc="1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45" dirty="0">
                <a:solidFill>
                  <a:srgbClr val="D0D5DA"/>
                </a:solidFill>
                <a:latin typeface="Trebuchet MS"/>
                <a:cs typeface="Trebuchet MS"/>
              </a:rPr>
              <a:t>scenarios </a:t>
            </a:r>
            <a:r>
              <a:rPr sz="1000" spc="55" dirty="0">
                <a:solidFill>
                  <a:srgbClr val="D0D5DA"/>
                </a:solidFill>
                <a:latin typeface="Trebuchet MS"/>
                <a:cs typeface="Trebuchet MS"/>
              </a:rPr>
              <a:t>Cloned</a:t>
            </a:r>
            <a:r>
              <a:rPr sz="10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D0D5DA"/>
                </a:solidFill>
                <a:latin typeface="Trebuchet MS"/>
                <a:cs typeface="Trebuchet MS"/>
              </a:rPr>
              <a:t>dashboard</a:t>
            </a:r>
            <a:r>
              <a:rPr sz="10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templates</a:t>
            </a:r>
            <a:r>
              <a:rPr sz="1000" spc="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000" spc="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consistency </a:t>
            </a:r>
            <a:r>
              <a:rPr sz="1000" spc="60" dirty="0">
                <a:solidFill>
                  <a:srgbClr val="D0D5DA"/>
                </a:solidFill>
                <a:latin typeface="Trebuchet MS"/>
                <a:cs typeface="Trebuchet MS"/>
              </a:rPr>
              <a:t>Automated</a:t>
            </a:r>
            <a:r>
              <a:rPr sz="10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0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1000" spc="10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refresh</a:t>
            </a:r>
            <a:r>
              <a:rPr sz="1000" spc="10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5" dirty="0">
                <a:solidFill>
                  <a:srgbClr val="D0D5DA"/>
                </a:solidFill>
                <a:latin typeface="Trebuchet MS"/>
                <a:cs typeface="Trebuchet MS"/>
              </a:rPr>
              <a:t>processes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863689" y="4946364"/>
            <a:ext cx="4892675" cy="1331595"/>
            <a:chOff x="5863689" y="4946364"/>
            <a:chExt cx="4892675" cy="1331595"/>
          </a:xfrm>
        </p:grpSpPr>
        <p:sp>
          <p:nvSpPr>
            <p:cNvPr id="39" name="object 39"/>
            <p:cNvSpPr/>
            <p:nvPr/>
          </p:nvSpPr>
          <p:spPr>
            <a:xfrm>
              <a:off x="5863689" y="5701809"/>
              <a:ext cx="4892675" cy="575945"/>
            </a:xfrm>
            <a:custGeom>
              <a:avLst/>
              <a:gdLst/>
              <a:ahLst/>
              <a:cxnLst/>
              <a:rect l="l" t="t" r="r" b="b"/>
              <a:pathLst>
                <a:path w="4892675" h="575945">
                  <a:moveTo>
                    <a:pt x="4825181" y="575576"/>
                  </a:moveTo>
                  <a:lnTo>
                    <a:pt x="67223" y="575576"/>
                  </a:lnTo>
                  <a:lnTo>
                    <a:pt x="62544" y="575115"/>
                  </a:lnTo>
                  <a:lnTo>
                    <a:pt x="24412" y="557843"/>
                  </a:lnTo>
                  <a:lnTo>
                    <a:pt x="2303" y="522298"/>
                  </a:lnTo>
                  <a:lnTo>
                    <a:pt x="0" y="508353"/>
                  </a:lnTo>
                  <a:lnTo>
                    <a:pt x="0" y="503629"/>
                  </a:lnTo>
                  <a:lnTo>
                    <a:pt x="0" y="67222"/>
                  </a:lnTo>
                  <a:lnTo>
                    <a:pt x="14749" y="28046"/>
                  </a:lnTo>
                  <a:lnTo>
                    <a:pt x="48778" y="3668"/>
                  </a:lnTo>
                  <a:lnTo>
                    <a:pt x="67223" y="0"/>
                  </a:lnTo>
                  <a:lnTo>
                    <a:pt x="4825181" y="0"/>
                  </a:lnTo>
                  <a:lnTo>
                    <a:pt x="4864356" y="14749"/>
                  </a:lnTo>
                  <a:lnTo>
                    <a:pt x="4888733" y="48778"/>
                  </a:lnTo>
                  <a:lnTo>
                    <a:pt x="4892403" y="67222"/>
                  </a:lnTo>
                  <a:lnTo>
                    <a:pt x="4892403" y="508353"/>
                  </a:lnTo>
                  <a:lnTo>
                    <a:pt x="4877654" y="547528"/>
                  </a:lnTo>
                  <a:lnTo>
                    <a:pt x="4843624" y="571906"/>
                  </a:lnTo>
                  <a:lnTo>
                    <a:pt x="4829859" y="575115"/>
                  </a:lnTo>
                  <a:lnTo>
                    <a:pt x="4825181" y="575576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3690" y="4946364"/>
              <a:ext cx="107920" cy="143894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850990" y="4906684"/>
            <a:ext cx="4319270" cy="6445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30"/>
              </a:spcBef>
            </a:pPr>
            <a:r>
              <a:rPr sz="1100" b="1" spc="170" dirty="0">
                <a:solidFill>
                  <a:srgbClr val="FFFFFF"/>
                </a:solidFill>
                <a:latin typeface="Trebuchet MS"/>
                <a:cs typeface="Trebuchet MS"/>
              </a:rPr>
              <a:t>Design</a:t>
            </a:r>
            <a:r>
              <a:rPr sz="11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110" dirty="0">
                <a:solidFill>
                  <a:srgbClr val="FFFFFF"/>
                </a:solidFill>
                <a:latin typeface="Trebuchet MS"/>
                <a:cs typeface="Trebuchet MS"/>
              </a:rPr>
              <a:t>Reference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18000"/>
              </a:lnSpc>
              <a:spcBef>
                <a:spcPts val="690"/>
              </a:spcBef>
            </a:pPr>
            <a:r>
              <a:rPr sz="1000" spc="75" dirty="0">
                <a:solidFill>
                  <a:srgbClr val="D0D5DA"/>
                </a:solidFill>
                <a:latin typeface="Trebuchet MS"/>
                <a:cs typeface="Trebuchet MS"/>
              </a:rPr>
              <a:t>Used</a:t>
            </a:r>
            <a:r>
              <a:rPr sz="10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75" dirty="0">
                <a:solidFill>
                  <a:srgbClr val="D0D5DA"/>
                </a:solidFill>
                <a:latin typeface="Trebuchet MS"/>
                <a:cs typeface="Trebuchet MS"/>
              </a:rPr>
              <a:t>a</a:t>
            </a:r>
            <a:r>
              <a:rPr sz="1000" spc="7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20" dirty="0">
                <a:solidFill>
                  <a:srgbClr val="D0D5DA"/>
                </a:solidFill>
                <a:latin typeface="Trebuchet MS"/>
                <a:cs typeface="Trebuchet MS"/>
              </a:rPr>
              <a:t>flowchart</a:t>
            </a:r>
            <a:r>
              <a:rPr sz="10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20" dirty="0">
                <a:solidFill>
                  <a:srgbClr val="D0D5DA"/>
                </a:solidFill>
                <a:latin typeface="Trebuchet MS"/>
                <a:cs typeface="Trebuchet MS"/>
              </a:rPr>
              <a:t>template</a:t>
            </a:r>
            <a:r>
              <a:rPr sz="1000" spc="7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D0D5DA"/>
                </a:solidFill>
                <a:latin typeface="Trebuchet MS"/>
                <a:cs typeface="Trebuchet MS"/>
              </a:rPr>
              <a:t>designed </a:t>
            </a:r>
            <a:r>
              <a:rPr sz="1000" spc="2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000" spc="7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60" dirty="0">
                <a:solidFill>
                  <a:srgbClr val="D0D5DA"/>
                </a:solidFill>
                <a:latin typeface="Trebuchet MS"/>
                <a:cs typeface="Trebuchet MS"/>
              </a:rPr>
              <a:t>Google</a:t>
            </a:r>
            <a:r>
              <a:rPr sz="1000" spc="7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20" dirty="0">
                <a:solidFill>
                  <a:srgbClr val="D0D5DA"/>
                </a:solidFill>
                <a:latin typeface="Trebuchet MS"/>
                <a:cs typeface="Trebuchet MS"/>
              </a:rPr>
              <a:t>Analytics</a:t>
            </a:r>
            <a:r>
              <a:rPr sz="1000" spc="65" dirty="0">
                <a:solidFill>
                  <a:srgbClr val="D0D5DA"/>
                </a:solidFill>
                <a:latin typeface="Trebuchet MS"/>
                <a:cs typeface="Trebuchet MS"/>
              </a:rPr>
              <a:t> (GA4)</a:t>
            </a:r>
            <a:r>
              <a:rPr sz="1000" spc="7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95" dirty="0">
                <a:solidFill>
                  <a:srgbClr val="D0D5DA"/>
                </a:solidFill>
                <a:latin typeface="Trebuchet MS"/>
                <a:cs typeface="Trebuchet MS"/>
              </a:rPr>
              <a:t>as</a:t>
            </a:r>
            <a:r>
              <a:rPr sz="1000" spc="6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25" dirty="0">
                <a:solidFill>
                  <a:srgbClr val="D0D5DA"/>
                </a:solidFill>
                <a:latin typeface="Trebuchet MS"/>
                <a:cs typeface="Trebuchet MS"/>
              </a:rPr>
              <a:t>a </a:t>
            </a: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blueprint</a:t>
            </a:r>
            <a:r>
              <a:rPr sz="1000" spc="12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for</a:t>
            </a:r>
            <a:r>
              <a:rPr sz="1000" spc="1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D0D5DA"/>
                </a:solidFill>
                <a:latin typeface="Trebuchet MS"/>
                <a:cs typeface="Trebuchet MS"/>
              </a:rPr>
              <a:t>the</a:t>
            </a:r>
            <a:r>
              <a:rPr sz="1000" spc="1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55" dirty="0">
                <a:solidFill>
                  <a:srgbClr val="D0D5DA"/>
                </a:solidFill>
                <a:latin typeface="Trebuchet MS"/>
                <a:cs typeface="Trebuchet MS"/>
              </a:rPr>
              <a:t>automation</a:t>
            </a:r>
            <a:r>
              <a:rPr sz="1000" spc="1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D0D5DA"/>
                </a:solidFill>
                <a:latin typeface="Trebuchet MS"/>
                <a:cs typeface="Trebuchet MS"/>
              </a:rPr>
              <a:t>workflow.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75576" y="3912124"/>
            <a:ext cx="10019030" cy="2868930"/>
            <a:chOff x="575576" y="3912124"/>
            <a:chExt cx="10019030" cy="2868930"/>
          </a:xfrm>
        </p:grpSpPr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71611" y="5863690"/>
              <a:ext cx="134900" cy="25181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75576" y="6745042"/>
              <a:ext cx="288290" cy="36195"/>
            </a:xfrm>
            <a:custGeom>
              <a:avLst/>
              <a:gdLst/>
              <a:ahLst/>
              <a:cxnLst/>
              <a:rect l="l" t="t" r="r" b="b"/>
              <a:pathLst>
                <a:path w="288290" h="36195">
                  <a:moveTo>
                    <a:pt x="287788" y="35973"/>
                  </a:moveTo>
                  <a:lnTo>
                    <a:pt x="0" y="35973"/>
                  </a:lnTo>
                  <a:lnTo>
                    <a:pt x="0" y="0"/>
                  </a:lnTo>
                  <a:lnTo>
                    <a:pt x="287788" y="0"/>
                  </a:lnTo>
                  <a:lnTo>
                    <a:pt x="287788" y="35973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07259" y="3993065"/>
              <a:ext cx="2374255" cy="1798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381514" y="3912124"/>
              <a:ext cx="90170" cy="180340"/>
            </a:xfrm>
            <a:custGeom>
              <a:avLst/>
              <a:gdLst/>
              <a:ahLst/>
              <a:cxnLst/>
              <a:rect l="l" t="t" r="r" b="b"/>
              <a:pathLst>
                <a:path w="90170" h="180339">
                  <a:moveTo>
                    <a:pt x="0" y="179867"/>
                  </a:moveTo>
                  <a:lnTo>
                    <a:pt x="0" y="0"/>
                  </a:lnTo>
                  <a:lnTo>
                    <a:pt x="89933" y="89933"/>
                  </a:lnTo>
                  <a:lnTo>
                    <a:pt x="0" y="179867"/>
                  </a:lnTo>
                  <a:close/>
                </a:path>
              </a:pathLst>
            </a:custGeom>
            <a:solidFill>
              <a:srgbClr val="F29C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68642" y="3993065"/>
              <a:ext cx="2374255" cy="1798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942897" y="3912124"/>
              <a:ext cx="90170" cy="180340"/>
            </a:xfrm>
            <a:custGeom>
              <a:avLst/>
              <a:gdLst/>
              <a:ahLst/>
              <a:cxnLst/>
              <a:rect l="l" t="t" r="r" b="b"/>
              <a:pathLst>
                <a:path w="90170" h="180339">
                  <a:moveTo>
                    <a:pt x="0" y="179867"/>
                  </a:moveTo>
                  <a:lnTo>
                    <a:pt x="0" y="0"/>
                  </a:lnTo>
                  <a:lnTo>
                    <a:pt x="89933" y="89933"/>
                  </a:lnTo>
                  <a:lnTo>
                    <a:pt x="0" y="179867"/>
                  </a:lnTo>
                  <a:close/>
                </a:path>
              </a:pathLst>
            </a:custGeom>
            <a:solidFill>
              <a:srgbClr val="F29C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30025" y="3993065"/>
              <a:ext cx="2374255" cy="1798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0504280" y="3912124"/>
              <a:ext cx="90170" cy="180340"/>
            </a:xfrm>
            <a:custGeom>
              <a:avLst/>
              <a:gdLst/>
              <a:ahLst/>
              <a:cxnLst/>
              <a:rect l="l" t="t" r="r" b="b"/>
              <a:pathLst>
                <a:path w="90170" h="180339">
                  <a:moveTo>
                    <a:pt x="0" y="179867"/>
                  </a:moveTo>
                  <a:lnTo>
                    <a:pt x="0" y="0"/>
                  </a:lnTo>
                  <a:lnTo>
                    <a:pt x="89933" y="89933"/>
                  </a:lnTo>
                  <a:lnTo>
                    <a:pt x="0" y="179867"/>
                  </a:lnTo>
                  <a:close/>
                </a:path>
              </a:pathLst>
            </a:custGeom>
            <a:solidFill>
              <a:srgbClr val="F29C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201733" y="5760457"/>
            <a:ext cx="5296535" cy="40767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100" b="1" spc="105" dirty="0">
                <a:solidFill>
                  <a:srgbClr val="93C4FD"/>
                </a:solidFill>
                <a:latin typeface="Trebuchet MS"/>
                <a:cs typeface="Trebuchet MS"/>
              </a:rPr>
              <a:t>Custom_Expert_Commentary_Demo_with_Google_Analytics_(GA4)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850" spc="65" dirty="0">
                <a:solidFill>
                  <a:srgbClr val="9CA2AF"/>
                </a:solidFill>
                <a:latin typeface="Trebuchet MS"/>
                <a:cs typeface="Trebuchet MS"/>
              </a:rPr>
              <a:t>Served</a:t>
            </a:r>
            <a:r>
              <a:rPr sz="850" spc="80" dirty="0">
                <a:solidFill>
                  <a:srgbClr val="9CA2AF"/>
                </a:solidFill>
                <a:latin typeface="Trebuchet MS"/>
                <a:cs typeface="Trebuchet MS"/>
              </a:rPr>
              <a:t> as</a:t>
            </a:r>
            <a:r>
              <a:rPr sz="8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850" spc="65" dirty="0">
                <a:solidFill>
                  <a:srgbClr val="9CA2AF"/>
                </a:solidFill>
                <a:latin typeface="Trebuchet MS"/>
                <a:cs typeface="Trebuchet MS"/>
              </a:rPr>
              <a:t>a</a:t>
            </a:r>
            <a:r>
              <a:rPr sz="8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9CA2AF"/>
                </a:solidFill>
                <a:latin typeface="Trebuchet MS"/>
                <a:cs typeface="Trebuchet MS"/>
              </a:rPr>
              <a:t>reference</a:t>
            </a:r>
            <a:r>
              <a:rPr sz="8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9CA2AF"/>
                </a:solidFill>
                <a:latin typeface="Trebuchet MS"/>
                <a:cs typeface="Trebuchet MS"/>
              </a:rPr>
              <a:t>template</a:t>
            </a:r>
            <a:r>
              <a:rPr sz="8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9CA2AF"/>
                </a:solidFill>
                <a:latin typeface="Trebuchet MS"/>
                <a:cs typeface="Trebuchet MS"/>
              </a:rPr>
              <a:t>for</a:t>
            </a:r>
            <a:r>
              <a:rPr sz="8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9CA2AF"/>
                </a:solidFill>
                <a:latin typeface="Trebuchet MS"/>
                <a:cs typeface="Trebuchet MS"/>
              </a:rPr>
              <a:t>workflow</a:t>
            </a:r>
            <a:r>
              <a:rPr sz="8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850" spc="50" dirty="0">
                <a:solidFill>
                  <a:srgbClr val="9CA2AF"/>
                </a:solidFill>
                <a:latin typeface="Trebuchet MS"/>
                <a:cs typeface="Trebuchet MS"/>
              </a:rPr>
              <a:t>design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22612" y="6669389"/>
            <a:ext cx="414782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60" dirty="0">
                <a:solidFill>
                  <a:srgbClr val="9CA2AF"/>
                </a:solidFill>
                <a:latin typeface="Trebuchet MS"/>
                <a:cs typeface="Trebuchet MS"/>
              </a:rPr>
              <a:t>Automated</a:t>
            </a:r>
            <a:r>
              <a:rPr sz="100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00" spc="20" dirty="0">
                <a:solidFill>
                  <a:srgbClr val="9CA2AF"/>
                </a:solidFill>
                <a:latin typeface="Trebuchet MS"/>
                <a:cs typeface="Trebuchet MS"/>
              </a:rPr>
              <a:t>Player</a:t>
            </a:r>
            <a:r>
              <a:rPr sz="1000" spc="9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00" spc="20" dirty="0">
                <a:solidFill>
                  <a:srgbClr val="9CA2AF"/>
                </a:solidFill>
                <a:latin typeface="Trebuchet MS"/>
                <a:cs typeface="Trebuchet MS"/>
              </a:rPr>
              <a:t>Tracking</a:t>
            </a:r>
            <a:r>
              <a:rPr sz="100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00" spc="70" dirty="0">
                <a:solidFill>
                  <a:srgbClr val="9CA2AF"/>
                </a:solidFill>
                <a:latin typeface="Trebuchet MS"/>
                <a:cs typeface="Trebuchet MS"/>
              </a:rPr>
              <a:t>&amp;</a:t>
            </a:r>
            <a:r>
              <a:rPr sz="1000" spc="9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00" spc="20" dirty="0">
                <a:solidFill>
                  <a:srgbClr val="9CA2AF"/>
                </a:solidFill>
                <a:latin typeface="Trebuchet MS"/>
                <a:cs typeface="Trebuchet MS"/>
              </a:rPr>
              <a:t>Reporting</a:t>
            </a:r>
            <a:r>
              <a:rPr sz="100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00" spc="85" dirty="0">
                <a:solidFill>
                  <a:srgbClr val="9CA2AF"/>
                </a:solidFill>
                <a:latin typeface="Trebuchet MS"/>
                <a:cs typeface="Trebuchet MS"/>
              </a:rPr>
              <a:t>System</a:t>
            </a:r>
            <a:r>
              <a:rPr sz="1000" spc="9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00" spc="55" dirty="0">
                <a:solidFill>
                  <a:srgbClr val="9CA2AF"/>
                </a:solidFill>
                <a:latin typeface="Trebuchet MS"/>
                <a:cs typeface="Trebuchet MS"/>
              </a:rPr>
              <a:t>via</a:t>
            </a:r>
            <a:r>
              <a:rPr sz="100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00" spc="20" dirty="0">
                <a:solidFill>
                  <a:srgbClr val="9CA2AF"/>
                </a:solidFill>
                <a:latin typeface="Trebuchet MS"/>
                <a:cs typeface="Trebuchet MS"/>
              </a:rPr>
              <a:t>Looker</a:t>
            </a:r>
            <a:r>
              <a:rPr sz="1000" spc="9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00" spc="45" dirty="0">
                <a:solidFill>
                  <a:srgbClr val="9CA2AF"/>
                </a:solidFill>
                <a:latin typeface="Trebuchet MS"/>
                <a:cs typeface="Trebuchet MS"/>
              </a:rPr>
              <a:t>Studio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036101" y="6480528"/>
            <a:ext cx="30861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20" dirty="0">
                <a:solidFill>
                  <a:srgbClr val="FFFFFF"/>
                </a:solidFill>
                <a:latin typeface="Trebuchet MS"/>
                <a:cs typeface="Trebuchet MS"/>
              </a:rPr>
              <a:t>9/11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pc="295" dirty="0"/>
              <a:t>Next</a:t>
            </a:r>
            <a:r>
              <a:rPr spc="130" dirty="0"/>
              <a:t> </a:t>
            </a:r>
            <a:r>
              <a:rPr spc="360" dirty="0"/>
              <a:t>Steps</a:t>
            </a:r>
            <a:r>
              <a:rPr spc="135" dirty="0"/>
              <a:t> </a:t>
            </a:r>
            <a:r>
              <a:rPr spc="434" dirty="0"/>
              <a:t>&amp;</a:t>
            </a:r>
            <a:r>
              <a:rPr spc="135" dirty="0"/>
              <a:t> </a:t>
            </a:r>
            <a:r>
              <a:rPr spc="310" dirty="0"/>
              <a:t>Recommendations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9599" y="5219699"/>
            <a:ext cx="5410200" cy="1028700"/>
            <a:chOff x="609599" y="5219699"/>
            <a:chExt cx="5410200" cy="1028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599" y="4836690"/>
              <a:ext cx="142874" cy="1904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8649" y="5179590"/>
              <a:ext cx="5391150" cy="685800"/>
            </a:xfrm>
            <a:custGeom>
              <a:avLst/>
              <a:gdLst/>
              <a:ahLst/>
              <a:cxnLst/>
              <a:rect l="l" t="t" r="r" b="b"/>
              <a:pathLst>
                <a:path w="5391150" h="685800">
                  <a:moveTo>
                    <a:pt x="5319952" y="685799"/>
                  </a:moveTo>
                  <a:lnTo>
                    <a:pt x="53397" y="685799"/>
                  </a:lnTo>
                  <a:lnTo>
                    <a:pt x="49680" y="685311"/>
                  </a:lnTo>
                  <a:lnTo>
                    <a:pt x="14085" y="659942"/>
                  </a:lnTo>
                  <a:lnTo>
                    <a:pt x="366" y="619558"/>
                  </a:lnTo>
                  <a:lnTo>
                    <a:pt x="0" y="614603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5319952" y="0"/>
                  </a:lnTo>
                  <a:lnTo>
                    <a:pt x="5361443" y="15621"/>
                  </a:lnTo>
                  <a:lnTo>
                    <a:pt x="5387263" y="51661"/>
                  </a:lnTo>
                  <a:lnTo>
                    <a:pt x="5391149" y="71196"/>
                  </a:lnTo>
                  <a:lnTo>
                    <a:pt x="5391149" y="614603"/>
                  </a:lnTo>
                  <a:lnTo>
                    <a:pt x="5375526" y="656093"/>
                  </a:lnTo>
                  <a:lnTo>
                    <a:pt x="5339486" y="681912"/>
                  </a:lnTo>
                  <a:lnTo>
                    <a:pt x="5324907" y="685311"/>
                  </a:lnTo>
                  <a:lnTo>
                    <a:pt x="5319952" y="6857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9599" y="5179868"/>
              <a:ext cx="70485" cy="685800"/>
            </a:xfrm>
            <a:custGeom>
              <a:avLst/>
              <a:gdLst/>
              <a:ahLst/>
              <a:cxnLst/>
              <a:rect l="l" t="t" r="r" b="b"/>
              <a:pathLst>
                <a:path w="70484" h="685800">
                  <a:moveTo>
                    <a:pt x="70450" y="685244"/>
                  </a:moveTo>
                  <a:lnTo>
                    <a:pt x="33857" y="672691"/>
                  </a:lnTo>
                  <a:lnTo>
                    <a:pt x="5800" y="638481"/>
                  </a:lnTo>
                  <a:lnTo>
                    <a:pt x="0" y="6093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0"/>
                  </a:lnTo>
                  <a:lnTo>
                    <a:pt x="38100" y="75922"/>
                  </a:lnTo>
                  <a:lnTo>
                    <a:pt x="38100" y="609322"/>
                  </a:lnTo>
                  <a:lnTo>
                    <a:pt x="44514" y="651663"/>
                  </a:lnTo>
                  <a:lnTo>
                    <a:pt x="66287" y="683588"/>
                  </a:lnTo>
                  <a:lnTo>
                    <a:pt x="70450" y="68524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099" y="5360565"/>
              <a:ext cx="133349" cy="133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54075" y="4795416"/>
            <a:ext cx="24720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75" dirty="0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sz="15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65" dirty="0">
                <a:solidFill>
                  <a:srgbClr val="FFFFFF"/>
                </a:solidFill>
                <a:latin typeface="Trebuchet MS"/>
                <a:cs typeface="Trebuchet MS"/>
              </a:rPr>
              <a:t>Recommendations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7399" y="5298335"/>
            <a:ext cx="46272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1460">
              <a:lnSpc>
                <a:spcPct val="119000"/>
              </a:lnSpc>
              <a:spcBef>
                <a:spcPts val="100"/>
              </a:spcBef>
            </a:pPr>
            <a:r>
              <a:rPr sz="1050" b="1" spc="75" dirty="0">
                <a:solidFill>
                  <a:srgbClr val="FFFFFF"/>
                </a:solidFill>
                <a:latin typeface="Trebuchet MS"/>
                <a:cs typeface="Trebuchet MS"/>
              </a:rPr>
              <a:t>Prioritize</a:t>
            </a:r>
            <a:r>
              <a:rPr sz="1050" b="1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125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050" b="1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95" dirty="0">
                <a:solidFill>
                  <a:srgbClr val="FFFFFF"/>
                </a:solidFill>
                <a:latin typeface="Trebuchet MS"/>
                <a:cs typeface="Trebuchet MS"/>
              </a:rPr>
              <a:t>quality</a:t>
            </a:r>
            <a:r>
              <a:rPr sz="105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0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FFFFFF"/>
                </a:solidFill>
                <a:latin typeface="Trebuchet MS"/>
                <a:cs typeface="Trebuchet MS"/>
              </a:rPr>
              <a:t>Ensure</a:t>
            </a:r>
            <a:r>
              <a:rPr sz="10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0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cleanliness</a:t>
            </a:r>
            <a:r>
              <a:rPr sz="10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0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validation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before</a:t>
            </a:r>
            <a:r>
              <a:rPr sz="105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FFFFFF"/>
                </a:solidFill>
                <a:latin typeface="Trebuchet MS"/>
                <a:cs typeface="Trebuchet MS"/>
              </a:rPr>
              <a:t>connecting</a:t>
            </a:r>
            <a:r>
              <a:rPr sz="1050" spc="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05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FFFFFF"/>
                </a:solidFill>
                <a:latin typeface="Trebuchet MS"/>
                <a:cs typeface="Trebuchet MS"/>
              </a:rPr>
              <a:t>Looker</a:t>
            </a:r>
            <a:r>
              <a:rPr sz="1050" spc="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FFFFFF"/>
                </a:solidFill>
                <a:latin typeface="Trebuchet MS"/>
                <a:cs typeface="Trebuchet MS"/>
              </a:rPr>
              <a:t>Studio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72199" y="5562599"/>
            <a:ext cx="5410200" cy="685800"/>
            <a:chOff x="6172199" y="5562599"/>
            <a:chExt cx="5410200" cy="685800"/>
          </a:xfrm>
        </p:grpSpPr>
        <p:sp>
          <p:nvSpPr>
            <p:cNvPr id="13" name="object 13"/>
            <p:cNvSpPr/>
            <p:nvPr/>
          </p:nvSpPr>
          <p:spPr>
            <a:xfrm>
              <a:off x="6191248" y="5179590"/>
              <a:ext cx="5391150" cy="685800"/>
            </a:xfrm>
            <a:custGeom>
              <a:avLst/>
              <a:gdLst/>
              <a:ahLst/>
              <a:cxnLst/>
              <a:rect l="l" t="t" r="r" b="b"/>
              <a:pathLst>
                <a:path w="5391150" h="685800">
                  <a:moveTo>
                    <a:pt x="5319953" y="685799"/>
                  </a:moveTo>
                  <a:lnTo>
                    <a:pt x="53397" y="685799"/>
                  </a:lnTo>
                  <a:lnTo>
                    <a:pt x="49681" y="685311"/>
                  </a:lnTo>
                  <a:lnTo>
                    <a:pt x="14085" y="659942"/>
                  </a:lnTo>
                  <a:lnTo>
                    <a:pt x="366" y="619558"/>
                  </a:lnTo>
                  <a:lnTo>
                    <a:pt x="0" y="614603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5319953" y="0"/>
                  </a:lnTo>
                  <a:lnTo>
                    <a:pt x="5361442" y="15621"/>
                  </a:lnTo>
                  <a:lnTo>
                    <a:pt x="5387262" y="51661"/>
                  </a:lnTo>
                  <a:lnTo>
                    <a:pt x="5391149" y="71196"/>
                  </a:lnTo>
                  <a:lnTo>
                    <a:pt x="5391149" y="614603"/>
                  </a:lnTo>
                  <a:lnTo>
                    <a:pt x="5375526" y="656093"/>
                  </a:lnTo>
                  <a:lnTo>
                    <a:pt x="5339487" y="681912"/>
                  </a:lnTo>
                  <a:lnTo>
                    <a:pt x="5324907" y="685311"/>
                  </a:lnTo>
                  <a:lnTo>
                    <a:pt x="5319953" y="685799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72199" y="5179868"/>
              <a:ext cx="70485" cy="685800"/>
            </a:xfrm>
            <a:custGeom>
              <a:avLst/>
              <a:gdLst/>
              <a:ahLst/>
              <a:cxnLst/>
              <a:rect l="l" t="t" r="r" b="b"/>
              <a:pathLst>
                <a:path w="70485" h="685800">
                  <a:moveTo>
                    <a:pt x="70450" y="685244"/>
                  </a:moveTo>
                  <a:lnTo>
                    <a:pt x="33857" y="672691"/>
                  </a:lnTo>
                  <a:lnTo>
                    <a:pt x="5799" y="638481"/>
                  </a:lnTo>
                  <a:lnTo>
                    <a:pt x="0" y="6093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0"/>
                  </a:lnTo>
                  <a:lnTo>
                    <a:pt x="38100" y="75922"/>
                  </a:lnTo>
                  <a:lnTo>
                    <a:pt x="38100" y="609322"/>
                  </a:lnTo>
                  <a:lnTo>
                    <a:pt x="44514" y="651663"/>
                  </a:lnTo>
                  <a:lnTo>
                    <a:pt x="66287" y="683588"/>
                  </a:lnTo>
                  <a:lnTo>
                    <a:pt x="70450" y="685244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2699" y="5360565"/>
              <a:ext cx="133349" cy="13334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349999" y="5298335"/>
            <a:ext cx="42233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1460">
              <a:lnSpc>
                <a:spcPct val="119000"/>
              </a:lnSpc>
              <a:spcBef>
                <a:spcPts val="100"/>
              </a:spcBef>
            </a:pPr>
            <a:r>
              <a:rPr sz="1050" b="1" spc="75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r>
              <a:rPr sz="105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b="1" spc="114" dirty="0">
                <a:solidFill>
                  <a:srgbClr val="FFFFFF"/>
                </a:solidFill>
                <a:latin typeface="Trebuchet MS"/>
                <a:cs typeface="Trebuchet MS"/>
              </a:rPr>
              <a:t>automation</a:t>
            </a:r>
            <a:r>
              <a:rPr sz="1050" b="1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FFFFFF"/>
                </a:solidFill>
                <a:latin typeface="Trebuchet MS"/>
                <a:cs typeface="Trebuchet MS"/>
              </a:rPr>
              <a:t>Thoroughly</a:t>
            </a:r>
            <a:r>
              <a:rPr sz="105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050" spc="65" dirty="0">
                <a:solidFill>
                  <a:srgbClr val="FFFFFF"/>
                </a:solidFill>
                <a:latin typeface="Trebuchet MS"/>
                <a:cs typeface="Trebuchet MS"/>
              </a:rPr>
              <a:t>automated</a:t>
            </a:r>
            <a:r>
              <a:rPr sz="105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35" dirty="0">
                <a:solidFill>
                  <a:srgbClr val="FFFFFF"/>
                </a:solidFill>
                <a:latin typeface="Trebuchet MS"/>
                <a:cs typeface="Trebuchet MS"/>
              </a:rPr>
              <a:t>refresh </a:t>
            </a:r>
            <a:r>
              <a:rPr sz="1050" spc="90" dirty="0">
                <a:solidFill>
                  <a:srgbClr val="FFFFFF"/>
                </a:solidFill>
                <a:latin typeface="Trebuchet MS"/>
                <a:cs typeface="Trebuchet MS"/>
              </a:rPr>
              <a:t>mechanisms</a:t>
            </a:r>
            <a:r>
              <a:rPr sz="105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05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FFFFFF"/>
                </a:solidFill>
                <a:latin typeface="Trebuchet MS"/>
                <a:cs typeface="Trebuchet MS"/>
              </a:rPr>
              <a:t>ensure</a:t>
            </a:r>
            <a:r>
              <a:rPr sz="105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FFFFFF"/>
                </a:solidFill>
                <a:latin typeface="Trebuchet MS"/>
                <a:cs typeface="Trebuchet MS"/>
              </a:rPr>
              <a:t>real-time</a:t>
            </a:r>
            <a:r>
              <a:rPr sz="105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05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Trebuchet MS"/>
                <a:cs typeface="Trebuchet MS"/>
              </a:rPr>
              <a:t>availability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9599" y="1943099"/>
            <a:ext cx="10525125" cy="4648200"/>
            <a:chOff x="609599" y="1943099"/>
            <a:chExt cx="10525125" cy="4648200"/>
          </a:xfrm>
        </p:grpSpPr>
        <p:sp>
          <p:nvSpPr>
            <p:cNvPr id="18" name="object 18"/>
            <p:cNvSpPr/>
            <p:nvPr/>
          </p:nvSpPr>
          <p:spPr>
            <a:xfrm>
              <a:off x="609587" y="4227090"/>
              <a:ext cx="10058400" cy="1981200"/>
            </a:xfrm>
            <a:custGeom>
              <a:avLst/>
              <a:gdLst/>
              <a:ahLst/>
              <a:cxnLst/>
              <a:rect l="l" t="t" r="r" b="b"/>
              <a:pathLst>
                <a:path w="10058400" h="1981200">
                  <a:moveTo>
                    <a:pt x="304800" y="1943100"/>
                  </a:moveTo>
                  <a:lnTo>
                    <a:pt x="0" y="1943100"/>
                  </a:lnTo>
                  <a:lnTo>
                    <a:pt x="0" y="1981200"/>
                  </a:lnTo>
                  <a:lnTo>
                    <a:pt x="304800" y="1981200"/>
                  </a:lnTo>
                  <a:lnTo>
                    <a:pt x="304800" y="1943100"/>
                  </a:lnTo>
                  <a:close/>
                </a:path>
                <a:path w="10058400" h="1981200">
                  <a:moveTo>
                    <a:pt x="152400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1524000" y="38100"/>
                  </a:lnTo>
                  <a:lnTo>
                    <a:pt x="1524000" y="0"/>
                  </a:lnTo>
                  <a:close/>
                </a:path>
                <a:path w="10058400" h="1981200">
                  <a:moveTo>
                    <a:pt x="4371975" y="0"/>
                  </a:moveTo>
                  <a:lnTo>
                    <a:pt x="3762375" y="0"/>
                  </a:lnTo>
                  <a:lnTo>
                    <a:pt x="3762375" y="38100"/>
                  </a:lnTo>
                  <a:lnTo>
                    <a:pt x="4371975" y="38100"/>
                  </a:lnTo>
                  <a:lnTo>
                    <a:pt x="4371975" y="0"/>
                  </a:lnTo>
                  <a:close/>
                </a:path>
                <a:path w="10058400" h="1981200">
                  <a:moveTo>
                    <a:pt x="7210425" y="0"/>
                  </a:moveTo>
                  <a:lnTo>
                    <a:pt x="6600825" y="0"/>
                  </a:lnTo>
                  <a:lnTo>
                    <a:pt x="6600825" y="38100"/>
                  </a:lnTo>
                  <a:lnTo>
                    <a:pt x="7210425" y="38100"/>
                  </a:lnTo>
                  <a:lnTo>
                    <a:pt x="7210425" y="0"/>
                  </a:lnTo>
                  <a:close/>
                </a:path>
                <a:path w="10058400" h="1981200">
                  <a:moveTo>
                    <a:pt x="10058400" y="0"/>
                  </a:moveTo>
                  <a:lnTo>
                    <a:pt x="9448800" y="0"/>
                  </a:lnTo>
                  <a:lnTo>
                    <a:pt x="9448800" y="38100"/>
                  </a:lnTo>
                  <a:lnTo>
                    <a:pt x="10058400" y="38100"/>
                  </a:lnTo>
                  <a:lnTo>
                    <a:pt x="1005840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76474" y="2750715"/>
              <a:ext cx="8858249" cy="1904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9599" y="1560090"/>
              <a:ext cx="2133600" cy="2209800"/>
            </a:xfrm>
            <a:custGeom>
              <a:avLst/>
              <a:gdLst/>
              <a:ahLst/>
              <a:cxnLst/>
              <a:rect l="l" t="t" r="r" b="b"/>
              <a:pathLst>
                <a:path w="2133600" h="2209800">
                  <a:moveTo>
                    <a:pt x="2062403" y="2209799"/>
                  </a:moveTo>
                  <a:lnTo>
                    <a:pt x="71196" y="2209799"/>
                  </a:lnTo>
                  <a:lnTo>
                    <a:pt x="66241" y="2209311"/>
                  </a:lnTo>
                  <a:lnTo>
                    <a:pt x="29705" y="2194177"/>
                  </a:lnTo>
                  <a:lnTo>
                    <a:pt x="3885" y="2158137"/>
                  </a:lnTo>
                  <a:lnTo>
                    <a:pt x="0" y="2138603"/>
                  </a:lnTo>
                  <a:lnTo>
                    <a:pt x="0" y="2133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062403" y="0"/>
                  </a:lnTo>
                  <a:lnTo>
                    <a:pt x="2103893" y="15621"/>
                  </a:lnTo>
                  <a:lnTo>
                    <a:pt x="2129713" y="51661"/>
                  </a:lnTo>
                  <a:lnTo>
                    <a:pt x="2133599" y="71196"/>
                  </a:lnTo>
                  <a:lnTo>
                    <a:pt x="2133599" y="2138603"/>
                  </a:lnTo>
                  <a:lnTo>
                    <a:pt x="2117977" y="2180094"/>
                  </a:lnTo>
                  <a:lnTo>
                    <a:pt x="2081937" y="2205914"/>
                  </a:lnTo>
                  <a:lnTo>
                    <a:pt x="2067358" y="2209311"/>
                  </a:lnTo>
                  <a:lnTo>
                    <a:pt x="2062403" y="2209799"/>
                  </a:lnTo>
                  <a:close/>
                </a:path>
              </a:pathLst>
            </a:custGeom>
            <a:solidFill>
              <a:srgbClr val="1F2937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66849" y="1750590"/>
              <a:ext cx="428625" cy="533400"/>
            </a:xfrm>
            <a:custGeom>
              <a:avLst/>
              <a:gdLst/>
              <a:ahLst/>
              <a:cxnLst/>
              <a:rect l="l" t="t" r="r" b="b"/>
              <a:pathLst>
                <a:path w="428625" h="533400">
                  <a:moveTo>
                    <a:pt x="221331" y="533399"/>
                  </a:moveTo>
                  <a:lnTo>
                    <a:pt x="207293" y="533399"/>
                  </a:lnTo>
                  <a:lnTo>
                    <a:pt x="200291" y="533055"/>
                  </a:lnTo>
                  <a:lnTo>
                    <a:pt x="158817" y="526208"/>
                  </a:lnTo>
                  <a:lnTo>
                    <a:pt x="119476" y="511402"/>
                  </a:lnTo>
                  <a:lnTo>
                    <a:pt x="83779" y="489205"/>
                  </a:lnTo>
                  <a:lnTo>
                    <a:pt x="53099" y="460471"/>
                  </a:lnTo>
                  <a:lnTo>
                    <a:pt x="28614" y="426303"/>
                  </a:lnTo>
                  <a:lnTo>
                    <a:pt x="11265" y="388015"/>
                  </a:lnTo>
                  <a:lnTo>
                    <a:pt x="1720" y="347078"/>
                  </a:lnTo>
                  <a:lnTo>
                    <a:pt x="0" y="319087"/>
                  </a:lnTo>
                  <a:lnTo>
                    <a:pt x="0" y="207293"/>
                  </a:lnTo>
                  <a:lnTo>
                    <a:pt x="5487" y="165617"/>
                  </a:lnTo>
                  <a:lnTo>
                    <a:pt x="18999" y="125813"/>
                  </a:lnTo>
                  <a:lnTo>
                    <a:pt x="40017" y="89410"/>
                  </a:lnTo>
                  <a:lnTo>
                    <a:pt x="67733" y="57807"/>
                  </a:lnTo>
                  <a:lnTo>
                    <a:pt x="101082" y="32218"/>
                  </a:lnTo>
                  <a:lnTo>
                    <a:pt x="138783" y="13627"/>
                  </a:lnTo>
                  <a:lnTo>
                    <a:pt x="179386" y="2748"/>
                  </a:lnTo>
                  <a:lnTo>
                    <a:pt x="207293" y="0"/>
                  </a:lnTo>
                  <a:lnTo>
                    <a:pt x="221331" y="0"/>
                  </a:lnTo>
                  <a:lnTo>
                    <a:pt x="263006" y="5487"/>
                  </a:lnTo>
                  <a:lnTo>
                    <a:pt x="302810" y="18999"/>
                  </a:lnTo>
                  <a:lnTo>
                    <a:pt x="339213" y="40017"/>
                  </a:lnTo>
                  <a:lnTo>
                    <a:pt x="370817" y="67733"/>
                  </a:lnTo>
                  <a:lnTo>
                    <a:pt x="396406" y="101082"/>
                  </a:lnTo>
                  <a:lnTo>
                    <a:pt x="414997" y="138783"/>
                  </a:lnTo>
                  <a:lnTo>
                    <a:pt x="425876" y="179386"/>
                  </a:lnTo>
                  <a:lnTo>
                    <a:pt x="428624" y="207293"/>
                  </a:lnTo>
                  <a:lnTo>
                    <a:pt x="428624" y="326106"/>
                  </a:lnTo>
                  <a:lnTo>
                    <a:pt x="423137" y="367781"/>
                  </a:lnTo>
                  <a:lnTo>
                    <a:pt x="409625" y="407585"/>
                  </a:lnTo>
                  <a:lnTo>
                    <a:pt x="388607" y="443988"/>
                  </a:lnTo>
                  <a:lnTo>
                    <a:pt x="360890" y="475591"/>
                  </a:lnTo>
                  <a:lnTo>
                    <a:pt x="327541" y="501180"/>
                  </a:lnTo>
                  <a:lnTo>
                    <a:pt x="289841" y="519771"/>
                  </a:lnTo>
                  <a:lnTo>
                    <a:pt x="249238" y="530651"/>
                  </a:lnTo>
                  <a:lnTo>
                    <a:pt x="221331" y="5333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1149" y="1864890"/>
              <a:ext cx="200024" cy="30479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77900" y="6090815"/>
            <a:ext cx="43916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65" dirty="0">
                <a:solidFill>
                  <a:srgbClr val="9CA2AF"/>
                </a:solidFill>
                <a:latin typeface="Trebuchet MS"/>
                <a:cs typeface="Trebuchet MS"/>
              </a:rPr>
              <a:t>Automated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10" dirty="0">
                <a:solidFill>
                  <a:srgbClr val="9CA2AF"/>
                </a:solidFill>
                <a:latin typeface="Trebuchet MS"/>
                <a:cs typeface="Trebuchet MS"/>
              </a:rPr>
              <a:t>Player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10" dirty="0">
                <a:solidFill>
                  <a:srgbClr val="9CA2AF"/>
                </a:solidFill>
                <a:latin typeface="Trebuchet MS"/>
                <a:cs typeface="Trebuchet MS"/>
              </a:rPr>
              <a:t>Tracking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9CA2AF"/>
                </a:solidFill>
                <a:latin typeface="Trebuchet MS"/>
                <a:cs typeface="Trebuchet MS"/>
              </a:rPr>
              <a:t>&amp;</a:t>
            </a:r>
            <a:r>
              <a:rPr sz="105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9CA2AF"/>
                </a:solidFill>
                <a:latin typeface="Trebuchet MS"/>
                <a:cs typeface="Trebuchet MS"/>
              </a:rPr>
              <a:t>Reporting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95" dirty="0">
                <a:solidFill>
                  <a:srgbClr val="9CA2AF"/>
                </a:solidFill>
                <a:latin typeface="Trebuchet MS"/>
                <a:cs typeface="Trebuchet MS"/>
              </a:rPr>
              <a:t>System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9CA2AF"/>
                </a:solidFill>
                <a:latin typeface="Trebuchet MS"/>
                <a:cs typeface="Trebuchet MS"/>
              </a:rPr>
              <a:t>via</a:t>
            </a:r>
            <a:r>
              <a:rPr sz="1050" spc="9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Looker</a:t>
            </a:r>
            <a:r>
              <a:rPr sz="1050" spc="8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9CA2AF"/>
                </a:solidFill>
                <a:latin typeface="Trebuchet MS"/>
                <a:cs typeface="Trebuchet MS"/>
              </a:rPr>
              <a:t>Studio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00745" y="4328691"/>
            <a:ext cx="456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CA2AF"/>
                </a:solidFill>
                <a:latin typeface="Trebuchet MS"/>
                <a:cs typeface="Trebuchet MS"/>
              </a:rPr>
              <a:t>June</a:t>
            </a:r>
            <a:r>
              <a:rPr sz="900" spc="65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9CA2AF"/>
                </a:solidFill>
                <a:latin typeface="Trebuchet MS"/>
                <a:cs typeface="Trebuchet MS"/>
              </a:rPr>
              <a:t>25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03489" y="4328691"/>
            <a:ext cx="340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CA2AF"/>
                </a:solidFill>
                <a:latin typeface="Trebuchet MS"/>
                <a:cs typeface="Trebuchet MS"/>
              </a:rPr>
              <a:t>July</a:t>
            </a:r>
            <a:r>
              <a:rPr sz="900" spc="-1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9CA2AF"/>
                </a:solidFill>
                <a:latin typeface="Trebuchet MS"/>
                <a:cs typeface="Trebuchet MS"/>
              </a:rPr>
              <a:t>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11727" y="4328691"/>
            <a:ext cx="4127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CA2AF"/>
                </a:solidFill>
                <a:latin typeface="Trebuchet MS"/>
                <a:cs typeface="Trebuchet MS"/>
              </a:rPr>
              <a:t>July</a:t>
            </a:r>
            <a:r>
              <a:rPr sz="900" spc="-1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9CA2AF"/>
                </a:solidFill>
                <a:latin typeface="Trebuchet MS"/>
                <a:cs typeface="Trebuchet MS"/>
              </a:rPr>
              <a:t>15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56427" y="4328691"/>
            <a:ext cx="4127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CA2AF"/>
                </a:solidFill>
                <a:latin typeface="Trebuchet MS"/>
                <a:cs typeface="Trebuchet MS"/>
              </a:rPr>
              <a:t>July</a:t>
            </a:r>
            <a:r>
              <a:rPr sz="900" spc="-10" dirty="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9CA2AF"/>
                </a:solidFill>
                <a:latin typeface="Trebuchet MS"/>
                <a:cs typeface="Trebuchet MS"/>
              </a:rPr>
              <a:t>25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04376" y="6081290"/>
            <a:ext cx="41020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45" dirty="0">
                <a:solidFill>
                  <a:srgbClr val="FFFFFF"/>
                </a:solidFill>
                <a:latin typeface="Trebuchet MS"/>
                <a:cs typeface="Trebuchet MS"/>
              </a:rPr>
              <a:t>10/11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4246" y="2387495"/>
            <a:ext cx="1764664" cy="1189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109855" algn="ctr">
              <a:lnSpc>
                <a:spcPct val="125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Finalize </a:t>
            </a:r>
            <a:r>
              <a:rPr sz="1200" b="1" spc="150" dirty="0">
                <a:solidFill>
                  <a:srgbClr val="FFFFFF"/>
                </a:solidFill>
                <a:latin typeface="Trebuchet MS"/>
                <a:cs typeface="Trebuchet MS"/>
              </a:rPr>
              <a:t>Database </a:t>
            </a:r>
            <a:r>
              <a:rPr sz="1200" b="1" spc="120" dirty="0">
                <a:solidFill>
                  <a:srgbClr val="FFFFFF"/>
                </a:solidFill>
                <a:latin typeface="Trebuchet MS"/>
                <a:cs typeface="Trebuchet MS"/>
              </a:rPr>
              <a:t>Work</a:t>
            </a:r>
            <a:endParaRPr sz="1200">
              <a:latin typeface="Trebuchet MS"/>
              <a:cs typeface="Trebuchet MS"/>
            </a:endParaRPr>
          </a:p>
          <a:p>
            <a:pPr marL="12065" marR="5080" algn="ctr">
              <a:lnSpc>
                <a:spcPct val="111100"/>
              </a:lnSpc>
              <a:spcBef>
                <a:spcPts val="765"/>
              </a:spcBef>
            </a:pPr>
            <a:r>
              <a:rPr sz="900" spc="10" dirty="0">
                <a:solidFill>
                  <a:srgbClr val="D0D5DA"/>
                </a:solidFill>
                <a:latin typeface="Trebuchet MS"/>
                <a:cs typeface="Trebuchet MS"/>
              </a:rPr>
              <a:t>Further</a:t>
            </a:r>
            <a:r>
              <a:rPr sz="900" spc="1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D0D5DA"/>
                </a:solidFill>
                <a:latin typeface="Trebuchet MS"/>
                <a:cs typeface="Trebuchet MS"/>
              </a:rPr>
              <a:t>familiarize</a:t>
            </a:r>
            <a:r>
              <a:rPr sz="900" spc="1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D0D5DA"/>
                </a:solidFill>
                <a:latin typeface="Trebuchet MS"/>
                <a:cs typeface="Trebuchet MS"/>
              </a:rPr>
              <a:t>team</a:t>
            </a:r>
            <a:r>
              <a:rPr sz="900" spc="1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D0D5DA"/>
                </a:solidFill>
                <a:latin typeface="Trebuchet MS"/>
                <a:cs typeface="Trebuchet MS"/>
              </a:rPr>
              <a:t>with </a:t>
            </a:r>
            <a:r>
              <a:rPr sz="900" spc="95" dirty="0">
                <a:solidFill>
                  <a:srgbClr val="D0D5DA"/>
                </a:solidFill>
                <a:latin typeface="Trebuchet MS"/>
                <a:cs typeface="Trebuchet MS"/>
              </a:rPr>
              <a:t>MySQL</a:t>
            </a:r>
            <a:r>
              <a:rPr sz="9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9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D0D5DA"/>
                </a:solidFill>
                <a:latin typeface="Trebuchet MS"/>
                <a:cs typeface="Trebuchet MS"/>
              </a:rPr>
              <a:t>perform</a:t>
            </a:r>
            <a:r>
              <a:rPr sz="9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D0D5DA"/>
                </a:solidFill>
                <a:latin typeface="Trebuchet MS"/>
                <a:cs typeface="Trebuchet MS"/>
              </a:rPr>
              <a:t>final</a:t>
            </a:r>
            <a:r>
              <a:rPr sz="9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D0D5DA"/>
                </a:solidFill>
                <a:latin typeface="Trebuchet MS"/>
                <a:cs typeface="Trebuchet MS"/>
              </a:rPr>
              <a:t>data </a:t>
            </a:r>
            <a:r>
              <a:rPr sz="900" spc="50" dirty="0">
                <a:solidFill>
                  <a:srgbClr val="D0D5DA"/>
                </a:solidFill>
                <a:latin typeface="Trebuchet MS"/>
                <a:cs typeface="Trebuchet MS"/>
              </a:rPr>
              <a:t>cleaning</a:t>
            </a:r>
            <a:r>
              <a:rPr sz="9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900" spc="9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D0D5DA"/>
                </a:solidFill>
                <a:latin typeface="Trebuchet MS"/>
                <a:cs typeface="Trebuchet MS"/>
              </a:rPr>
              <a:t>validation</a:t>
            </a:r>
            <a:r>
              <a:rPr sz="9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D0D5DA"/>
                </a:solidFill>
                <a:latin typeface="Trebuchet MS"/>
                <a:cs typeface="Trebuchet MS"/>
              </a:rPr>
              <a:t>before </a:t>
            </a:r>
            <a:r>
              <a:rPr sz="900" spc="50" dirty="0">
                <a:solidFill>
                  <a:srgbClr val="D0D5DA"/>
                </a:solidFill>
                <a:latin typeface="Trebuchet MS"/>
                <a:cs typeface="Trebuchet MS"/>
              </a:rPr>
              <a:t>connecting</a:t>
            </a:r>
            <a:r>
              <a:rPr sz="900" spc="1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D0D5DA"/>
                </a:solidFill>
                <a:latin typeface="Trebuchet MS"/>
                <a:cs typeface="Trebuchet MS"/>
              </a:rPr>
              <a:t>to</a:t>
            </a:r>
            <a:r>
              <a:rPr sz="900" spc="12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D0D5DA"/>
                </a:solidFill>
                <a:latin typeface="Trebuchet MS"/>
                <a:cs typeface="Trebuchet MS"/>
              </a:rPr>
              <a:t>Looker</a:t>
            </a:r>
            <a:r>
              <a:rPr sz="900" spc="12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40" dirty="0">
                <a:solidFill>
                  <a:srgbClr val="D0D5DA"/>
                </a:solidFill>
                <a:latin typeface="Trebuchet MS"/>
                <a:cs typeface="Trebuchet MS"/>
              </a:rPr>
              <a:t>Studio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523999" y="1562099"/>
            <a:ext cx="4162425" cy="2590800"/>
            <a:chOff x="1523999" y="1562099"/>
            <a:chExt cx="4162425" cy="2590800"/>
          </a:xfrm>
        </p:grpSpPr>
        <p:sp>
          <p:nvSpPr>
            <p:cNvPr id="31" name="object 31"/>
            <p:cNvSpPr/>
            <p:nvPr/>
          </p:nvSpPr>
          <p:spPr>
            <a:xfrm>
              <a:off x="1523999" y="117909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4"/>
                  </a:lnTo>
                  <a:lnTo>
                    <a:pt x="203733" y="295895"/>
                  </a:lnTo>
                  <a:lnTo>
                    <a:pt x="159887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16A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52824" y="1560090"/>
              <a:ext cx="2133600" cy="2209800"/>
            </a:xfrm>
            <a:custGeom>
              <a:avLst/>
              <a:gdLst/>
              <a:ahLst/>
              <a:cxnLst/>
              <a:rect l="l" t="t" r="r" b="b"/>
              <a:pathLst>
                <a:path w="2133600" h="2209800">
                  <a:moveTo>
                    <a:pt x="2062403" y="2209799"/>
                  </a:moveTo>
                  <a:lnTo>
                    <a:pt x="71196" y="2209799"/>
                  </a:lnTo>
                  <a:lnTo>
                    <a:pt x="66241" y="2209311"/>
                  </a:lnTo>
                  <a:lnTo>
                    <a:pt x="29705" y="2194177"/>
                  </a:lnTo>
                  <a:lnTo>
                    <a:pt x="3885" y="2158137"/>
                  </a:lnTo>
                  <a:lnTo>
                    <a:pt x="0" y="2138603"/>
                  </a:lnTo>
                  <a:lnTo>
                    <a:pt x="0" y="2133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062403" y="0"/>
                  </a:lnTo>
                  <a:lnTo>
                    <a:pt x="2103893" y="15621"/>
                  </a:lnTo>
                  <a:lnTo>
                    <a:pt x="2129713" y="51661"/>
                  </a:lnTo>
                  <a:lnTo>
                    <a:pt x="2133600" y="71196"/>
                  </a:lnTo>
                  <a:lnTo>
                    <a:pt x="2133600" y="2138603"/>
                  </a:lnTo>
                  <a:lnTo>
                    <a:pt x="2117977" y="2180094"/>
                  </a:lnTo>
                  <a:lnTo>
                    <a:pt x="2081937" y="2205914"/>
                  </a:lnTo>
                  <a:lnTo>
                    <a:pt x="2067358" y="2209311"/>
                  </a:lnTo>
                  <a:lnTo>
                    <a:pt x="2062403" y="2209799"/>
                  </a:lnTo>
                  <a:close/>
                </a:path>
              </a:pathLst>
            </a:custGeom>
            <a:solidFill>
              <a:srgbClr val="1F2937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91024" y="1750591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236087" y="533399"/>
                  </a:moveTo>
                  <a:lnTo>
                    <a:pt x="221112" y="533399"/>
                  </a:lnTo>
                  <a:lnTo>
                    <a:pt x="213644" y="533032"/>
                  </a:lnTo>
                  <a:lnTo>
                    <a:pt x="169405" y="525729"/>
                  </a:lnTo>
                  <a:lnTo>
                    <a:pt x="127441" y="509936"/>
                  </a:lnTo>
                  <a:lnTo>
                    <a:pt x="89364" y="486259"/>
                  </a:lnTo>
                  <a:lnTo>
                    <a:pt x="56639" y="455609"/>
                  </a:lnTo>
                  <a:lnTo>
                    <a:pt x="30521" y="419163"/>
                  </a:lnTo>
                  <a:lnTo>
                    <a:pt x="12016" y="378323"/>
                  </a:lnTo>
                  <a:lnTo>
                    <a:pt x="1834" y="334657"/>
                  </a:lnTo>
                  <a:lnTo>
                    <a:pt x="0" y="304799"/>
                  </a:lnTo>
                  <a:lnTo>
                    <a:pt x="0" y="221112"/>
                  </a:lnTo>
                  <a:lnTo>
                    <a:pt x="5852" y="176658"/>
                  </a:lnTo>
                  <a:lnTo>
                    <a:pt x="20265" y="134201"/>
                  </a:lnTo>
                  <a:lnTo>
                    <a:pt x="42685" y="95371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4" y="2931"/>
                  </a:lnTo>
                  <a:lnTo>
                    <a:pt x="221112" y="0"/>
                  </a:lnTo>
                  <a:lnTo>
                    <a:pt x="236087" y="0"/>
                  </a:lnTo>
                  <a:lnTo>
                    <a:pt x="280540" y="5852"/>
                  </a:lnTo>
                  <a:lnTo>
                    <a:pt x="322998" y="20266"/>
                  </a:lnTo>
                  <a:lnTo>
                    <a:pt x="361828" y="42685"/>
                  </a:lnTo>
                  <a:lnTo>
                    <a:pt x="395538" y="72249"/>
                  </a:lnTo>
                  <a:lnTo>
                    <a:pt x="422832" y="107821"/>
                  </a:lnTo>
                  <a:lnTo>
                    <a:pt x="442663" y="148035"/>
                  </a:lnTo>
                  <a:lnTo>
                    <a:pt x="454267" y="191345"/>
                  </a:lnTo>
                  <a:lnTo>
                    <a:pt x="457199" y="221112"/>
                  </a:lnTo>
                  <a:lnTo>
                    <a:pt x="457199" y="312286"/>
                  </a:lnTo>
                  <a:lnTo>
                    <a:pt x="451346" y="356740"/>
                  </a:lnTo>
                  <a:lnTo>
                    <a:pt x="436933" y="399198"/>
                  </a:lnTo>
                  <a:lnTo>
                    <a:pt x="414514" y="438028"/>
                  </a:lnTo>
                  <a:lnTo>
                    <a:pt x="384950" y="471738"/>
                  </a:lnTo>
                  <a:lnTo>
                    <a:pt x="349377" y="499032"/>
                  </a:lnTo>
                  <a:lnTo>
                    <a:pt x="309163" y="518863"/>
                  </a:lnTo>
                  <a:lnTo>
                    <a:pt x="265854" y="530467"/>
                  </a:lnTo>
                  <a:lnTo>
                    <a:pt x="236087" y="533399"/>
                  </a:lnTo>
                  <a:close/>
                </a:path>
              </a:pathLst>
            </a:custGeom>
            <a:solidFill>
              <a:srgbClr val="581B8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05324" y="1864890"/>
              <a:ext cx="228599" cy="30479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3880197" y="2387495"/>
            <a:ext cx="1485265" cy="1189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 marR="43815" algn="ctr">
              <a:lnSpc>
                <a:spcPct val="125000"/>
              </a:lnSpc>
              <a:spcBef>
                <a:spcPts val="100"/>
              </a:spcBef>
            </a:pPr>
            <a:r>
              <a:rPr sz="1200" b="1" spc="130" dirty="0">
                <a:solidFill>
                  <a:srgbClr val="FFFFFF"/>
                </a:solidFill>
                <a:latin typeface="Trebuchet MS"/>
                <a:cs typeface="Trebuchet MS"/>
              </a:rPr>
              <a:t>Implement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40" dirty="0">
                <a:solidFill>
                  <a:srgbClr val="FFFFFF"/>
                </a:solidFill>
                <a:latin typeface="Trebuchet MS"/>
                <a:cs typeface="Trebuchet MS"/>
              </a:rPr>
              <a:t>Data 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Pipeline</a:t>
            </a:r>
            <a:endParaRPr sz="1200">
              <a:latin typeface="Trebuchet MS"/>
              <a:cs typeface="Trebuchet MS"/>
            </a:endParaRPr>
          </a:p>
          <a:p>
            <a:pPr marL="145415" marR="137795" algn="ctr">
              <a:lnSpc>
                <a:spcPct val="111100"/>
              </a:lnSpc>
              <a:spcBef>
                <a:spcPts val="765"/>
              </a:spcBef>
            </a:pPr>
            <a:r>
              <a:rPr sz="900" spc="50" dirty="0">
                <a:solidFill>
                  <a:srgbClr val="D0D5DA"/>
                </a:solidFill>
                <a:latin typeface="Trebuchet MS"/>
                <a:cs typeface="Trebuchet MS"/>
              </a:rPr>
              <a:t>Establish</a:t>
            </a:r>
            <a:r>
              <a:rPr sz="900" spc="1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D0D5DA"/>
                </a:solidFill>
                <a:latin typeface="Trebuchet MS"/>
                <a:cs typeface="Trebuchet MS"/>
              </a:rPr>
              <a:t>stable</a:t>
            </a:r>
            <a:r>
              <a:rPr sz="900" spc="1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D0D5DA"/>
                </a:solidFill>
                <a:latin typeface="Trebuchet MS"/>
                <a:cs typeface="Trebuchet MS"/>
              </a:rPr>
              <a:t>data </a:t>
            </a:r>
            <a:r>
              <a:rPr sz="900" spc="30" dirty="0">
                <a:solidFill>
                  <a:srgbClr val="D0D5DA"/>
                </a:solidFill>
                <a:latin typeface="Trebuchet MS"/>
                <a:cs typeface="Trebuchet MS"/>
              </a:rPr>
              <a:t>connection</a:t>
            </a:r>
            <a:r>
              <a:rPr sz="900" spc="12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30" dirty="0">
                <a:solidFill>
                  <a:srgbClr val="D0D5DA"/>
                </a:solidFill>
                <a:latin typeface="Trebuchet MS"/>
                <a:cs typeface="Trebuchet MS"/>
              </a:rPr>
              <a:t>from</a:t>
            </a:r>
            <a:r>
              <a:rPr sz="900" spc="12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D0D5DA"/>
                </a:solidFill>
                <a:latin typeface="Trebuchet MS"/>
                <a:cs typeface="Trebuchet MS"/>
              </a:rPr>
              <a:t>the</a:t>
            </a:r>
            <a:endParaRPr sz="900">
              <a:latin typeface="Trebuchet MS"/>
              <a:cs typeface="Trebuchet MS"/>
            </a:endParaRPr>
          </a:p>
          <a:p>
            <a:pPr marL="12700" marR="5080" algn="ctr">
              <a:lnSpc>
                <a:spcPct val="111100"/>
              </a:lnSpc>
            </a:pPr>
            <a:r>
              <a:rPr sz="900" spc="-10" dirty="0">
                <a:solidFill>
                  <a:srgbClr val="D0D5DA"/>
                </a:solidFill>
                <a:latin typeface="Trebuchet MS"/>
                <a:cs typeface="Trebuchet MS"/>
              </a:rPr>
              <a:t>player_velocity_summary</a:t>
            </a:r>
            <a:r>
              <a:rPr sz="900" spc="50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D0D5DA"/>
                </a:solidFill>
                <a:latin typeface="Trebuchet MS"/>
                <a:cs typeface="Trebuchet MS"/>
              </a:rPr>
              <a:t>table</a:t>
            </a:r>
            <a:r>
              <a:rPr sz="900" spc="17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D0D5DA"/>
                </a:solidFill>
                <a:latin typeface="Trebuchet MS"/>
                <a:cs typeface="Trebuchet MS"/>
              </a:rPr>
              <a:t>to</a:t>
            </a:r>
            <a:r>
              <a:rPr sz="900" spc="17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D0D5DA"/>
                </a:solidFill>
                <a:latin typeface="Trebuchet MS"/>
                <a:cs typeface="Trebuchet MS"/>
              </a:rPr>
              <a:t>Looker</a:t>
            </a:r>
            <a:r>
              <a:rPr sz="900" spc="1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40" dirty="0">
                <a:solidFill>
                  <a:srgbClr val="D0D5DA"/>
                </a:solidFill>
                <a:latin typeface="Trebuchet MS"/>
                <a:cs typeface="Trebuchet MS"/>
              </a:rPr>
              <a:t>Studio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467225" y="1562099"/>
            <a:ext cx="4171950" cy="2590800"/>
            <a:chOff x="4467225" y="1562099"/>
            <a:chExt cx="4171950" cy="2590800"/>
          </a:xfrm>
        </p:grpSpPr>
        <p:sp>
          <p:nvSpPr>
            <p:cNvPr id="37" name="object 37"/>
            <p:cNvSpPr/>
            <p:nvPr/>
          </p:nvSpPr>
          <p:spPr>
            <a:xfrm>
              <a:off x="4467225" y="117909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4"/>
                  </a:lnTo>
                  <a:lnTo>
                    <a:pt x="203733" y="295895"/>
                  </a:lnTo>
                  <a:lnTo>
                    <a:pt x="159887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16A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505574" y="1560090"/>
              <a:ext cx="2133600" cy="2209800"/>
            </a:xfrm>
            <a:custGeom>
              <a:avLst/>
              <a:gdLst/>
              <a:ahLst/>
              <a:cxnLst/>
              <a:rect l="l" t="t" r="r" b="b"/>
              <a:pathLst>
                <a:path w="2133600" h="2209800">
                  <a:moveTo>
                    <a:pt x="2062403" y="2209799"/>
                  </a:moveTo>
                  <a:lnTo>
                    <a:pt x="71196" y="2209799"/>
                  </a:lnTo>
                  <a:lnTo>
                    <a:pt x="66241" y="2209311"/>
                  </a:lnTo>
                  <a:lnTo>
                    <a:pt x="29705" y="2194177"/>
                  </a:lnTo>
                  <a:lnTo>
                    <a:pt x="3885" y="2158137"/>
                  </a:lnTo>
                  <a:lnTo>
                    <a:pt x="0" y="2138603"/>
                  </a:lnTo>
                  <a:lnTo>
                    <a:pt x="0" y="2133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062403" y="0"/>
                  </a:lnTo>
                  <a:lnTo>
                    <a:pt x="2103893" y="15621"/>
                  </a:lnTo>
                  <a:lnTo>
                    <a:pt x="2129713" y="51661"/>
                  </a:lnTo>
                  <a:lnTo>
                    <a:pt x="2133600" y="71196"/>
                  </a:lnTo>
                  <a:lnTo>
                    <a:pt x="2133600" y="2138603"/>
                  </a:lnTo>
                  <a:lnTo>
                    <a:pt x="2117978" y="2180094"/>
                  </a:lnTo>
                  <a:lnTo>
                    <a:pt x="2081937" y="2205914"/>
                  </a:lnTo>
                  <a:lnTo>
                    <a:pt x="2067358" y="2209311"/>
                  </a:lnTo>
                  <a:lnTo>
                    <a:pt x="2062403" y="2209799"/>
                  </a:lnTo>
                  <a:close/>
                </a:path>
              </a:pathLst>
            </a:custGeom>
            <a:solidFill>
              <a:srgbClr val="1F2937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43774" y="1750591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236086" y="533399"/>
                  </a:moveTo>
                  <a:lnTo>
                    <a:pt x="221112" y="533399"/>
                  </a:lnTo>
                  <a:lnTo>
                    <a:pt x="213643" y="533032"/>
                  </a:lnTo>
                  <a:lnTo>
                    <a:pt x="169404" y="525729"/>
                  </a:lnTo>
                  <a:lnTo>
                    <a:pt x="127441" y="509936"/>
                  </a:lnTo>
                  <a:lnTo>
                    <a:pt x="89364" y="486259"/>
                  </a:lnTo>
                  <a:lnTo>
                    <a:pt x="56639" y="455609"/>
                  </a:lnTo>
                  <a:lnTo>
                    <a:pt x="30522" y="419163"/>
                  </a:lnTo>
                  <a:lnTo>
                    <a:pt x="12016" y="378323"/>
                  </a:lnTo>
                  <a:lnTo>
                    <a:pt x="1834" y="334657"/>
                  </a:lnTo>
                  <a:lnTo>
                    <a:pt x="0" y="312286"/>
                  </a:lnTo>
                  <a:lnTo>
                    <a:pt x="0" y="304799"/>
                  </a:lnTo>
                  <a:lnTo>
                    <a:pt x="0" y="221112"/>
                  </a:lnTo>
                  <a:lnTo>
                    <a:pt x="5851" y="176658"/>
                  </a:lnTo>
                  <a:lnTo>
                    <a:pt x="20265" y="134201"/>
                  </a:lnTo>
                  <a:lnTo>
                    <a:pt x="42684" y="95371"/>
                  </a:lnTo>
                  <a:lnTo>
                    <a:pt x="72249" y="61661"/>
                  </a:lnTo>
                  <a:lnTo>
                    <a:pt x="107820" y="34366"/>
                  </a:lnTo>
                  <a:lnTo>
                    <a:pt x="148035" y="14535"/>
                  </a:lnTo>
                  <a:lnTo>
                    <a:pt x="191344" y="2931"/>
                  </a:lnTo>
                  <a:lnTo>
                    <a:pt x="221112" y="0"/>
                  </a:lnTo>
                  <a:lnTo>
                    <a:pt x="236086" y="0"/>
                  </a:lnTo>
                  <a:lnTo>
                    <a:pt x="280539" y="5852"/>
                  </a:lnTo>
                  <a:lnTo>
                    <a:pt x="322997" y="20266"/>
                  </a:lnTo>
                  <a:lnTo>
                    <a:pt x="361827" y="42685"/>
                  </a:lnTo>
                  <a:lnTo>
                    <a:pt x="395538" y="72249"/>
                  </a:lnTo>
                  <a:lnTo>
                    <a:pt x="422831" y="107821"/>
                  </a:lnTo>
                  <a:lnTo>
                    <a:pt x="442663" y="148035"/>
                  </a:lnTo>
                  <a:lnTo>
                    <a:pt x="454267" y="191345"/>
                  </a:lnTo>
                  <a:lnTo>
                    <a:pt x="457199" y="221112"/>
                  </a:lnTo>
                  <a:lnTo>
                    <a:pt x="457199" y="312286"/>
                  </a:lnTo>
                  <a:lnTo>
                    <a:pt x="451345" y="356740"/>
                  </a:lnTo>
                  <a:lnTo>
                    <a:pt x="436932" y="399198"/>
                  </a:lnTo>
                  <a:lnTo>
                    <a:pt x="414513" y="438028"/>
                  </a:lnTo>
                  <a:lnTo>
                    <a:pt x="384950" y="471738"/>
                  </a:lnTo>
                  <a:lnTo>
                    <a:pt x="349377" y="499032"/>
                  </a:lnTo>
                  <a:lnTo>
                    <a:pt x="309163" y="518863"/>
                  </a:lnTo>
                  <a:lnTo>
                    <a:pt x="265854" y="530467"/>
                  </a:lnTo>
                  <a:lnTo>
                    <a:pt x="243555" y="533032"/>
                  </a:lnTo>
                  <a:lnTo>
                    <a:pt x="236086" y="533399"/>
                  </a:lnTo>
                  <a:close/>
                </a:path>
              </a:pathLst>
            </a:custGeom>
            <a:solidFill>
              <a:srgbClr val="7C2D1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58074" y="1864890"/>
              <a:ext cx="228599" cy="30479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681589" y="2387495"/>
            <a:ext cx="1775460" cy="1189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 marR="308610" indent="-635" algn="ctr">
              <a:lnSpc>
                <a:spcPct val="125000"/>
              </a:lnSpc>
              <a:spcBef>
                <a:spcPts val="100"/>
              </a:spcBef>
            </a:pPr>
            <a:r>
              <a:rPr sz="1200" b="1" spc="145" dirty="0">
                <a:solidFill>
                  <a:srgbClr val="FFFFFF"/>
                </a:solidFill>
                <a:latin typeface="Trebuchet MS"/>
                <a:cs typeface="Trebuchet MS"/>
              </a:rPr>
              <a:t>Dashboard </a:t>
            </a:r>
            <a:r>
              <a:rPr sz="1200" b="1" spc="130" dirty="0">
                <a:solidFill>
                  <a:srgbClr val="FFFFFF"/>
                </a:solidFill>
                <a:latin typeface="Trebuchet MS"/>
                <a:cs typeface="Trebuchet MS"/>
              </a:rPr>
              <a:t>Development</a:t>
            </a:r>
            <a:endParaRPr sz="1200">
              <a:latin typeface="Trebuchet MS"/>
              <a:cs typeface="Trebuchet MS"/>
            </a:endParaRPr>
          </a:p>
          <a:p>
            <a:pPr marL="12065" marR="5080" indent="-635" algn="ctr">
              <a:lnSpc>
                <a:spcPct val="111100"/>
              </a:lnSpc>
              <a:spcBef>
                <a:spcPts val="765"/>
              </a:spcBef>
            </a:pPr>
            <a:r>
              <a:rPr sz="900" spc="20" dirty="0">
                <a:solidFill>
                  <a:srgbClr val="D0D5DA"/>
                </a:solidFill>
                <a:latin typeface="Trebuchet MS"/>
                <a:cs typeface="Trebuchet MS"/>
              </a:rPr>
              <a:t>Build</a:t>
            </a:r>
            <a:r>
              <a:rPr sz="900" spc="11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D0D5DA"/>
                </a:solidFill>
                <a:latin typeface="Trebuchet MS"/>
                <a:cs typeface="Trebuchet MS"/>
              </a:rPr>
              <a:t>interactive</a:t>
            </a:r>
            <a:r>
              <a:rPr sz="900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900" spc="114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D0D5DA"/>
                </a:solidFill>
                <a:latin typeface="Trebuchet MS"/>
                <a:cs typeface="Trebuchet MS"/>
              </a:rPr>
              <a:t>scalable </a:t>
            </a:r>
            <a:r>
              <a:rPr sz="900" spc="20" dirty="0">
                <a:solidFill>
                  <a:srgbClr val="D0D5DA"/>
                </a:solidFill>
                <a:latin typeface="Trebuchet MS"/>
                <a:cs typeface="Trebuchet MS"/>
              </a:rPr>
              <a:t>athlete</a:t>
            </a:r>
            <a:r>
              <a:rPr sz="900" spc="1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D0D5DA"/>
                </a:solidFill>
                <a:latin typeface="Trebuchet MS"/>
                <a:cs typeface="Trebuchet MS"/>
              </a:rPr>
              <a:t>tracking</a:t>
            </a:r>
            <a:r>
              <a:rPr sz="900" spc="1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D0D5DA"/>
                </a:solidFill>
                <a:latin typeface="Trebuchet MS"/>
                <a:cs typeface="Trebuchet MS"/>
              </a:rPr>
              <a:t>dashboards</a:t>
            </a:r>
            <a:r>
              <a:rPr sz="900" spc="1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D0D5DA"/>
                </a:solidFill>
                <a:latin typeface="Trebuchet MS"/>
                <a:cs typeface="Trebuchet MS"/>
              </a:rPr>
              <a:t>in </a:t>
            </a:r>
            <a:r>
              <a:rPr sz="900" dirty="0">
                <a:solidFill>
                  <a:srgbClr val="D0D5DA"/>
                </a:solidFill>
                <a:latin typeface="Trebuchet MS"/>
                <a:cs typeface="Trebuchet MS"/>
              </a:rPr>
              <a:t>Looker</a:t>
            </a:r>
            <a:r>
              <a:rPr sz="900" spc="8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D0D5DA"/>
                </a:solidFill>
                <a:latin typeface="Trebuchet MS"/>
                <a:cs typeface="Trebuchet MS"/>
              </a:rPr>
              <a:t>Studio</a:t>
            </a:r>
            <a:r>
              <a:rPr sz="9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D0D5DA"/>
                </a:solidFill>
                <a:latin typeface="Trebuchet MS"/>
                <a:cs typeface="Trebuchet MS"/>
              </a:rPr>
              <a:t>based</a:t>
            </a:r>
            <a:r>
              <a:rPr sz="9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D0D5DA"/>
                </a:solidFill>
                <a:latin typeface="Trebuchet MS"/>
                <a:cs typeface="Trebuchet MS"/>
              </a:rPr>
              <a:t>on</a:t>
            </a:r>
            <a:r>
              <a:rPr sz="900" spc="8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D0D5DA"/>
                </a:solidFill>
                <a:latin typeface="Trebuchet MS"/>
                <a:cs typeface="Trebuchet MS"/>
              </a:rPr>
              <a:t>the </a:t>
            </a:r>
            <a:r>
              <a:rPr sz="900" dirty="0">
                <a:solidFill>
                  <a:srgbClr val="D0D5DA"/>
                </a:solidFill>
                <a:latin typeface="Trebuchet MS"/>
                <a:cs typeface="Trebuchet MS"/>
              </a:rPr>
              <a:t>unified</a:t>
            </a:r>
            <a:r>
              <a:rPr sz="900" spc="229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D0D5DA"/>
                </a:solidFill>
                <a:latin typeface="Trebuchet MS"/>
                <a:cs typeface="Trebuchet MS"/>
              </a:rPr>
              <a:t>data</a:t>
            </a:r>
            <a:r>
              <a:rPr sz="900" spc="229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D0D5DA"/>
                </a:solidFill>
                <a:latin typeface="Trebuchet MS"/>
                <a:cs typeface="Trebuchet MS"/>
              </a:rPr>
              <a:t>set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419975" y="1562099"/>
            <a:ext cx="4162425" cy="2590800"/>
            <a:chOff x="7419975" y="1562099"/>
            <a:chExt cx="4162425" cy="2590800"/>
          </a:xfrm>
        </p:grpSpPr>
        <p:sp>
          <p:nvSpPr>
            <p:cNvPr id="43" name="object 43"/>
            <p:cNvSpPr/>
            <p:nvPr/>
          </p:nvSpPr>
          <p:spPr>
            <a:xfrm>
              <a:off x="7419975" y="117909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60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4"/>
                  </a:lnTo>
                  <a:lnTo>
                    <a:pt x="203733" y="295895"/>
                  </a:lnTo>
                  <a:lnTo>
                    <a:pt x="159887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16A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448799" y="1560090"/>
              <a:ext cx="2133600" cy="2209800"/>
            </a:xfrm>
            <a:custGeom>
              <a:avLst/>
              <a:gdLst/>
              <a:ahLst/>
              <a:cxnLst/>
              <a:rect l="l" t="t" r="r" b="b"/>
              <a:pathLst>
                <a:path w="2133600" h="2209800">
                  <a:moveTo>
                    <a:pt x="2062403" y="2209799"/>
                  </a:moveTo>
                  <a:lnTo>
                    <a:pt x="71197" y="2209799"/>
                  </a:lnTo>
                  <a:lnTo>
                    <a:pt x="66241" y="2209311"/>
                  </a:lnTo>
                  <a:lnTo>
                    <a:pt x="29705" y="2194177"/>
                  </a:lnTo>
                  <a:lnTo>
                    <a:pt x="3885" y="2158137"/>
                  </a:lnTo>
                  <a:lnTo>
                    <a:pt x="0" y="2138603"/>
                  </a:lnTo>
                  <a:lnTo>
                    <a:pt x="0" y="2133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2062403" y="0"/>
                  </a:lnTo>
                  <a:lnTo>
                    <a:pt x="2103892" y="15621"/>
                  </a:lnTo>
                  <a:lnTo>
                    <a:pt x="2129712" y="51661"/>
                  </a:lnTo>
                  <a:lnTo>
                    <a:pt x="2133599" y="71196"/>
                  </a:lnTo>
                  <a:lnTo>
                    <a:pt x="2133599" y="2138603"/>
                  </a:lnTo>
                  <a:lnTo>
                    <a:pt x="2117976" y="2180094"/>
                  </a:lnTo>
                  <a:lnTo>
                    <a:pt x="2081937" y="2205914"/>
                  </a:lnTo>
                  <a:lnTo>
                    <a:pt x="2067357" y="2209311"/>
                  </a:lnTo>
                  <a:lnTo>
                    <a:pt x="2062403" y="2209799"/>
                  </a:lnTo>
                  <a:close/>
                </a:path>
              </a:pathLst>
            </a:custGeom>
            <a:solidFill>
              <a:srgbClr val="1F2937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296524" y="1750591"/>
              <a:ext cx="428625" cy="533400"/>
            </a:xfrm>
            <a:custGeom>
              <a:avLst/>
              <a:gdLst/>
              <a:ahLst/>
              <a:cxnLst/>
              <a:rect l="l" t="t" r="r" b="b"/>
              <a:pathLst>
                <a:path w="428625" h="533400">
                  <a:moveTo>
                    <a:pt x="221331" y="533399"/>
                  </a:moveTo>
                  <a:lnTo>
                    <a:pt x="207294" y="533399"/>
                  </a:lnTo>
                  <a:lnTo>
                    <a:pt x="200292" y="533055"/>
                  </a:lnTo>
                  <a:lnTo>
                    <a:pt x="158817" y="526208"/>
                  </a:lnTo>
                  <a:lnTo>
                    <a:pt x="119475" y="511402"/>
                  </a:lnTo>
                  <a:lnTo>
                    <a:pt x="83779" y="489205"/>
                  </a:lnTo>
                  <a:lnTo>
                    <a:pt x="53100" y="460471"/>
                  </a:lnTo>
                  <a:lnTo>
                    <a:pt x="28614" y="426303"/>
                  </a:lnTo>
                  <a:lnTo>
                    <a:pt x="11265" y="388015"/>
                  </a:lnTo>
                  <a:lnTo>
                    <a:pt x="1720" y="347078"/>
                  </a:lnTo>
                  <a:lnTo>
                    <a:pt x="0" y="319087"/>
                  </a:lnTo>
                  <a:lnTo>
                    <a:pt x="1" y="207293"/>
                  </a:lnTo>
                  <a:lnTo>
                    <a:pt x="5486" y="165617"/>
                  </a:lnTo>
                  <a:lnTo>
                    <a:pt x="18999" y="125813"/>
                  </a:lnTo>
                  <a:lnTo>
                    <a:pt x="40017" y="89410"/>
                  </a:lnTo>
                  <a:lnTo>
                    <a:pt x="67734" y="57807"/>
                  </a:lnTo>
                  <a:lnTo>
                    <a:pt x="101081" y="32218"/>
                  </a:lnTo>
                  <a:lnTo>
                    <a:pt x="138783" y="13627"/>
                  </a:lnTo>
                  <a:lnTo>
                    <a:pt x="179385" y="2748"/>
                  </a:lnTo>
                  <a:lnTo>
                    <a:pt x="207294" y="0"/>
                  </a:lnTo>
                  <a:lnTo>
                    <a:pt x="221331" y="0"/>
                  </a:lnTo>
                  <a:lnTo>
                    <a:pt x="263005" y="5487"/>
                  </a:lnTo>
                  <a:lnTo>
                    <a:pt x="302808" y="18999"/>
                  </a:lnTo>
                  <a:lnTo>
                    <a:pt x="339213" y="40017"/>
                  </a:lnTo>
                  <a:lnTo>
                    <a:pt x="370816" y="67733"/>
                  </a:lnTo>
                  <a:lnTo>
                    <a:pt x="396404" y="101082"/>
                  </a:lnTo>
                  <a:lnTo>
                    <a:pt x="414996" y="138783"/>
                  </a:lnTo>
                  <a:lnTo>
                    <a:pt x="425876" y="179386"/>
                  </a:lnTo>
                  <a:lnTo>
                    <a:pt x="428626" y="207293"/>
                  </a:lnTo>
                  <a:lnTo>
                    <a:pt x="428626" y="326106"/>
                  </a:lnTo>
                  <a:lnTo>
                    <a:pt x="423138" y="367781"/>
                  </a:lnTo>
                  <a:lnTo>
                    <a:pt x="409623" y="407585"/>
                  </a:lnTo>
                  <a:lnTo>
                    <a:pt x="388607" y="443988"/>
                  </a:lnTo>
                  <a:lnTo>
                    <a:pt x="360890" y="475591"/>
                  </a:lnTo>
                  <a:lnTo>
                    <a:pt x="327540" y="501180"/>
                  </a:lnTo>
                  <a:lnTo>
                    <a:pt x="289839" y="519771"/>
                  </a:lnTo>
                  <a:lnTo>
                    <a:pt x="249238" y="530651"/>
                  </a:lnTo>
                  <a:lnTo>
                    <a:pt x="221331" y="533399"/>
                  </a:lnTo>
                  <a:close/>
                </a:path>
              </a:pathLst>
            </a:custGeom>
            <a:solidFill>
              <a:srgbClr val="13532D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10824" y="1864890"/>
              <a:ext cx="200024" cy="304799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9656514" y="2433216"/>
            <a:ext cx="1717675" cy="915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125" dirty="0">
                <a:solidFill>
                  <a:srgbClr val="FFFFFF"/>
                </a:solidFill>
                <a:latin typeface="Trebuchet MS"/>
                <a:cs typeface="Trebuchet MS"/>
              </a:rPr>
              <a:t>Documentation</a:t>
            </a:r>
            <a:endParaRPr sz="1200">
              <a:latin typeface="Trebuchet MS"/>
              <a:cs typeface="Trebuchet MS"/>
            </a:endParaRPr>
          </a:p>
          <a:p>
            <a:pPr marL="12065" marR="5080" algn="ctr">
              <a:lnSpc>
                <a:spcPct val="111100"/>
              </a:lnSpc>
              <a:spcBef>
                <a:spcPts val="765"/>
              </a:spcBef>
            </a:pPr>
            <a:r>
              <a:rPr sz="900" spc="50" dirty="0">
                <a:solidFill>
                  <a:srgbClr val="D0D5DA"/>
                </a:solidFill>
                <a:latin typeface="Trebuchet MS"/>
                <a:cs typeface="Trebuchet MS"/>
              </a:rPr>
              <a:t>Complete</a:t>
            </a:r>
            <a:r>
              <a:rPr sz="9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D0D5DA"/>
                </a:solidFill>
                <a:latin typeface="Trebuchet MS"/>
                <a:cs typeface="Trebuchet MS"/>
              </a:rPr>
              <a:t>the</a:t>
            </a:r>
            <a:r>
              <a:rPr sz="9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D0D5DA"/>
                </a:solidFill>
                <a:latin typeface="Trebuchet MS"/>
                <a:cs typeface="Trebuchet MS"/>
              </a:rPr>
              <a:t>system </a:t>
            </a:r>
            <a:r>
              <a:rPr sz="900" spc="20" dirty="0">
                <a:solidFill>
                  <a:srgbClr val="D0D5DA"/>
                </a:solidFill>
                <a:latin typeface="Trebuchet MS"/>
                <a:cs typeface="Trebuchet MS"/>
              </a:rPr>
              <a:t>operation</a:t>
            </a:r>
            <a:r>
              <a:rPr sz="9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D0D5DA"/>
                </a:solidFill>
                <a:latin typeface="Trebuchet MS"/>
                <a:cs typeface="Trebuchet MS"/>
              </a:rPr>
              <a:t>manual</a:t>
            </a:r>
            <a:r>
              <a:rPr sz="9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D0D5DA"/>
                </a:solidFill>
                <a:latin typeface="Trebuchet MS"/>
                <a:cs typeface="Trebuchet MS"/>
              </a:rPr>
              <a:t>and</a:t>
            </a:r>
            <a:r>
              <a:rPr sz="900" spc="9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D0D5DA"/>
                </a:solidFill>
                <a:latin typeface="Trebuchet MS"/>
                <a:cs typeface="Trebuchet MS"/>
              </a:rPr>
              <a:t>deliver </a:t>
            </a:r>
            <a:r>
              <a:rPr sz="900" spc="75" dirty="0">
                <a:solidFill>
                  <a:srgbClr val="D0D5DA"/>
                </a:solidFill>
                <a:latin typeface="Trebuchet MS"/>
                <a:cs typeface="Trebuchet MS"/>
              </a:rPr>
              <a:t>a</a:t>
            </a:r>
            <a:r>
              <a:rPr sz="900" spc="1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D0D5DA"/>
                </a:solidFill>
                <a:latin typeface="Trebuchet MS"/>
                <a:cs typeface="Trebuchet MS"/>
              </a:rPr>
              <a:t>functional</a:t>
            </a:r>
            <a:r>
              <a:rPr sz="900" spc="1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D0D5DA"/>
                </a:solidFill>
                <a:latin typeface="Trebuchet MS"/>
                <a:cs typeface="Trebuchet MS"/>
              </a:rPr>
              <a:t>prototype</a:t>
            </a:r>
            <a:r>
              <a:rPr sz="900" spc="130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D0D5DA"/>
                </a:solidFill>
                <a:latin typeface="Trebuchet MS"/>
                <a:cs typeface="Trebuchet MS"/>
              </a:rPr>
              <a:t>for </a:t>
            </a:r>
            <a:r>
              <a:rPr sz="900" spc="60" dirty="0">
                <a:solidFill>
                  <a:srgbClr val="D0D5DA"/>
                </a:solidFill>
                <a:latin typeface="Trebuchet MS"/>
                <a:cs typeface="Trebuchet MS"/>
              </a:rPr>
              <a:t>end-</a:t>
            </a:r>
            <a:r>
              <a:rPr sz="900" spc="55" dirty="0">
                <a:solidFill>
                  <a:srgbClr val="D0D5DA"/>
                </a:solidFill>
                <a:latin typeface="Trebuchet MS"/>
                <a:cs typeface="Trebuchet MS"/>
              </a:rPr>
              <a:t>user</a:t>
            </a:r>
            <a:r>
              <a:rPr sz="900" spc="35" dirty="0">
                <a:solidFill>
                  <a:srgbClr val="D0D5DA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D0D5DA"/>
                </a:solidFill>
                <a:latin typeface="Trebuchet MS"/>
                <a:cs typeface="Trebuchet MS"/>
              </a:rPr>
              <a:t>testing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363199" y="11790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60" y="298239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7"/>
                </a:lnTo>
                <a:lnTo>
                  <a:pt x="0" y="152399"/>
                </a:lnTo>
                <a:lnTo>
                  <a:pt x="183" y="144912"/>
                </a:lnTo>
                <a:lnTo>
                  <a:pt x="8904" y="101066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7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7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4"/>
                </a:lnTo>
                <a:lnTo>
                  <a:pt x="203733" y="295895"/>
                </a:lnTo>
                <a:lnTo>
                  <a:pt x="159887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6A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610568" y="1214016"/>
            <a:ext cx="8970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8465" algn="l"/>
                <a:tab pos="5904865" algn="l"/>
                <a:tab pos="8851265" algn="l"/>
              </a:tabLst>
            </a:pP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120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39FCC-EC9F-127C-69EF-9F683A63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C1D77-D974-6D88-7191-6B68A8525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AACC57-8BC0-39C5-809C-9569BABC6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17" b="53292"/>
          <a:stretch>
            <a:fillRect/>
          </a:stretch>
        </p:blipFill>
        <p:spPr>
          <a:xfrm>
            <a:off x="621890" y="382702"/>
            <a:ext cx="5257800" cy="6137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ADF251-2BDA-8637-A629-C14C3D7C40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45926" r="-5757"/>
          <a:stretch>
            <a:fillRect/>
          </a:stretch>
        </p:blipFill>
        <p:spPr>
          <a:xfrm>
            <a:off x="6479458" y="382702"/>
            <a:ext cx="5102942" cy="613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143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843</Words>
  <Application>Microsoft Macintosh PowerPoint</Application>
  <PresentationFormat>Custom</PresentationFormat>
  <Paragraphs>162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PMingLiU</vt:lpstr>
      <vt:lpstr>Calibri</vt:lpstr>
      <vt:lpstr>Trebuchet MS</vt:lpstr>
      <vt:lpstr>Office Theme</vt:lpstr>
      <vt:lpstr>Player Report Automation</vt:lpstr>
      <vt:lpstr>Project Overview &amp; Objectives</vt:lpstr>
      <vt:lpstr>Project Timeline &amp; Team</vt:lpstr>
      <vt:lpstr>Current Progress &amp; Milestones</vt:lpstr>
      <vt:lpstr>Data Processing Strategy</vt:lpstr>
      <vt:lpstr>Preliminary Results &amp; Visualizations</vt:lpstr>
      <vt:lpstr>Automation Workflow</vt:lpstr>
      <vt:lpstr>Next Steps &amp;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Dasol Shin</cp:lastModifiedBy>
  <cp:revision>2</cp:revision>
  <dcterms:created xsi:type="dcterms:W3CDTF">2025-07-31T21:54:33Z</dcterms:created>
  <dcterms:modified xsi:type="dcterms:W3CDTF">2025-07-31T22:41:33Z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2025-07-31T00:00:00Z</vt:filetime>
  </property>
  <property fmtid="{D5CDD505-2E9C-101B-9397-08002B2CF9AE}" pid="3" name="LastSaved">
    <vt:filetime>2025-07-31T00:00:00Z</vt:filetime>
  </property>
</Properties>
</file>